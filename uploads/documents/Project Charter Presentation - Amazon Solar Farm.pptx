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638_7588364A.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62F_7B14C31.xml" ContentType="application/vnd.ms-powerpoint.comments+xml"/>
  <Override PartName="/ppt/notesSlides/notesSlide7.xml" ContentType="application/vnd.openxmlformats-officedocument.presentationml.notesSlide+xml"/>
  <Override PartName="/ppt/comments/modernComment_63C_6CBF976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handoutMasterIdLst>
    <p:handoutMasterId r:id="rId22"/>
  </p:handoutMasterIdLst>
  <p:sldIdLst>
    <p:sldId id="256" r:id="rId5"/>
    <p:sldId id="1592" r:id="rId6"/>
    <p:sldId id="1593" r:id="rId7"/>
    <p:sldId id="1599" r:id="rId8"/>
    <p:sldId id="1585" r:id="rId9"/>
    <p:sldId id="1583" r:id="rId10"/>
    <p:sldId id="1596" r:id="rId11"/>
    <p:sldId id="1597" r:id="rId12"/>
    <p:sldId id="1598" r:id="rId13"/>
    <p:sldId id="1600" r:id="rId14"/>
    <p:sldId id="1602" r:id="rId15"/>
    <p:sldId id="1606" r:id="rId16"/>
    <p:sldId id="1605" r:id="rId17"/>
    <p:sldId id="1607" r:id="rId18"/>
    <p:sldId id="1610" r:id="rId19"/>
    <p:sldId id="160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517FA53-6717-FF7B-1857-4973F4652CF9}" name="Guest User" initials="GU" userId="S::urn:spo:tenantanon#3d51fefe-eb5b-4203-be52-640589e6bf13::" providerId="AD"/>
  <p188:author id="{1DB9ED87-36A3-2F69-62C8-373B9FA1E335}" name="Gutierrez Graterol, Daniela" initials="GD" userId="S::gutierrezgratd@hc.edu::5b2989a7-b273-4e46-a79d-99384ac3767b" providerId="AD"/>
  <p188:author id="{3F49BAFF-1E0B-31C2-EC77-3B1E4A4CC947}" name="Le, Thanh Tung" initials="TL" userId="S::tle1@hc.edu::5ed73ac2-bdea-47c5-a6ca-7a56fa56392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DCFFC"/>
    <a:srgbClr val="252F3E"/>
    <a:srgbClr val="359EC4"/>
    <a:srgbClr val="FF9900"/>
    <a:srgbClr val="F1F2F3"/>
    <a:srgbClr val="EFF0F1"/>
    <a:srgbClr val="E9ECEF"/>
    <a:srgbClr val="EDEFEF"/>
    <a:srgbClr val="F9FAFA"/>
    <a:srgbClr val="D5D7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FAF001-F2F6-A280-9DFF-25F9A69B033A}" v="1" dt="2026-09-18T19:22:33.2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comments/modernComment_62F_7B14C31.xml><?xml version="1.0" encoding="utf-8"?>
<p188:cmLst xmlns:a="http://schemas.openxmlformats.org/drawingml/2006/main" xmlns:r="http://schemas.openxmlformats.org/officeDocument/2006/relationships" xmlns:p188="http://schemas.microsoft.com/office/powerpoint/2018/8/main">
  <p188:cm id="{7B3EBE78-A4C7-4AD4-A53E-9C1384E033E6}" authorId="{3F49BAFF-1E0B-31C2-EC77-3B1E4A4CC947}" created="2026-01-26T23:05:01.110">
    <ac:txMkLst xmlns:ac="http://schemas.microsoft.com/office/drawing/2013/main/command">
      <pc:docMk xmlns:pc="http://schemas.microsoft.com/office/powerpoint/2013/main/command"/>
      <pc:sldMk xmlns:pc="http://schemas.microsoft.com/office/powerpoint/2013/main/command" cId="129059889" sldId="1583"/>
      <ac:spMk id="14" creationId="{1DEFED96-E027-C563-AE0F-A544533DEF42}"/>
      <ac:txMk cp="71" len="22">
        <ac:context len="111" hash="1399582960"/>
      </ac:txMk>
    </ac:txMkLst>
    <p188:pos x="1417898" y="761999"/>
    <p188:replyLst>
      <p188:reply id="{8377FAD4-A1E5-47EA-9B3C-9EC45BB70748}" authorId="{1DB9ED87-36A3-2F69-62C8-373B9FA1E335}" created="2026-01-28T04:55:09.625">
        <p188:txBody>
          <a:bodyPr/>
          <a:lstStyle/>
          <a:p>
            <a:r>
              <a:rPr lang="en-US"/>
              <a:t>A tax equity partnership is a financing structure where Amazon partners with an investor (usually a bank) to maximize the value of federal tax credits.</a:t>
            </a:r>
          </a:p>
        </p188:txBody>
      </p188:reply>
      <p188:reply id="{894B579F-2AED-48F7-A586-DDFFCD947817}" authorId="{1DB9ED87-36A3-2F69-62C8-373B9FA1E335}" created="2026-01-28T04:55:58.815">
        <p188:txBody>
          <a:bodyPr/>
          <a:lstStyle/>
          <a:p>
            <a:r>
              <a:rPr lang="en-US"/>
              <a:t>- Amazon gets: $63M cash NOW to help fund construction
- Bank gets: $63M in tax deductions to reduce their taxes over time
- Amazon gets immediate funding; bank gets valuable tax benefits</a:t>
            </a:r>
          </a:p>
        </p188:txBody>
      </p188:reply>
    </p188:replyLst>
    <p188:txBody>
      <a:bodyPr/>
      <a:lstStyle/>
      <a:p>
        <a:r>
          <a:rPr lang="en-US"/>
          <a:t>What is tax equity partnership?</a:t>
        </a:r>
      </a:p>
    </p188:txBody>
  </p188:cm>
  <p188:cm id="{1D656102-6A77-40D5-83A6-3B922FA827C5}" authorId="{5517FA53-6717-FF7B-1857-4973F4652CF9}" created="2026-01-28T23:46:28.621">
    <pc:sldMkLst xmlns:pc="http://schemas.microsoft.com/office/powerpoint/2013/main/command">
      <pc:docMk/>
      <pc:sldMk cId="129059889" sldId="1583"/>
    </pc:sldMkLst>
    <p188:txBody>
      <a:bodyPr/>
      <a:lstStyle/>
      <a:p>
        <a:r>
          <a:rPr lang="en-US"/>
          <a:t>Sources for costs: Power-Technology (Carvers Creek Solar PV Park cost ~ $161.7m):
https://www.power-technology.com/marketdata/carvers-creek-solar-pv-park-us/
Industrial Info (Carvers Creek “$240 million” reporting):
https://www.industrialinfo.com/iirenergy/industry-news/article/algonquin-power-plots-124-billion-in-capex-through-2026-emphasizes-renewables--305003
https://www.industrialinfo.com/iirenergy/industry-news/article/algonquin-power-sees-future-in-renewables-regulated-segments--313314
Algonquin MD&amp;A PDF (mentions consolidation of $206.9m construction debt after buyout):
https://docs.publicnow.com/viewDoc.aspx?filename=64568%5CEXT%5CC113B23FF5BF302DD4A1E040E8520995519C3ED4_8C048A7DFA612B10638240C5B8A11BA2B742F825.PDF
NREL Q1 2023 PV + storage benchmark (includes $2.11/Wdc for 100 MWdc + 60MW/240MWh ESS):
https://docs.nrel.gov/docs/fy23osti/87303.pdf
NREL ATB utility-scale PV (states $1.56/Wac overnight capex + grid connection in 2023):
https://atb.nrel.gov/electricity/2024/utility-scale_pv</a:t>
        </a:r>
      </a:p>
    </p188:txBody>
  </p188:cm>
</p188:cmLst>
</file>

<file path=ppt/comments/modernComment_63C_6CBF9760.xml><?xml version="1.0" encoding="utf-8"?>
<p188:cmLst xmlns:a="http://schemas.openxmlformats.org/drawingml/2006/main" xmlns:r="http://schemas.openxmlformats.org/officeDocument/2006/relationships" xmlns:p188="http://schemas.microsoft.com/office/powerpoint/2018/8/main">
  <p188:cm id="{02EB0FC9-5550-4495-9AFD-420E311678E7}" authorId="{3F49BAFF-1E0B-31C2-EC77-3B1E4A4CC947}" created="2026-01-26T23:06:09.111">
    <ac:txMkLst xmlns:ac="http://schemas.microsoft.com/office/drawing/2013/main/command">
      <pc:docMk xmlns:pc="http://schemas.microsoft.com/office/powerpoint/2013/main/command"/>
      <pc:sldMk xmlns:pc="http://schemas.microsoft.com/office/powerpoint/2013/main/command" cId="1824495456" sldId="1596"/>
      <ac:spMk id="18" creationId="{1D12141C-74A4-FA88-CB0B-2B022CB259AE}"/>
      <ac:txMk cp="0" len="10">
        <ac:context len="11" hash="4089451893"/>
      </ac:txMk>
    </ac:txMkLst>
    <p188:pos x="1504708" y="308658"/>
    <p188:replyLst>
      <p188:reply id="{5019844C-63F1-476F-8AD6-D9A7529ADE5D}" authorId="{1DB9ED87-36A3-2F69-62C8-373B9FA1E335}" created="2026-01-28T04:03:51.910">
        <p188:txBody>
          <a:bodyPr/>
          <a:lstStyle/>
          <a:p>
            <a:r>
              <a:rPr lang="en-US"/>
              <a:t>We chose a 4-tier governance structure to match the project's complexity and 42-month timeline. The Executive Sponsor provides quarterly strategic oversight, the Steering Committee handles monthly tactical decisions, the Project Manager runs daily operations, and the Core Team coordinates weekly. This balances executive control with operational agility</a:t>
            </a:r>
          </a:p>
        </p188:txBody>
      </p188:reply>
    </p188:replyLst>
    <p188:txBody>
      <a:bodyPr/>
      <a:lstStyle/>
      <a:p>
        <a:r>
          <a:rPr lang="en-US"/>
          <a:t>Why do we choose this governance structure?</a:t>
        </a:r>
      </a:p>
    </p188:txBody>
  </p188:cm>
</p188:cmLst>
</file>

<file path=ppt/comments/modernComment_638_7588364A.xml><?xml version="1.0" encoding="utf-8"?>
<p188:cmLst xmlns:a="http://schemas.openxmlformats.org/drawingml/2006/main" xmlns:r="http://schemas.openxmlformats.org/officeDocument/2006/relationships" xmlns:p188="http://schemas.microsoft.com/office/powerpoint/2018/8/main">
  <p188:cm id="{CB6B27EA-A21C-4833-A82E-36E7596AC7C6}" authorId="{3F49BAFF-1E0B-31C2-EC77-3B1E4A4CC947}" created="2026-01-27T20:10:50.442">
    <pc:sldMkLst xmlns:pc="http://schemas.microsoft.com/office/powerpoint/2013/main/command">
      <pc:docMk/>
      <pc:sldMk cId="1971861066" sldId="1592"/>
    </pc:sldMkLst>
    <p188:replyLst>
      <p188:reply id="{ED334F2B-20D9-4415-98DB-840080B2E4BA}" authorId="{1DB9ED87-36A3-2F69-62C8-373B9FA1E335}" created="2026-01-28T04:32:13.535">
        <p188:txBody>
          <a:bodyPr/>
          <a:lstStyle/>
          <a:p>
            <a:r>
              <a:rPr lang="en-US"/>
              <a:t>Solar panels only generate power when the sun shines (9 AM to 5 PM)  But Amazon's data centers need power 24/7 they can't shut down at night.
Battery storage solves this problem by storing excess solar energy during the day and releasing it during  nighttime when the sun isn't shining. </a:t>
            </a:r>
          </a:p>
        </p188:txBody>
      </p188:reply>
      <p188:reply id="{8CE9BC29-8A8B-4728-9916-FC17E9E72467}" authorId="{1DB9ED87-36A3-2F69-62C8-373B9FA1E335}" created="2026-01-28T04:46:31.871">
        <p188:txBody>
          <a:bodyPr/>
          <a:lstStyle/>
          <a:p>
            <a:r>
              <a:rPr lang="en-US"/>
              <a:t>Grid interconnection is how we physically connect our solar farm to the electrical grid so power can flow to Amazon's data centers.</a:t>
            </a:r>
          </a:p>
        </p188:txBody>
      </p188:reply>
      <p188:reply id="{E7AC7F8E-759C-4EB9-9C39-0F384220057E}" authorId="{1DB9ED87-36A3-2F69-62C8-373B9FA1E335}" created="2026-01-28T04:49:08.617">
        <p188:txBody>
          <a:bodyPr/>
          <a:lstStyle/>
          <a:p>
            <a:r>
              <a:rPr lang="en-US"/>
              <a:t>it's illegal to operate utility-scale generation without grid interconnection (FERC requirement), and there's no way to deliver power to data centers 50 miles away without using the grid. Grid connection isn't optional, it's fundamental to the project</a:t>
            </a:r>
          </a:p>
        </p188:txBody>
      </p188:reply>
      <p188:reply id="{99FA5F87-F93C-4A97-BED9-061D5EDC02E8}" authorId="{1DB9ED87-36A3-2F69-62C8-373B9FA1E335}" created="2026-01-28T04:53:29.969">
        <p188:txBody>
          <a:bodyPr/>
          <a:lstStyle/>
          <a:p>
            <a:r>
              <a:rPr lang="en-US"/>
              <a:t>Our Amazon Solar Farm: will be 
- Connect to EXISTING 230 kV transmission lines near Spotsylvania County
- Feed into PJM's regional grid system that already serves Amazon's 100+ data centers
- Use the same infrastructure that currently delivers grid power to Amazon's data centers
- Not require building NEW transmission infrastructure from scratch, just connecting to what's already there</a:t>
            </a:r>
          </a:p>
        </p188:txBody>
      </p188:reply>
    </p188:replyLst>
    <p188:txBody>
      <a:bodyPr/>
      <a:lstStyle/>
      <a:p>
        <a:r>
          <a:rPr lang="en-US"/>
          <a:t>Why do we need battery storage and grid interconnection?</a:t>
        </a:r>
      </a:p>
    </p188:txBody>
  </p188:cm>
  <p188:cm id="{6CA479CD-0FE4-407E-A2A6-664D6EC2561C}" authorId="{3F49BAFF-1E0B-31C2-EC77-3B1E4A4CC947}" created="2026-01-27T20:11:17.176">
    <ac:deMkLst xmlns:ac="http://schemas.microsoft.com/office/drawing/2013/main/command">
      <pc:docMk xmlns:pc="http://schemas.microsoft.com/office/powerpoint/2013/main/command"/>
      <pc:sldMk xmlns:pc="http://schemas.microsoft.com/office/powerpoint/2013/main/command" cId="1971861066" sldId="1592"/>
      <ac:spMk id="4" creationId="{3A416088-16E9-7E29-6894-F7669A4C2FDC}"/>
    </ac:deMkLst>
    <p188:replyLst>
      <p188:reply id="{ACFF5FF5-9F85-4BE8-8157-EDFE39CDA9E4}" authorId="{1DB9ED87-36A3-2F69-62C8-373B9FA1E335}" created="2026-01-28T04:24:13.685">
        <p188:txBody>
          <a:bodyPr/>
          <a:lstStyle/>
          <a:p>
            <a:r>
              <a:rPr lang="en-US"/>
              <a:t>- Amazon has multiple solar farms, including some in Virginia
-Amazon has invested in over 400 renewable energy projects globally
-Amazon has experience with utility scale solar farms 
- A typical large AWS data center campus consumes 100-200 MW. 150 MW covers a significant portion of one campus's energy needs without over-building capacity 
-Small enough to complete in 42 months 
-Projects under 100 MW have higher per-watt costs; projects over 200 MW take 5+ years
-Can be replicated across multiple sites rather than betting everything on one massive facility"</a:t>
            </a:r>
          </a:p>
        </p188:txBody>
      </p188:reply>
    </p188:replyLst>
    <p188:txBody>
      <a:bodyPr/>
      <a:lstStyle/>
      <a:p>
        <a:r>
          <a:rPr lang="en-US"/>
          <a:t>What are the reasons to choose 150 MW?</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9/18/2026</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aboutamazon.com/news/sustainability/amazon-renewable-energy-portfolio-january-2024-update/"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Find a better name for the project or a cool name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a:p>
        </p:txBody>
      </p:sp>
    </p:spTree>
    <p:extLst>
      <p:ext uri="{BB962C8B-B14F-4D97-AF65-F5344CB8AC3E}">
        <p14:creationId xmlns:p14="http://schemas.microsoft.com/office/powerpoint/2010/main" val="3495815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333333"/>
                </a:solidFill>
                <a:highlight>
                  <a:srgbClr val="FFFFFF"/>
                </a:highlight>
              </a:rPr>
              <a:t>Add the value proposition and the numerical value</a:t>
            </a:r>
            <a:endParaRPr lang="en-US"/>
          </a:p>
          <a:p>
            <a:pPr marL="171450" indent="-171450">
              <a:buFont typeface="Arial"/>
              <a:buChar char="•"/>
            </a:pPr>
            <a:r>
              <a:rPr lang="en-US">
                <a:solidFill>
                  <a:srgbClr val="333333"/>
                </a:solidFill>
                <a:highlight>
                  <a:srgbClr val="FFFFFF"/>
                </a:highlight>
              </a:rPr>
              <a:t> Why is Amazon doing this </a:t>
            </a:r>
            <a:endParaRPr lang="en-US">
              <a:solidFill>
                <a:srgbClr val="000000"/>
              </a:solidFill>
            </a:endParaRPr>
          </a:p>
          <a:p>
            <a:pPr marL="171450" indent="-171450">
              <a:buFont typeface="Arial"/>
              <a:buChar char="•"/>
            </a:pPr>
            <a:r>
              <a:rPr lang="en-US">
                <a:solidFill>
                  <a:srgbClr val="333333"/>
                </a:solidFill>
                <a:highlight>
                  <a:srgbClr val="FFFFFF"/>
                </a:highlight>
              </a:rPr>
              <a:t>What is going to be the return for them ($)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a:p>
        </p:txBody>
      </p:sp>
    </p:spTree>
    <p:extLst>
      <p:ext uri="{BB962C8B-B14F-4D97-AF65-F5344CB8AC3E}">
        <p14:creationId xmlns:p14="http://schemas.microsoft.com/office/powerpoint/2010/main" val="1512890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Add to the milestone when we are done </a:t>
            </a:r>
            <a:endParaRPr lang="en-US"/>
          </a:p>
          <a:p>
            <a:pPr marL="171450" indent="-171450">
              <a:buFont typeface="Arial"/>
              <a:buChar char="•"/>
            </a:pPr>
            <a:r>
              <a:rPr lang="en-US">
                <a:latin typeface="Calibri"/>
                <a:ea typeface="Calibri"/>
                <a:cs typeface="Calibri"/>
              </a:rPr>
              <a:t>meaning when do we know that the project is done</a:t>
            </a:r>
            <a:endParaRPr lang="en-US"/>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a:p>
        </p:txBody>
      </p:sp>
    </p:spTree>
    <p:extLst>
      <p:ext uri="{BB962C8B-B14F-4D97-AF65-F5344CB8AC3E}">
        <p14:creationId xmlns:p14="http://schemas.microsoft.com/office/powerpoint/2010/main" val="4154006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E6A69-355E-7ECC-BFB0-8C5C3F1C8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D8B0A-7EB7-A7C3-7084-969E785C2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ED3E36-6304-A3B9-E20B-A543F3485B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3B3E42-5955-8F87-8E2B-5893466A88F0}"/>
              </a:ext>
            </a:extLst>
          </p:cNvPr>
          <p:cNvSpPr>
            <a:spLocks noGrp="1"/>
          </p:cNvSpPr>
          <p:nvPr>
            <p:ph type="sldNum" sz="quarter" idx="5"/>
          </p:nvPr>
        </p:nvSpPr>
        <p:spPr/>
        <p:txBody>
          <a:bodyPr/>
          <a:lstStyle/>
          <a:p>
            <a:fld id="{BFDD6F49-EBB7-4CCF-97A8-E526BB28BB69}" type="slidenum">
              <a:rPr lang="en-US" smtClean="0"/>
              <a:t>4</a:t>
            </a:fld>
            <a:endParaRPr lang="en-US"/>
          </a:p>
        </p:txBody>
      </p:sp>
    </p:spTree>
    <p:extLst>
      <p:ext uri="{BB962C8B-B14F-4D97-AF65-F5344CB8AC3E}">
        <p14:creationId xmlns:p14="http://schemas.microsoft.com/office/powerpoint/2010/main" val="887662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4623E-97AE-5471-AA05-7A277B679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D4E55-0C04-0C62-F8C6-A321D86DE7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6C78D-D15B-79D4-29EE-39A943D152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637DEA-048D-2D2C-56EC-B308A73C308D}"/>
              </a:ext>
            </a:extLst>
          </p:cNvPr>
          <p:cNvSpPr>
            <a:spLocks noGrp="1"/>
          </p:cNvSpPr>
          <p:nvPr>
            <p:ph type="sldNum" sz="quarter" idx="5"/>
          </p:nvPr>
        </p:nvSpPr>
        <p:spPr/>
        <p:txBody>
          <a:bodyPr/>
          <a:lstStyle/>
          <a:p>
            <a:fld id="{BFDD6F49-EBB7-4CCF-97A8-E526BB28BB69}" type="slidenum">
              <a:rPr lang="en-US" smtClean="0"/>
              <a:t>5</a:t>
            </a:fld>
            <a:endParaRPr lang="en-US"/>
          </a:p>
        </p:txBody>
      </p:sp>
    </p:spTree>
    <p:extLst>
      <p:ext uri="{BB962C8B-B14F-4D97-AF65-F5344CB8AC3E}">
        <p14:creationId xmlns:p14="http://schemas.microsoft.com/office/powerpoint/2010/main" val="3313537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2146-7613-E9D2-6A3C-618784AF5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5B6E5-A17F-A67D-13D1-4C7B8242BD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1F82E1-AF0A-5778-8AC8-82EEC0BCF0D7}"/>
              </a:ext>
            </a:extLst>
          </p:cNvPr>
          <p:cNvSpPr>
            <a:spLocks noGrp="1"/>
          </p:cNvSpPr>
          <p:nvPr>
            <p:ph type="body" idx="1"/>
          </p:nvPr>
        </p:nvSpPr>
        <p:spPr/>
        <p:txBody>
          <a:bodyPr/>
          <a:lstStyle/>
          <a:p>
            <a:r>
              <a:rPr lang="en-US"/>
              <a:t>Look for the budget </a:t>
            </a:r>
          </a:p>
        </p:txBody>
      </p:sp>
      <p:sp>
        <p:nvSpPr>
          <p:cNvPr id="4" name="Slide Number Placeholder 3">
            <a:extLst>
              <a:ext uri="{FF2B5EF4-FFF2-40B4-BE49-F238E27FC236}">
                <a16:creationId xmlns:a16="http://schemas.microsoft.com/office/drawing/2014/main" id="{FBE2DD0E-1BA4-4C39-0904-C3AE3D0E1FD7}"/>
              </a:ext>
            </a:extLst>
          </p:cNvPr>
          <p:cNvSpPr>
            <a:spLocks noGrp="1"/>
          </p:cNvSpPr>
          <p:nvPr>
            <p:ph type="sldNum" sz="quarter" idx="5"/>
          </p:nvPr>
        </p:nvSpPr>
        <p:spPr/>
        <p:txBody>
          <a:bodyPr/>
          <a:lstStyle/>
          <a:p>
            <a:fld id="{BFDD6F49-EBB7-4CCF-97A8-E526BB28BB69}" type="slidenum">
              <a:rPr lang="en-US" smtClean="0"/>
              <a:t>6</a:t>
            </a:fld>
            <a:endParaRPr lang="en-US"/>
          </a:p>
        </p:txBody>
      </p:sp>
    </p:spTree>
    <p:extLst>
      <p:ext uri="{BB962C8B-B14F-4D97-AF65-F5344CB8AC3E}">
        <p14:creationId xmlns:p14="http://schemas.microsoft.com/office/powerpoint/2010/main" val="3388644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Impact and Interest </a:t>
            </a:r>
          </a:p>
          <a:p>
            <a:r>
              <a:rPr lang="en-US"/>
              <a:t>Diagram y and x axis or pain scale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a:p>
        </p:txBody>
      </p:sp>
    </p:spTree>
    <p:extLst>
      <p:ext uri="{BB962C8B-B14F-4D97-AF65-F5344CB8AC3E}">
        <p14:creationId xmlns:p14="http://schemas.microsoft.com/office/powerpoint/2010/main" val="2283199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FF742-BB3D-8234-36F8-0E9E7E8C9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D49F4D-1CD5-1C67-C890-18B7D9897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72AFB1-419D-BDBB-D74D-6D52B5BE7A0E}"/>
              </a:ext>
            </a:extLst>
          </p:cNvPr>
          <p:cNvSpPr>
            <a:spLocks noGrp="1"/>
          </p:cNvSpPr>
          <p:nvPr>
            <p:ph type="body" idx="1"/>
          </p:nvPr>
        </p:nvSpPr>
        <p:spPr/>
        <p:txBody>
          <a:bodyPr/>
          <a:lstStyle/>
          <a:p>
            <a:r>
              <a:rPr lang="en-US"/>
              <a:t>Project Charter and Stakeholder Map </a:t>
            </a:r>
          </a:p>
          <a:p>
            <a:r>
              <a:rPr lang="en-US"/>
              <a:t>For Stakeholder Map use Diagram – Interest &amp; Impact Example </a:t>
            </a:r>
          </a:p>
        </p:txBody>
      </p:sp>
      <p:sp>
        <p:nvSpPr>
          <p:cNvPr id="4" name="Slide Number Placeholder 3">
            <a:extLst>
              <a:ext uri="{FF2B5EF4-FFF2-40B4-BE49-F238E27FC236}">
                <a16:creationId xmlns:a16="http://schemas.microsoft.com/office/drawing/2014/main" id="{F9DAD86A-2753-EB43-7B9C-59DE2C500E62}"/>
              </a:ext>
            </a:extLst>
          </p:cNvPr>
          <p:cNvSpPr>
            <a:spLocks noGrp="1"/>
          </p:cNvSpPr>
          <p:nvPr>
            <p:ph type="sldNum" sz="quarter" idx="5"/>
          </p:nvPr>
        </p:nvSpPr>
        <p:spPr/>
        <p:txBody>
          <a:bodyPr/>
          <a:lstStyle/>
          <a:p>
            <a:fld id="{BFDD6F49-EBB7-4CCF-97A8-E526BB28BB69}" type="slidenum">
              <a:rPr lang="en-US" smtClean="0"/>
              <a:t>10</a:t>
            </a:fld>
            <a:endParaRPr lang="en-US"/>
          </a:p>
        </p:txBody>
      </p:sp>
    </p:spTree>
    <p:extLst>
      <p:ext uri="{BB962C8B-B14F-4D97-AF65-F5344CB8AC3E}">
        <p14:creationId xmlns:p14="http://schemas.microsoft.com/office/powerpoint/2010/main" val="2533673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CDC8B-A38E-195A-D753-EF4C63AAFB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5C37C-6AAC-6A79-773C-5C27373FA7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9224BB-BFF9-4614-2FDF-C3D52A79D7E5}"/>
              </a:ext>
            </a:extLst>
          </p:cNvPr>
          <p:cNvSpPr>
            <a:spLocks noGrp="1"/>
          </p:cNvSpPr>
          <p:nvPr>
            <p:ph type="body" idx="1"/>
          </p:nvPr>
        </p:nvSpPr>
        <p:spPr/>
        <p:txBody>
          <a:bodyPr/>
          <a:lstStyle/>
          <a:p>
            <a:r>
              <a:rPr lang="en-US"/>
              <a:t>Important Links: </a:t>
            </a:r>
          </a:p>
          <a:p>
            <a:r>
              <a:rPr lang="en-US">
                <a:hlinkClick r:id="rId3"/>
              </a:rPr>
              <a:t>https://www.aboutamazon.com/news/sustainability/amazon-renewable-energy-portfolio-january-2024-update\</a:t>
            </a:r>
          </a:p>
          <a:p>
            <a:endParaRPr lang="en-US"/>
          </a:p>
          <a:p>
            <a:endParaRPr lang="en-US"/>
          </a:p>
          <a:p>
            <a:r>
              <a:rPr lang="en-US"/>
              <a:t>ULTIMATE VALUE PROPOSITION (Use This as Your North Star):</a:t>
            </a:r>
          </a:p>
          <a:p>
            <a:r>
              <a:rPr lang="en-US" b="1"/>
              <a:t>"WHY THIS PROJECT MATTERS"</a:t>
            </a:r>
            <a:endParaRPr lang="en-US"/>
          </a:p>
          <a:p>
            <a:r>
              <a:rPr lang="en-US" b="1"/>
              <a:t>Project Sunshine is more than a solar farm—it's a strategic investment!</a:t>
            </a:r>
            <a:endParaRPr lang="en-US"/>
          </a:p>
          <a:p>
            <a:pPr marL="171450" indent="-171450">
              <a:buFont typeface="Arial"/>
              <a:buChar char="•"/>
            </a:pPr>
            <a:r>
              <a:rPr lang="en-US" b="1"/>
              <a:t>Secures Amazon's energy future</a:t>
            </a:r>
            <a:r>
              <a:rPr lang="en-US"/>
              <a:t> with 20 years of stable, predictable renewable power</a:t>
            </a:r>
          </a:p>
          <a:p>
            <a:pPr marL="171450" indent="-171450">
              <a:buFont typeface="Arial"/>
              <a:buChar char="•"/>
            </a:pPr>
            <a:r>
              <a:rPr lang="en-US" b="1"/>
              <a:t>Delivers measurable financial returns</a:t>
            </a:r>
            <a:r>
              <a:rPr lang="en-US"/>
              <a:t> ($42M NPV, $2M annual savings, $63M tax credit) - Review and do this before with 310M USD </a:t>
            </a:r>
          </a:p>
          <a:p>
            <a:pPr marL="171450" indent="-171450">
              <a:buFont typeface="Arial"/>
              <a:buChar char="•"/>
            </a:pPr>
            <a:r>
              <a:rPr lang="en-US" b="1"/>
              <a:t>Advances corporate sustainability leadership</a:t>
            </a:r>
            <a:r>
              <a:rPr lang="en-US"/>
              <a:t> toward Climate Pledge commitments</a:t>
            </a:r>
          </a:p>
          <a:p>
            <a:pPr marL="171450" indent="-171450">
              <a:buFont typeface="Arial"/>
              <a:buChar char="•"/>
            </a:pPr>
            <a:r>
              <a:rPr lang="en-US" b="1"/>
              <a:t>Ensures operational excellence</a:t>
            </a:r>
            <a:r>
              <a:rPr lang="en-US"/>
              <a:t> with 24/7 dispatchable power and zero downtime risk</a:t>
            </a:r>
          </a:p>
          <a:p>
            <a:pPr marL="171450" indent="-171450">
              <a:buFont typeface="Arial"/>
              <a:buChar char="•"/>
            </a:pPr>
            <a:r>
              <a:rPr lang="en-US" b="1"/>
              <a:t>Creates community value</a:t>
            </a:r>
            <a:r>
              <a:rPr lang="en-US"/>
              <a:t> through jobs, tax revenue, and agricultural preservation</a:t>
            </a:r>
          </a:p>
          <a:p>
            <a:pPr marL="171450" indent="-171450">
              <a:buFont typeface="Arial"/>
              <a:buChar char="•"/>
            </a:pPr>
            <a:r>
              <a:rPr lang="en-US" b="1"/>
              <a:t>Generates environmental impact</a:t>
            </a:r>
            <a:r>
              <a:rPr lang="en-US"/>
              <a:t> equivalent to removing 30,000 cars from roads annually</a:t>
            </a:r>
          </a:p>
          <a:p>
            <a:pPr marL="171450" indent="-171450">
              <a:buFont typeface="Arial"/>
              <a:buChar char="•"/>
            </a:pPr>
            <a:r>
              <a:rPr lang="en-US" b="1"/>
              <a:t>Provides a replicable model</a:t>
            </a:r>
            <a:r>
              <a:rPr lang="en-US"/>
              <a:t> that Amazon can scale across dozens of data center locations</a:t>
            </a:r>
          </a:p>
          <a:p>
            <a:r>
              <a:rPr lang="en-US" b="1"/>
              <a:t>In short: Project Sunstone proves that sustainability and profitability aren't competing priorities—they're complementary strategies that create long-term value for all stakeholders.</a:t>
            </a:r>
            <a:endParaRPr lang="en-US"/>
          </a:p>
          <a:p>
            <a:endParaRPr lang="en-US"/>
          </a:p>
          <a:p>
            <a:endParaRPr lang="en-US"/>
          </a:p>
        </p:txBody>
      </p:sp>
      <p:sp>
        <p:nvSpPr>
          <p:cNvPr id="4" name="Slide Number Placeholder 3">
            <a:extLst>
              <a:ext uri="{FF2B5EF4-FFF2-40B4-BE49-F238E27FC236}">
                <a16:creationId xmlns:a16="http://schemas.microsoft.com/office/drawing/2014/main" id="{2FDAE82F-E940-FE7C-3DD2-4A3BF16C745D}"/>
              </a:ext>
            </a:extLst>
          </p:cNvPr>
          <p:cNvSpPr>
            <a:spLocks noGrp="1"/>
          </p:cNvSpPr>
          <p:nvPr>
            <p:ph type="sldNum" sz="quarter" idx="5"/>
          </p:nvPr>
        </p:nvSpPr>
        <p:spPr/>
        <p:txBody>
          <a:bodyPr/>
          <a:lstStyle/>
          <a:p>
            <a:fld id="{BFDD6F49-EBB7-4CCF-97A8-E526BB28BB69}" type="slidenum">
              <a:rPr lang="en-US" smtClean="0"/>
              <a:t>11</a:t>
            </a:fld>
            <a:endParaRPr lang="en-US"/>
          </a:p>
        </p:txBody>
      </p:sp>
    </p:spTree>
    <p:extLst>
      <p:ext uri="{BB962C8B-B14F-4D97-AF65-F5344CB8AC3E}">
        <p14:creationId xmlns:p14="http://schemas.microsoft.com/office/powerpoint/2010/main" val="1757506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87625-ED7C-4774-2EB0-E6BC134D9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5C4EE-E257-5FA8-A954-459753046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C1147-4200-F0F5-F5E2-135429C19E74}"/>
              </a:ext>
            </a:extLst>
          </p:cNvPr>
          <p:cNvSpPr>
            <a:spLocks noGrp="1"/>
          </p:cNvSpPr>
          <p:nvPr>
            <p:ph type="body" idx="1"/>
          </p:nvPr>
        </p:nvSpPr>
        <p:spPr/>
        <p:txBody>
          <a:bodyPr/>
          <a:lstStyle/>
          <a:p>
            <a:pPr marL="171450" indent="-171450">
              <a:buFont typeface="Arial"/>
              <a:buChar char="•"/>
            </a:pPr>
            <a:r>
              <a:rPr lang="en-US" b="1"/>
              <a:t>MOVE TO HIGH IMPACT / HIGH INTEREST:</a:t>
            </a:r>
            <a:endParaRPr lang="en-US"/>
          </a:p>
          <a:p>
            <a:r>
              <a:rPr lang="en-US" b="1"/>
              <a:t>1. Federal Energy Regulatory Commission</a:t>
            </a:r>
            <a:endParaRPr lang="en-US"/>
          </a:p>
          <a:p>
            <a:pPr marL="171450" indent="-171450">
              <a:buFont typeface="Arial"/>
              <a:buChar char="•"/>
            </a:pPr>
            <a:r>
              <a:rPr lang="en-US" b="1"/>
              <a:t>Why:</a:t>
            </a:r>
            <a:r>
              <a:rPr lang="en-US"/>
              <a:t> They MUST approve interstate electricity transmission. No approval = project can't operate legally.</a:t>
            </a:r>
          </a:p>
          <a:p>
            <a:r>
              <a:rPr lang="en-US" b="1"/>
              <a:t>2. State Energy Commission</a:t>
            </a:r>
            <a:endParaRPr lang="en-US"/>
          </a:p>
          <a:p>
            <a:pPr marL="171450" indent="-171450">
              <a:buFont typeface="Arial"/>
              <a:buChar char="•"/>
            </a:pPr>
            <a:r>
              <a:rPr lang="en-US" b="1"/>
              <a:t>Why:</a:t>
            </a:r>
            <a:r>
              <a:rPr lang="en-US"/>
              <a:t> They approve all utility-scale power projects in Virginia. They can deny the entire project.</a:t>
            </a:r>
          </a:p>
          <a:p>
            <a:r>
              <a:rPr lang="en-US" b="1"/>
              <a:t>3. Environmental Protection Agency</a:t>
            </a:r>
            <a:endParaRPr lang="en-US"/>
          </a:p>
          <a:p>
            <a:pPr marL="171450" indent="-171450">
              <a:buFont typeface="Arial"/>
              <a:buChar char="•"/>
            </a:pPr>
            <a:r>
              <a:rPr lang="en-US" b="1"/>
              <a:t>Why:</a:t>
            </a:r>
            <a:r>
              <a:rPr lang="en-US"/>
              <a:t> They enforce environmental laws. EPA violations can shut down construction immediately.</a:t>
            </a:r>
          </a:p>
          <a:p>
            <a:r>
              <a:rPr lang="en-US" b="1"/>
              <a:t>4. Vendors/Suppliers (Solar panels, batteries)</a:t>
            </a:r>
            <a:endParaRPr lang="en-US"/>
          </a:p>
          <a:p>
            <a:pPr marL="171450" indent="-171450">
              <a:buFont typeface="Arial"/>
              <a:buChar char="•"/>
            </a:pPr>
            <a:r>
              <a:rPr lang="en-US" b="1"/>
              <a:t>Why:</a:t>
            </a:r>
            <a:r>
              <a:rPr lang="en-US"/>
              <a:t> If panels don't arrive, construction stops. 8-month delay costs $3M+ and risks missing tax credit deadline.</a:t>
            </a:r>
          </a:p>
          <a:p>
            <a:r>
              <a:rPr lang="en-US" b="1"/>
              <a:t>5. Local Landowners</a:t>
            </a:r>
            <a:endParaRPr lang="en-US"/>
          </a:p>
          <a:p>
            <a:pPr marL="171450" indent="-171450">
              <a:buFont typeface="Arial"/>
              <a:buChar char="•"/>
            </a:pPr>
            <a:r>
              <a:rPr lang="en-US" b="1"/>
              <a:t>Why:</a:t>
            </a:r>
            <a:r>
              <a:rPr lang="en-US"/>
              <a:t> No land = no project. If they refuse to sell the 550 acres, you have nowhere to build.</a:t>
            </a:r>
          </a:p>
          <a:p>
            <a:br>
              <a:rPr lang="en-US"/>
            </a:br>
            <a:endParaRPr lang="en-US"/>
          </a:p>
          <a:p>
            <a:pPr marL="171450" indent="-171450">
              <a:buFont typeface="Arial"/>
              <a:buChar char="•"/>
            </a:pPr>
            <a:r>
              <a:rPr lang="en-US" b="1"/>
              <a:t> MOVE TO HIGH IMPACT / LOW INTEREST:</a:t>
            </a:r>
            <a:endParaRPr lang="en-US"/>
          </a:p>
          <a:p>
            <a:r>
              <a:rPr lang="en-US" b="1"/>
              <a:t>6. Amazon Shareholders</a:t>
            </a:r>
            <a:endParaRPr lang="en-US"/>
          </a:p>
          <a:p>
            <a:pPr marL="171450" indent="-171450">
              <a:buFont typeface="Arial"/>
              <a:buChar char="•"/>
            </a:pPr>
            <a:r>
              <a:rPr lang="en-US" b="1"/>
              <a:t>Why:</a:t>
            </a:r>
            <a:r>
              <a:rPr lang="en-US"/>
              <a:t> They vote on major capital allocations. If unhappy, they can pressure executives to cancel the $300M investment. (High power, but don't care about daily details)</a:t>
            </a:r>
          </a:p>
          <a:p>
            <a:br>
              <a:rPr lang="en-US"/>
            </a:br>
            <a:endParaRPr lang="en-US"/>
          </a:p>
          <a:p>
            <a:pPr marL="171450" indent="-171450">
              <a:buFont typeface="Arial"/>
              <a:buChar char="•"/>
            </a:pPr>
            <a:r>
              <a:rPr lang="en-US" b="1"/>
              <a:t>MOVE TO MEDIUM IMPACT / HIGH INTEREST:</a:t>
            </a:r>
            <a:endParaRPr lang="en-US"/>
          </a:p>
          <a:p>
            <a:r>
              <a:rPr lang="en-US" b="1"/>
              <a:t>7. Environmental/Conservation Groups</a:t>
            </a:r>
            <a:endParaRPr lang="en-US"/>
          </a:p>
          <a:p>
            <a:pPr marL="171450" indent="-171450">
              <a:buFont typeface="Arial"/>
              <a:buChar char="•"/>
            </a:pPr>
            <a:r>
              <a:rPr lang="en-US" b="1"/>
              <a:t>Why:</a:t>
            </a:r>
            <a:r>
              <a:rPr lang="en-US"/>
              <a:t> They can't stop the project alone, BUT they can organize opposition that delays permits by 6-12 months. Medium blocking power, very high interest.</a:t>
            </a:r>
          </a:p>
          <a:p>
            <a:r>
              <a:rPr lang="en-US" b="1"/>
              <a:t>8. Local Community Organizations</a:t>
            </a:r>
            <a:endParaRPr lang="en-US"/>
          </a:p>
          <a:p>
            <a:pPr marL="171450" indent="-171450">
              <a:buFont typeface="Arial"/>
              <a:buChar char="•"/>
            </a:pPr>
            <a:r>
              <a:rPr lang="en-US" b="1"/>
              <a:t>Why:</a:t>
            </a:r>
            <a:r>
              <a:rPr lang="en-US"/>
              <a:t> They influence the County Zoning Board. If community opposes loudly at public hearings, zoning board may deny permits. Medium influence, high interest.</a:t>
            </a:r>
          </a:p>
          <a:p>
            <a:pPr>
              <a:buFont typeface="Arial"/>
            </a:pPr>
            <a:endParaRPr lang="en-US"/>
          </a:p>
        </p:txBody>
      </p:sp>
      <p:sp>
        <p:nvSpPr>
          <p:cNvPr id="4" name="Slide Number Placeholder 3">
            <a:extLst>
              <a:ext uri="{FF2B5EF4-FFF2-40B4-BE49-F238E27FC236}">
                <a16:creationId xmlns:a16="http://schemas.microsoft.com/office/drawing/2014/main" id="{22B777D6-E73C-BD77-F0D4-67AA12661A7C}"/>
              </a:ext>
            </a:extLst>
          </p:cNvPr>
          <p:cNvSpPr>
            <a:spLocks noGrp="1"/>
          </p:cNvSpPr>
          <p:nvPr>
            <p:ph type="sldNum" sz="quarter" idx="5"/>
          </p:nvPr>
        </p:nvSpPr>
        <p:spPr/>
        <p:txBody>
          <a:bodyPr/>
          <a:lstStyle/>
          <a:p>
            <a:fld id="{BFDD6F49-EBB7-4CCF-97A8-E526BB28BB69}" type="slidenum">
              <a:rPr lang="en-US" smtClean="0"/>
              <a:t>12</a:t>
            </a:fld>
            <a:endParaRPr lang="en-US"/>
          </a:p>
        </p:txBody>
      </p:sp>
    </p:spTree>
    <p:extLst>
      <p:ext uri="{BB962C8B-B14F-4D97-AF65-F5344CB8AC3E}">
        <p14:creationId xmlns:p14="http://schemas.microsoft.com/office/powerpoint/2010/main" val="4258884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9D9DC-069F-30F0-DF3E-CE637ACC51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A1C1A-61E2-4BFE-9CC8-49791D7CC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745D6-DF0F-C262-294C-DDCF0147AAF2}"/>
              </a:ext>
            </a:extLst>
          </p:cNvPr>
          <p:cNvSpPr>
            <a:spLocks noGrp="1"/>
          </p:cNvSpPr>
          <p:nvPr>
            <p:ph type="body" idx="1"/>
          </p:nvPr>
        </p:nvSpPr>
        <p:spPr/>
        <p:txBody>
          <a:bodyPr/>
          <a:lstStyle/>
          <a:p>
            <a:r>
              <a:rPr lang="en-US" b="1"/>
              <a:t>HIGH IMPACT / HIGH INTEREST</a:t>
            </a:r>
            <a:r>
              <a:rPr lang="en-US"/>
              <a:t> (Must Actively Manage)</a:t>
            </a:r>
          </a:p>
          <a:p>
            <a:pPr marL="171450" indent="-171450">
              <a:buFont typeface="Arial"/>
              <a:buChar char="•"/>
            </a:pPr>
            <a:r>
              <a:rPr lang="en-US">
                <a:solidFill>
                  <a:srgbClr val="000000"/>
                </a:solidFill>
              </a:rPr>
              <a:t>✅ AWS (Infra / DC Ops)</a:t>
            </a:r>
            <a:endParaRPr lang="en-US"/>
          </a:p>
          <a:p>
            <a:pPr marL="171450" indent="-171450">
              <a:buFont typeface="Arial"/>
              <a:buChar char="•"/>
            </a:pPr>
            <a:r>
              <a:rPr lang="en-US">
                <a:solidFill>
                  <a:srgbClr val="000000"/>
                </a:solidFill>
              </a:rPr>
              <a:t>✅ Amazon Energy &amp; Sustainability</a:t>
            </a:r>
            <a:endParaRPr lang="en-US"/>
          </a:p>
          <a:p>
            <a:pPr marL="171450" indent="-171450">
              <a:buFont typeface="Arial"/>
              <a:buChar char="•"/>
            </a:pPr>
            <a:r>
              <a:rPr lang="en-US">
                <a:solidFill>
                  <a:srgbClr val="000000"/>
                </a:solidFill>
              </a:rPr>
              <a:t>✅ </a:t>
            </a:r>
            <a:r>
              <a:rPr lang="en-US" b="1">
                <a:solidFill>
                  <a:srgbClr val="000000"/>
                </a:solidFill>
              </a:rPr>
              <a:t>Amazon Executive Leadership</a:t>
            </a:r>
            <a:r>
              <a:rPr lang="en-US">
                <a:solidFill>
                  <a:srgbClr val="000000"/>
                </a:solidFill>
              </a:rPr>
              <a:t> ← ADD</a:t>
            </a:r>
            <a:endParaRPr lang="en-US"/>
          </a:p>
          <a:p>
            <a:pPr marL="171450" indent="-171450">
              <a:buFont typeface="Arial"/>
              <a:buChar char="•"/>
            </a:pPr>
            <a:r>
              <a:rPr lang="en-US">
                <a:solidFill>
                  <a:srgbClr val="000000"/>
                </a:solidFill>
              </a:rPr>
              <a:t>✅ </a:t>
            </a:r>
            <a:r>
              <a:rPr lang="en-US" b="1">
                <a:solidFill>
                  <a:srgbClr val="000000"/>
                </a:solidFill>
              </a:rPr>
              <a:t>Amazon Finance/CFO</a:t>
            </a:r>
            <a:r>
              <a:rPr lang="en-US">
                <a:solidFill>
                  <a:srgbClr val="000000"/>
                </a:solidFill>
              </a:rPr>
              <a:t> ← ADD</a:t>
            </a:r>
            <a:endParaRPr lang="en-US"/>
          </a:p>
          <a:p>
            <a:pPr marL="171450" indent="-171450">
              <a:buFont typeface="Arial"/>
              <a:buChar char="•"/>
            </a:pPr>
            <a:r>
              <a:rPr lang="en-US">
                <a:solidFill>
                  <a:srgbClr val="000000"/>
                </a:solidFill>
              </a:rPr>
              <a:t>✅ EPC Contractor</a:t>
            </a:r>
            <a:endParaRPr lang="en-US"/>
          </a:p>
          <a:p>
            <a:pPr marL="171450" indent="-171450">
              <a:buFont typeface="Arial"/>
              <a:buChar char="•"/>
            </a:pPr>
            <a:r>
              <a:rPr lang="en-US">
                <a:solidFill>
                  <a:srgbClr val="000000"/>
                </a:solidFill>
              </a:rPr>
              <a:t>✅ </a:t>
            </a:r>
            <a:r>
              <a:rPr lang="en-US" b="1">
                <a:solidFill>
                  <a:srgbClr val="000000"/>
                </a:solidFill>
              </a:rPr>
              <a:t>Vendors/Suppliers</a:t>
            </a:r>
            <a:r>
              <a:rPr lang="en-US">
                <a:solidFill>
                  <a:srgbClr val="000000"/>
                </a:solidFill>
              </a:rPr>
              <a:t> ← MOVE HERE</a:t>
            </a:r>
            <a:endParaRPr lang="en-US"/>
          </a:p>
          <a:p>
            <a:pPr marL="171450" indent="-171450">
              <a:buFont typeface="Arial"/>
              <a:buChar char="•"/>
            </a:pPr>
            <a:r>
              <a:rPr lang="en-US">
                <a:solidFill>
                  <a:srgbClr val="000000"/>
                </a:solidFill>
              </a:rPr>
              <a:t>✅ Tax Equity Investors</a:t>
            </a:r>
            <a:endParaRPr lang="en-US"/>
          </a:p>
          <a:p>
            <a:pPr marL="171450" indent="-171450">
              <a:buFont typeface="Arial"/>
              <a:buChar char="•"/>
            </a:pPr>
            <a:r>
              <a:rPr lang="en-US">
                <a:solidFill>
                  <a:srgbClr val="000000"/>
                </a:solidFill>
              </a:rPr>
              <a:t>✅ </a:t>
            </a:r>
            <a:r>
              <a:rPr lang="en-US" b="1">
                <a:solidFill>
                  <a:srgbClr val="000000"/>
                </a:solidFill>
              </a:rPr>
              <a:t>Local Landowners</a:t>
            </a:r>
            <a:r>
              <a:rPr lang="en-US">
                <a:solidFill>
                  <a:srgbClr val="000000"/>
                </a:solidFill>
              </a:rPr>
              <a:t> ← MOVE HERE</a:t>
            </a:r>
            <a:endParaRPr lang="en-US"/>
          </a:p>
          <a:p>
            <a:pPr marL="171450" indent="-171450">
              <a:buFont typeface="Arial"/>
              <a:buChar char="•"/>
            </a:pPr>
            <a:r>
              <a:rPr lang="en-US">
                <a:solidFill>
                  <a:srgbClr val="000000"/>
                </a:solidFill>
              </a:rPr>
              <a:t>✅ PJM (Regional Transmission Org)</a:t>
            </a:r>
            <a:endParaRPr lang="en-US"/>
          </a:p>
          <a:p>
            <a:pPr marL="171450" indent="-171450">
              <a:buFont typeface="Arial"/>
              <a:buChar char="•"/>
            </a:pPr>
            <a:r>
              <a:rPr lang="en-US">
                <a:solidFill>
                  <a:srgbClr val="000000"/>
                </a:solidFill>
              </a:rPr>
              <a:t>✅ Utility/Grid Operator</a:t>
            </a:r>
            <a:endParaRPr lang="en-US"/>
          </a:p>
          <a:p>
            <a:pPr marL="171450" indent="-171450">
              <a:buFont typeface="Arial"/>
              <a:buChar char="•"/>
            </a:pPr>
            <a:r>
              <a:rPr lang="en-US">
                <a:solidFill>
                  <a:srgbClr val="000000"/>
                </a:solidFill>
              </a:rPr>
              <a:t>✅ Local/County Zoning Board</a:t>
            </a:r>
            <a:endParaRPr lang="en-US"/>
          </a:p>
          <a:p>
            <a:pPr marL="171450" indent="-171450">
              <a:buFont typeface="Arial"/>
              <a:buChar char="•"/>
            </a:pPr>
            <a:r>
              <a:rPr lang="en-US">
                <a:solidFill>
                  <a:srgbClr val="000000"/>
                </a:solidFill>
              </a:rPr>
              <a:t>✅ </a:t>
            </a:r>
            <a:r>
              <a:rPr lang="en-US" b="1">
                <a:solidFill>
                  <a:srgbClr val="000000"/>
                </a:solidFill>
              </a:rPr>
              <a:t>Federal Energy Regulatory Commission</a:t>
            </a:r>
            <a:r>
              <a:rPr lang="en-US">
                <a:solidFill>
                  <a:srgbClr val="000000"/>
                </a:solidFill>
              </a:rPr>
              <a:t> ← MOVE HERE</a:t>
            </a:r>
            <a:endParaRPr lang="en-US"/>
          </a:p>
          <a:p>
            <a:pPr marL="171450" indent="-171450">
              <a:buFont typeface="Arial"/>
              <a:buChar char="•"/>
            </a:pPr>
            <a:r>
              <a:rPr lang="en-US">
                <a:solidFill>
                  <a:srgbClr val="000000"/>
                </a:solidFill>
              </a:rPr>
              <a:t>✅ </a:t>
            </a:r>
            <a:r>
              <a:rPr lang="en-US" b="1">
                <a:solidFill>
                  <a:srgbClr val="000000"/>
                </a:solidFill>
              </a:rPr>
              <a:t>State Energy Commission</a:t>
            </a:r>
            <a:r>
              <a:rPr lang="en-US">
                <a:solidFill>
                  <a:srgbClr val="000000"/>
                </a:solidFill>
              </a:rPr>
              <a:t> ← MOVE HERE</a:t>
            </a:r>
            <a:endParaRPr lang="en-US"/>
          </a:p>
          <a:p>
            <a:pPr marL="171450" indent="-171450">
              <a:buFont typeface="Arial"/>
              <a:buChar char="•"/>
            </a:pPr>
            <a:r>
              <a:rPr lang="en-US">
                <a:solidFill>
                  <a:srgbClr val="000000"/>
                </a:solidFill>
              </a:rPr>
              <a:t>✅ </a:t>
            </a:r>
            <a:r>
              <a:rPr lang="en-US" b="1">
                <a:solidFill>
                  <a:srgbClr val="000000"/>
                </a:solidFill>
              </a:rPr>
              <a:t>Environmental Protection Agency</a:t>
            </a:r>
            <a:r>
              <a:rPr lang="en-US">
                <a:solidFill>
                  <a:srgbClr val="000000"/>
                </a:solidFill>
              </a:rPr>
              <a:t> ← MOVE HERE</a:t>
            </a:r>
            <a:endParaRPr lang="en-US"/>
          </a:p>
          <a:p>
            <a:pPr marL="171450" indent="-171450">
              <a:buFont typeface="Arial"/>
              <a:buChar char="•"/>
            </a:pPr>
            <a:r>
              <a:rPr lang="en-US">
                <a:solidFill>
                  <a:srgbClr val="000000"/>
                </a:solidFill>
              </a:rPr>
              <a:t>✅ </a:t>
            </a:r>
            <a:r>
              <a:rPr lang="en-US" b="1">
                <a:solidFill>
                  <a:srgbClr val="000000"/>
                </a:solidFill>
              </a:rPr>
              <a:t>Owner's Engineer</a:t>
            </a:r>
            <a:r>
              <a:rPr lang="en-US">
                <a:solidFill>
                  <a:srgbClr val="000000"/>
                </a:solidFill>
              </a:rPr>
              <a:t> ← ADD</a:t>
            </a:r>
            <a:endParaRPr lang="en-US"/>
          </a:p>
          <a:p>
            <a:pPr marL="171450" indent="-171450">
              <a:buFont typeface="Arial"/>
              <a:buChar char="•"/>
            </a:pPr>
            <a:r>
              <a:rPr lang="en-US">
                <a:solidFill>
                  <a:srgbClr val="000000"/>
                </a:solidFill>
              </a:rPr>
              <a:t>✅ </a:t>
            </a:r>
            <a:r>
              <a:rPr lang="en-US" b="1">
                <a:solidFill>
                  <a:srgbClr val="000000"/>
                </a:solidFill>
              </a:rPr>
              <a:t>Financial Advisors</a:t>
            </a:r>
            <a:r>
              <a:rPr lang="en-US">
                <a:solidFill>
                  <a:srgbClr val="000000"/>
                </a:solidFill>
              </a:rPr>
              <a:t> ← ADD</a:t>
            </a:r>
            <a:endParaRPr lang="en-US"/>
          </a:p>
          <a:p>
            <a:r>
              <a:rPr lang="en-US" b="1"/>
              <a:t>HIGH IMPACT / LOW INTEREST</a:t>
            </a:r>
            <a:r>
              <a:rPr lang="en-US"/>
              <a:t> (Keep Satisfied)</a:t>
            </a:r>
          </a:p>
          <a:p>
            <a:pPr marL="171450" indent="-171450">
              <a:buFont typeface="Arial"/>
              <a:buChar char="•"/>
            </a:pPr>
            <a:r>
              <a:rPr lang="en-US">
                <a:solidFill>
                  <a:srgbClr val="000000"/>
                </a:solidFill>
              </a:rPr>
              <a:t>✅ </a:t>
            </a:r>
            <a:r>
              <a:rPr lang="en-US" b="1">
                <a:solidFill>
                  <a:srgbClr val="000000"/>
                </a:solidFill>
              </a:rPr>
              <a:t>Amazon Shareholders</a:t>
            </a:r>
            <a:r>
              <a:rPr lang="en-US">
                <a:solidFill>
                  <a:srgbClr val="000000"/>
                </a:solidFill>
              </a:rPr>
              <a:t> ← MOVE HERE</a:t>
            </a:r>
            <a:endParaRPr lang="en-US"/>
          </a:p>
          <a:p>
            <a:pPr marL="171450" indent="-171450">
              <a:buFont typeface="Arial"/>
              <a:buChar char="•"/>
            </a:pPr>
            <a:r>
              <a:rPr lang="en-US">
                <a:solidFill>
                  <a:srgbClr val="000000"/>
                </a:solidFill>
              </a:rPr>
              <a:t>✅ </a:t>
            </a:r>
            <a:r>
              <a:rPr lang="en-US" b="1">
                <a:solidFill>
                  <a:srgbClr val="000000"/>
                </a:solidFill>
              </a:rPr>
              <a:t>IRS</a:t>
            </a:r>
            <a:r>
              <a:rPr lang="en-US">
                <a:solidFill>
                  <a:srgbClr val="000000"/>
                </a:solidFill>
              </a:rPr>
              <a:t> ← ADD</a:t>
            </a:r>
            <a:endParaRPr lang="en-US"/>
          </a:p>
          <a:p>
            <a:pPr marL="171450" indent="-171450">
              <a:buFont typeface="Arial"/>
              <a:buChar char="•"/>
            </a:pPr>
            <a:r>
              <a:rPr lang="en-US">
                <a:solidFill>
                  <a:srgbClr val="000000"/>
                </a:solidFill>
              </a:rPr>
              <a:t>✅ </a:t>
            </a:r>
            <a:r>
              <a:rPr lang="en-US" b="1">
                <a:solidFill>
                  <a:srgbClr val="000000"/>
                </a:solidFill>
              </a:rPr>
              <a:t>Amazon Legal</a:t>
            </a:r>
            <a:r>
              <a:rPr lang="en-US">
                <a:solidFill>
                  <a:srgbClr val="000000"/>
                </a:solidFill>
              </a:rPr>
              <a:t> ← ADD</a:t>
            </a:r>
            <a:endParaRPr lang="en-US"/>
          </a:p>
          <a:p>
            <a:pPr marL="171450" indent="-171450">
              <a:buFont typeface="Arial"/>
              <a:buChar char="•"/>
            </a:pPr>
            <a:r>
              <a:rPr lang="en-US">
                <a:solidFill>
                  <a:srgbClr val="000000"/>
                </a:solidFill>
              </a:rPr>
              <a:t>✅ </a:t>
            </a:r>
            <a:r>
              <a:rPr lang="en-US" b="1">
                <a:solidFill>
                  <a:srgbClr val="000000"/>
                </a:solidFill>
              </a:rPr>
              <a:t>Credit Rating Agencies</a:t>
            </a:r>
            <a:r>
              <a:rPr lang="en-US">
                <a:solidFill>
                  <a:srgbClr val="000000"/>
                </a:solidFill>
              </a:rPr>
              <a:t> ← ADD</a:t>
            </a:r>
            <a:endParaRPr lang="en-US"/>
          </a:p>
          <a:p>
            <a:r>
              <a:rPr lang="en-US" b="1"/>
              <a:t>LOW IMPACT / HIGH INTEREST</a:t>
            </a:r>
            <a:r>
              <a:rPr lang="en-US"/>
              <a:t> (Keep Informed)</a:t>
            </a:r>
          </a:p>
          <a:p>
            <a:pPr marL="171450" indent="-171450">
              <a:buFont typeface="Arial"/>
              <a:buChar char="•"/>
            </a:pPr>
            <a:r>
              <a:rPr lang="en-US">
                <a:solidFill>
                  <a:srgbClr val="000000"/>
                </a:solidFill>
              </a:rPr>
              <a:t>✅ Labor Unions</a:t>
            </a:r>
            <a:endParaRPr lang="en-US"/>
          </a:p>
          <a:p>
            <a:pPr marL="171450" indent="-171450">
              <a:buFont typeface="Arial"/>
              <a:buChar char="•"/>
            </a:pPr>
            <a:r>
              <a:rPr lang="en-US">
                <a:solidFill>
                  <a:srgbClr val="000000"/>
                </a:solidFill>
              </a:rPr>
              <a:t>✅ </a:t>
            </a:r>
            <a:r>
              <a:rPr lang="en-US" b="1">
                <a:solidFill>
                  <a:srgbClr val="000000"/>
                </a:solidFill>
              </a:rPr>
              <a:t>Environmental/Conservation Groups</a:t>
            </a:r>
            <a:r>
              <a:rPr lang="en-US">
                <a:solidFill>
                  <a:srgbClr val="000000"/>
                </a:solidFill>
              </a:rPr>
              <a:t> ← MOVE HERE (or Medium Impact)</a:t>
            </a:r>
            <a:endParaRPr lang="en-US"/>
          </a:p>
          <a:p>
            <a:pPr marL="171450" indent="-171450">
              <a:buFont typeface="Arial"/>
              <a:buChar char="•"/>
            </a:pPr>
            <a:r>
              <a:rPr lang="en-US">
                <a:solidFill>
                  <a:srgbClr val="000000"/>
                </a:solidFill>
              </a:rPr>
              <a:t>✅ </a:t>
            </a:r>
            <a:r>
              <a:rPr lang="en-US" b="1">
                <a:solidFill>
                  <a:srgbClr val="000000"/>
                </a:solidFill>
              </a:rPr>
              <a:t>Local Community Organizations</a:t>
            </a:r>
            <a:r>
              <a:rPr lang="en-US">
                <a:solidFill>
                  <a:srgbClr val="000000"/>
                </a:solidFill>
              </a:rPr>
              <a:t> ← MOVE HERE (or Medium Impact)</a:t>
            </a:r>
            <a:endParaRPr lang="en-US"/>
          </a:p>
          <a:p>
            <a:pPr marL="171450" indent="-171450">
              <a:buFont typeface="Arial"/>
              <a:buChar char="•"/>
            </a:pPr>
            <a:r>
              <a:rPr lang="en-US">
                <a:solidFill>
                  <a:srgbClr val="000000"/>
                </a:solidFill>
              </a:rPr>
              <a:t>✅ </a:t>
            </a:r>
            <a:r>
              <a:rPr lang="en-US" b="1">
                <a:solidFill>
                  <a:srgbClr val="000000"/>
                </a:solidFill>
              </a:rPr>
              <a:t>Environmental Consultants</a:t>
            </a:r>
            <a:r>
              <a:rPr lang="en-US">
                <a:solidFill>
                  <a:srgbClr val="000000"/>
                </a:solidFill>
              </a:rPr>
              <a:t> ← ADD</a:t>
            </a:r>
            <a:endParaRPr lang="en-US"/>
          </a:p>
          <a:p>
            <a:r>
              <a:rPr lang="en-US" b="1"/>
              <a:t>LOW IMPACT / LOW INTEREST</a:t>
            </a:r>
            <a:r>
              <a:rPr lang="en-US"/>
              <a:t> (Monitor)</a:t>
            </a:r>
          </a:p>
          <a:p>
            <a:pPr marL="171450" indent="-171450">
              <a:buFont typeface="Arial"/>
              <a:buChar char="•"/>
            </a:pPr>
            <a:r>
              <a:rPr lang="en-US">
                <a:solidFill>
                  <a:srgbClr val="000000"/>
                </a:solidFill>
              </a:rPr>
              <a:t>✅ Amazon Worldwide Communications</a:t>
            </a:r>
            <a:endParaRPr lang="en-US"/>
          </a:p>
          <a:p>
            <a:pPr marL="171450" indent="-171450">
              <a:buFont typeface="Arial"/>
              <a:buChar char="•"/>
            </a:pPr>
            <a:r>
              <a:rPr lang="en-US">
                <a:solidFill>
                  <a:srgbClr val="000000"/>
                </a:solidFill>
              </a:rPr>
              <a:t>✅ Insurance Providers</a:t>
            </a:r>
            <a:endParaRPr lang="en-US"/>
          </a:p>
          <a:p>
            <a:pPr marL="171450" indent="-171450">
              <a:buFont typeface="Arial"/>
              <a:buChar char="•"/>
            </a:pPr>
            <a:r>
              <a:rPr lang="en-US">
                <a:solidFill>
                  <a:srgbClr val="000000"/>
                </a:solidFill>
              </a:rPr>
              <a:t>✅ Competitors</a:t>
            </a:r>
            <a:endParaRPr lang="en-US"/>
          </a:p>
          <a:p>
            <a:endParaRPr lang="en-US">
              <a:solidFill>
                <a:srgbClr val="000000"/>
              </a:solidFill>
            </a:endParaRPr>
          </a:p>
        </p:txBody>
      </p:sp>
      <p:sp>
        <p:nvSpPr>
          <p:cNvPr id="4" name="Slide Number Placeholder 3">
            <a:extLst>
              <a:ext uri="{FF2B5EF4-FFF2-40B4-BE49-F238E27FC236}">
                <a16:creationId xmlns:a16="http://schemas.microsoft.com/office/drawing/2014/main" id="{46F1313B-FA3D-3B4F-7F4E-4669C4297461}"/>
              </a:ext>
            </a:extLst>
          </p:cNvPr>
          <p:cNvSpPr>
            <a:spLocks noGrp="1"/>
          </p:cNvSpPr>
          <p:nvPr>
            <p:ph type="sldNum" sz="quarter" idx="5"/>
          </p:nvPr>
        </p:nvSpPr>
        <p:spPr/>
        <p:txBody>
          <a:bodyPr/>
          <a:lstStyle/>
          <a:p>
            <a:fld id="{BFDD6F49-EBB7-4CCF-97A8-E526BB28BB69}" type="slidenum">
              <a:rPr lang="en-US" smtClean="0"/>
              <a:t>13</a:t>
            </a:fld>
            <a:endParaRPr lang="en-US"/>
          </a:p>
        </p:txBody>
      </p:sp>
    </p:spTree>
    <p:extLst>
      <p:ext uri="{BB962C8B-B14F-4D97-AF65-F5344CB8AC3E}">
        <p14:creationId xmlns:p14="http://schemas.microsoft.com/office/powerpoint/2010/main" val="1895803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ADBC6-A299-D59A-46BF-7230F5D3B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86631-39F3-12C7-C12A-AAA700AFBF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5AE0D4-2497-BFBA-9C0A-DAE4CF9EA7A1}"/>
              </a:ext>
            </a:extLst>
          </p:cNvPr>
          <p:cNvSpPr>
            <a:spLocks noGrp="1"/>
          </p:cNvSpPr>
          <p:nvPr>
            <p:ph type="body" idx="1"/>
          </p:nvPr>
        </p:nvSpPr>
        <p:spPr/>
        <p:txBody>
          <a:bodyPr/>
          <a:lstStyle/>
          <a:p>
            <a:r>
              <a:rPr lang="en-US"/>
              <a:t>Project Charter and Stakeholder Map </a:t>
            </a:r>
          </a:p>
          <a:p>
            <a:r>
              <a:rPr lang="en-US"/>
              <a:t>For Stakeholder Map use Diagram – Interest &amp; Impact Example </a:t>
            </a:r>
          </a:p>
        </p:txBody>
      </p:sp>
      <p:sp>
        <p:nvSpPr>
          <p:cNvPr id="4" name="Slide Number Placeholder 3">
            <a:extLst>
              <a:ext uri="{FF2B5EF4-FFF2-40B4-BE49-F238E27FC236}">
                <a16:creationId xmlns:a16="http://schemas.microsoft.com/office/drawing/2014/main" id="{9512EC78-C639-7019-01BA-EDB05C7B57BA}"/>
              </a:ext>
            </a:extLst>
          </p:cNvPr>
          <p:cNvSpPr>
            <a:spLocks noGrp="1"/>
          </p:cNvSpPr>
          <p:nvPr>
            <p:ph type="sldNum" sz="quarter" idx="5"/>
          </p:nvPr>
        </p:nvSpPr>
        <p:spPr/>
        <p:txBody>
          <a:bodyPr/>
          <a:lstStyle/>
          <a:p>
            <a:fld id="{BFDD6F49-EBB7-4CCF-97A8-E526BB28BB69}" type="slidenum">
              <a:rPr lang="en-US" smtClean="0"/>
              <a:t>14</a:t>
            </a:fld>
            <a:endParaRPr lang="en-US"/>
          </a:p>
        </p:txBody>
      </p:sp>
    </p:spTree>
    <p:extLst>
      <p:ext uri="{BB962C8B-B14F-4D97-AF65-F5344CB8AC3E}">
        <p14:creationId xmlns:p14="http://schemas.microsoft.com/office/powerpoint/2010/main" val="1724916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80" y="441434"/>
            <a:ext cx="7550920" cy="3743005"/>
          </a:xfrm>
        </p:spPr>
        <p:txBody>
          <a:bodyPr anchor="t">
            <a:normAutofit/>
          </a:bodyPr>
          <a:lstStyle>
            <a:lvl1pPr algn="l">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9135837" cy="775044"/>
          </a:xfrm>
        </p:spPr>
        <p:txBody>
          <a:bodyPr anchor="ctr">
            <a:normAutofit/>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39F097E-7A3A-4F11-9373-FCEF70D478AE}"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80" y="441434"/>
            <a:ext cx="7550920" cy="3743005"/>
          </a:xfrm>
        </p:spPr>
        <p:txBody>
          <a:bodyPr anchor="t">
            <a:normAutofit/>
          </a:bodyPr>
          <a:lstStyle>
            <a:lvl1pPr algn="l">
              <a:defRPr sz="80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9135837" cy="775044"/>
          </a:xfrm>
        </p:spPr>
        <p:txBody>
          <a:bodyPr anchor="ctr">
            <a:normAutofit/>
          </a:bodyPr>
          <a:lstStyle>
            <a:lvl1pPr marL="0" indent="0" algn="l">
              <a:buNone/>
              <a:defRPr sz="22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39F097E-7A3A-4F11-9373-FCEF70D478AE}"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3898447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anchor="b">
            <a:normAutofit/>
          </a:bodyPr>
          <a:lstStyle>
            <a:lvl1pPr algn="l">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90A7993E-BF8D-483D-835F-218BE3FC2648}"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7795432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anchor="b">
            <a:normAutofit/>
          </a:bodyPr>
          <a:lstStyle>
            <a:lvl1pPr algn="l">
              <a:defRPr sz="36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anchor="t">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 y="0"/>
            <a:ext cx="12191999" cy="4944351"/>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0A5881F7-61E7-464A-B25B-D06EF371E7BB}" type="datetime1">
              <a:rPr lang="en-US" smtClean="0"/>
              <a:t>9/18/2026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userDrawn="1"/>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anchor="t">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5766" y="0"/>
            <a:ext cx="6663325" cy="6858000"/>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6EAE0971-16E1-4804-BCF7-2D4AE159BC5F}"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userDrawn="1"/>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anchor="t">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029201" y="0"/>
            <a:ext cx="7162800" cy="6858000"/>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5017E961-8070-4076-BC89-E9A21E8B1DDB}" type="datetime1">
              <a:rPr lang="en-US" smtClean="0"/>
              <a:t>9/18/2026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1206727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6D593C-5636-A3D4-D0B4-7C5D4B4D6957}"/>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8" y="3507830"/>
            <a:ext cx="7589521" cy="2944368"/>
          </a:xfrm>
        </p:spPr>
        <p:txBody>
          <a:bodyPr anchor="b">
            <a:normAutofit/>
          </a:bodyPr>
          <a:lstStyle>
            <a:lvl1pPr algn="l">
              <a:defRPr sz="8000">
                <a:solidFill>
                  <a:schemeClr val="accent1">
                    <a:lumMod val="20000"/>
                    <a:lumOff val="80000"/>
                  </a:schemeClr>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F34549CE-172D-4858-ACF7-34679969C52A}"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84" userDrawn="1">
          <p15:clr>
            <a:srgbClr val="FBAE40"/>
          </p15:clr>
        </p15:guide>
        <p15:guide id="6"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8" y="3507830"/>
            <a:ext cx="7589521" cy="2944368"/>
          </a:xfrm>
        </p:spPr>
        <p:txBody>
          <a:bodyPr anchor="b">
            <a:normAutofit/>
          </a:bodyPr>
          <a:lstStyle>
            <a:lvl1pPr algn="l">
              <a:defRPr sz="8000">
                <a:solidFill>
                  <a:schemeClr val="accent1"/>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F34549CE-172D-4858-ACF7-34679969C52A}" type="datetime1">
              <a:rPr lang="en-US" smtClean="0"/>
              <a:pPr/>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84" userDrawn="1">
          <p15:clr>
            <a:srgbClr val="FBAE40"/>
          </p15:clr>
        </p15:guide>
        <p15:guide id="6"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userDrawn="1"/>
        </p:nvSpPr>
        <p:spPr>
          <a:xfrm>
            <a:off x="-1" y="1"/>
            <a:ext cx="12192001" cy="2892972"/>
          </a:xfrm>
          <a:prstGeom prst="rect">
            <a:avLst/>
          </a:prstGeom>
          <a:ln>
            <a:noFill/>
          </a:ln>
          <a:effectLst>
            <a:outerShdw blurRad="266700" dist="25400" dir="5400000" sx="96000" sy="96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57200"/>
            <a:ext cx="9506608" cy="2215056"/>
          </a:xfrm>
        </p:spPr>
        <p:txBody>
          <a:bodyPr anchor="b">
            <a:no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6" y="3231931"/>
            <a:ext cx="5200938" cy="2791839"/>
          </a:xfrm>
        </p:spPr>
        <p:txBody>
          <a:bodyPr>
            <a:normAutofit/>
          </a:bodyPr>
          <a:lstStyle>
            <a:lvl1pPr>
              <a:defRPr sz="22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7E5ED5B-F431-4291-9350-DE25B4E24A2B}" type="datetime1">
              <a:rPr lang="en-US" smtClean="0"/>
              <a:t>9/18/2026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userDrawn="1"/>
        </p:nvSpPr>
        <p:spPr>
          <a:xfrm>
            <a:off x="-1" y="1"/>
            <a:ext cx="12192001" cy="2892972"/>
          </a:xfrm>
          <a:prstGeom prst="rect">
            <a:avLst/>
          </a:prstGeom>
          <a:ln>
            <a:noFill/>
          </a:ln>
          <a:effectLst>
            <a:outerShdw blurRad="266700" dist="25400" dir="5400000" sx="96000" sy="96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57200"/>
            <a:ext cx="9506608" cy="2215056"/>
          </a:xfrm>
        </p:spPr>
        <p:txBody>
          <a:bodyPr anchor="b">
            <a:noAutofit/>
          </a:bodyPr>
          <a:lstStyle>
            <a:lvl1pPr>
              <a:defRPr sz="8800">
                <a:solidFill>
                  <a:schemeClr val="accent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p:nvPr>
        </p:nvSpPr>
        <p:spPr>
          <a:xfrm>
            <a:off x="0" y="2892425"/>
            <a:ext cx="5888421" cy="3965575"/>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2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07E5ED5B-F431-4291-9350-DE25B4E24A2B}" type="datetime1">
              <a:rPr lang="en-US" smtClean="0"/>
              <a:t>9/18/2026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7"/>
            <a:ext cx="11924209" cy="5621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A1E9370-9C4A-4A34-917A-E6D78BC68C7C}"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051269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378562" y="413752"/>
            <a:ext cx="11479378" cy="6030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A0AAD6C-AC8D-431F-8590-AA5F2823E2A7}"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886518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B96EF1D-0703-4248-81C2-B6D58E3222B9}"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B96EF1D-0703-4248-81C2-B6D58E3222B9}"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userDrawn="1"/>
        </p:nvSpPr>
        <p:spPr>
          <a:xfrm>
            <a:off x="5158292" y="0"/>
            <a:ext cx="703370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EDC2E61-84D8-4124-A60F-8C1591231F2F}"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userDrawn="1"/>
        </p:nvSpPr>
        <p:spPr>
          <a:xfrm>
            <a:off x="1" y="0"/>
            <a:ext cx="4998404" cy="6858000"/>
          </a:xfrm>
          <a:prstGeom prst="rect">
            <a:avLst/>
          </a:prstGeom>
          <a:ln>
            <a:noFill/>
          </a:ln>
          <a:effectLst>
            <a:outerShdw blurRad="304800" dist="50800" dir="5400000" sx="95000" sy="95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anchor="t">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D86AB-AC02-447A-B1D9-D29255284012}"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userDrawn="1"/>
        </p:nvSpPr>
        <p:spPr>
          <a:xfrm>
            <a:off x="4998404" y="0"/>
            <a:ext cx="7193595"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56CB269-0EA9-4840-8B00-D6F4D5623A66}"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userDrawn="1"/>
        </p:nvSpPr>
        <p:spPr>
          <a:xfrm>
            <a:off x="0" y="1"/>
            <a:ext cx="4998404" cy="6858000"/>
          </a:xfrm>
          <a:prstGeom prst="rect">
            <a:avLst/>
          </a:prstGeom>
          <a:ln>
            <a:noFill/>
          </a:ln>
          <a:effectLst>
            <a:outerShdw blurRad="292100" dist="25400" dir="5400000" sx="95000" sy="95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32CF09-9C6A-488F-912B-7484594F36CA}"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A8A2DD0-471C-4A47-B83D-2C9E45A89DDD}"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8">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userDrawn="1"/>
        </p:nvSpPr>
        <p:spPr>
          <a:xfrm>
            <a:off x="0" y="0"/>
            <a:ext cx="3973690" cy="6858000"/>
          </a:xfrm>
          <a:prstGeom prst="rect">
            <a:avLst/>
          </a:prstGeom>
          <a:ln>
            <a:noFill/>
          </a:ln>
          <a:effectLst>
            <a:outerShdw blurRad="254000" dist="25400" dir="5400000" sx="94000" sy="94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A8A2DD0-471C-4A47-B83D-2C9E45A89DDD}"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userDrawn="1"/>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10407"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CE4FD0D0-EFA3-4773-9A17-8984A9F3894E}" type="datetime1">
              <a:rPr lang="en-US" smtClean="0"/>
              <a:t>9/18/2026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userDrawn="1"/>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userDrawn="1"/>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1EDE0F73-15D4-4675-AC83-2116B6713E0D}" type="datetime1">
              <a:rPr lang="en-US" smtClean="0"/>
              <a:t>9/18/2026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7214047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userDrawn="1"/>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19930"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0A2676FB-3D7D-40C8-BF49-5420830A3578}" type="datetime1">
              <a:rPr lang="en-US" smtClean="0"/>
              <a:t>9/18/2026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userDrawn="1"/>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4509B7BD-ED9F-4BE8-9CB0-6580F3DA5AD9}" type="datetime1">
              <a:rPr lang="en-US" smtClean="0"/>
              <a:t>9/18/2026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2187197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userDrawn="1"/>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721068"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D1E4CDFE-4149-497F-9AB2-FC1DA668517A}" type="datetime1">
              <a:rPr lang="en-US" smtClean="0"/>
              <a:pPr/>
              <a:t>9/18/2026</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userDrawn="1"/>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530A2420-C19C-4EDE-B6F5-403698632D18}" type="datetime1">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66014" y="0"/>
            <a:ext cx="6525986"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36918008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userDrawn="1"/>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9E86C564-3F7A-4713-A853-F25E5506815F}" type="datetime1">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66014" y="0"/>
            <a:ext cx="6525985"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3101820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userDrawn="1"/>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7542725"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AAF53DBC-D325-47EB-9AE2-DBA8CFEB104F}" type="datetime1">
              <a:rPr lang="en-US" smtClean="0"/>
              <a:t>9/18/2026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userDrawn="1"/>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userDrawn="1"/>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17CB1A90-8BC5-45FC-8522-57E9740F0D09}" type="datetime1">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21271898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userDrawn="1"/>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820774"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B3B5E29B-D4CF-40DB-8415-CDEF746A4884}" type="datetime1">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userDrawn="1"/>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12192000" cy="4635132"/>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49A0EB0-1A85-4415-B0DD-DB56CB89A1A3}" type="datetime1">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userDrawn="1"/>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639A7FB-F6CB-4A83-AB01-DE96AD12BDE0}" type="datetime1">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1347108"/>
            <a:ext cx="6831915" cy="5510891"/>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D43F2FFC-4D61-478E-A5DA-B134F1C3F459}" type="datetime1">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userDrawn="1"/>
        </p:nvSpPr>
        <p:spPr>
          <a:xfrm>
            <a:off x="0" y="0"/>
            <a:ext cx="5565422"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9502" y="2175642"/>
            <a:ext cx="4380271" cy="4124756"/>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7EF4E6-0835-4A9E-AB77-03E72BA07261}" type="datetime1">
              <a:rPr lang="en-US" smtClean="0"/>
              <a:t>9/18/2026</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userDrawn="1"/>
        </p:nvSpPr>
        <p:spPr>
          <a:xfrm>
            <a:off x="-1" y="0"/>
            <a:ext cx="5584207"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2175642"/>
            <a:ext cx="5584206" cy="4682358"/>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A77EF4E6-0835-4A9E-AB77-03E72BA07261}" type="datetime1">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userDrawn="1"/>
        </p:nvSpPr>
        <p:spPr>
          <a:xfrm>
            <a:off x="1" y="-1"/>
            <a:ext cx="4612921" cy="6858001"/>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9503" y="2295144"/>
            <a:ext cx="3515063" cy="4005253"/>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E621BA2-1729-4125-80E1-73B10B108A05}" type="datetime1">
              <a:rPr lang="en-US" smtClean="0"/>
              <a:t>9/18/2026</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0CD10E-DCDC-D077-124D-D9AD1F8B1CF2}"/>
              </a:ext>
              <a:ext uri="{C183D7F6-B498-43B3-948B-1728B52AA6E4}">
                <adec:decorative xmlns:adec="http://schemas.microsoft.com/office/drawing/2017/decorative" val="1"/>
              </a:ext>
            </a:extLst>
          </p:cNvPr>
          <p:cNvSpPr/>
          <p:nvPr userDrawn="1"/>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200" y="1075198"/>
            <a:ext cx="7064188" cy="4707604"/>
          </a:xfrm>
        </p:spPr>
        <p:txBody>
          <a:bodyPr anchor="ctr">
            <a:normAutofit/>
          </a:bodyPr>
          <a:lstStyle>
            <a:lvl1pPr algn="ctr">
              <a:defRPr sz="22500">
                <a:solidFill>
                  <a:schemeClr val="accent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12740" y="1487780"/>
            <a:ext cx="3193022" cy="3882441"/>
          </a:xfrm>
        </p:spPr>
        <p:txBody>
          <a:bodyPr anchor="ctr">
            <a:normAutofit/>
          </a:bodyPr>
          <a:lstStyle>
            <a:lvl1pPr marL="0" indent="0" algn="l">
              <a:lnSpc>
                <a:spcPct val="110000"/>
              </a:lnSpc>
              <a:buNone/>
              <a:defRPr sz="2800" cap="none"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D87098E-FA98-43EB-9FC8-AACA19803591}"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544685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2">
    <p:bg>
      <p:bgRef idx="1001">
        <a:schemeClr val="bg1"/>
      </p:bgRef>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A375349-64D8-04FF-E6A4-A9F3EA3F3B83}"/>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78426"/>
            <a:ext cx="10543032" cy="3677264"/>
          </a:xfrm>
        </p:spPr>
        <p:txBody>
          <a:bodyPr anchor="b">
            <a:normAutofit/>
          </a:bodyPr>
          <a:lstStyle>
            <a:lvl1pPr algn="ctr">
              <a:defRPr sz="23200">
                <a:solidFill>
                  <a:schemeClr val="accent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29032" y="5201266"/>
            <a:ext cx="9733936" cy="1153814"/>
          </a:xfrm>
        </p:spPr>
        <p:txBody>
          <a:bodyPr anchor="ctr">
            <a:normAutofit/>
          </a:bodyPr>
          <a:lstStyle>
            <a:lvl1pPr marL="0" indent="0" algn="ctr">
              <a:lnSpc>
                <a:spcPct val="110000"/>
              </a:lnSpc>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09B7BD5-FE6F-4EB1-9820-1E0793986809}"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048443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34E64F7-E11B-F55A-F8C7-2938BC5485B0}"/>
              </a:ext>
              <a:ext uri="{C183D7F6-B498-43B3-948B-1728B52AA6E4}">
                <adec:decorative xmlns:adec="http://schemas.microsoft.com/office/drawing/2017/decorative" val="1"/>
              </a:ext>
            </a:extLst>
          </p:cNvPr>
          <p:cNvSpPr/>
          <p:nvPr userDrawn="1"/>
        </p:nvSpPr>
        <p:spPr>
          <a:xfrm>
            <a:off x="1" y="0"/>
            <a:ext cx="12191999" cy="4939393"/>
          </a:xfrm>
          <a:prstGeom prst="rect">
            <a:avLst/>
          </a:prstGeom>
          <a:solidFill>
            <a:schemeClr val="tx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78426"/>
            <a:ext cx="10543032" cy="3677264"/>
          </a:xfrm>
        </p:spPr>
        <p:txBody>
          <a:bodyPr anchor="b">
            <a:normAutofit/>
          </a:bodyPr>
          <a:lstStyle>
            <a:lvl1pPr algn="ctr">
              <a:defRPr sz="23200">
                <a:solidFill>
                  <a:schemeClr val="bg2"/>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29032" y="5321789"/>
            <a:ext cx="9733936" cy="1153814"/>
          </a:xfrm>
        </p:spPr>
        <p:txBody>
          <a:bodyPr anchor="ctr">
            <a:normAutofit/>
          </a:bodyPr>
          <a:lstStyle>
            <a:lvl1pPr marL="0" indent="0" algn="ctr">
              <a:lnSpc>
                <a:spcPct val="110000"/>
              </a:lnSpc>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09B7BD5-FE6F-4EB1-9820-1E0793986809}"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520964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userDrawn="1"/>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3BEDB6B-97AA-46A7-9A9F-DF3F9C8FC710}" type="datetime1">
              <a:rPr lang="en-US" smtClean="0"/>
              <a:pPr/>
              <a:t>9/18/2026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tatement 3">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CB9B519-1D75-197C-822E-7971723CEFF9}"/>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7EB50A41-BBB0-4E99-933A-0D54E921223C}" type="datetime1">
              <a:rPr lang="en-US" smtClean="0"/>
              <a:pPr/>
              <a:t>9/18/2026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42E0AEC-8368-EAD3-F78A-8DD00AD5F4BD}"/>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334072" y="706212"/>
            <a:ext cx="9473189" cy="3526971"/>
          </a:xfrm>
        </p:spPr>
        <p:txBody>
          <a:bodyPr anchor="ctr">
            <a:normAutofit/>
          </a:bodyPr>
          <a:lstStyle>
            <a:lvl1pPr marL="173736" indent="-173736" algn="l">
              <a:lnSpc>
                <a:spcPct val="100000"/>
              </a:lnSpc>
              <a:defRPr sz="5400" b="0">
                <a:solidFill>
                  <a:schemeClr val="accent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518800" y="5592286"/>
            <a:ext cx="8991270" cy="612820"/>
          </a:xfrm>
        </p:spPr>
        <p:txBody>
          <a:bodyPr anchor="ctr">
            <a:normAutofit/>
          </a:bodyPr>
          <a:lstStyle>
            <a:lvl1pPr marL="0" indent="0" algn="l">
              <a:buNone/>
              <a:defRPr sz="22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91AEBA9-38A4-4A5F-86B3-1B3385D5906B}"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9565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0835389-478C-7F74-F6E0-89AF30735CF5}"/>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94270"/>
            <a:ext cx="9116569" cy="3781168"/>
          </a:xfrm>
        </p:spPr>
        <p:txBody>
          <a:bodyPr anchor="t">
            <a:normAutofit/>
          </a:bodyPr>
          <a:lstStyle>
            <a:lvl1pPr marL="173736" indent="-173736" algn="l">
              <a:lnSpc>
                <a:spcPct val="100000"/>
              </a:lnSpc>
              <a:defRPr sz="4400" b="0">
                <a:solidFill>
                  <a:schemeClr val="tx2"/>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04982" y="5520007"/>
            <a:ext cx="8968785" cy="757379"/>
          </a:xfrm>
        </p:spPr>
        <p:txBody>
          <a:bodyPr anchor="ctr">
            <a:normAutofit/>
          </a:bodyPr>
          <a:lstStyle>
            <a:lvl1pPr marL="0" indent="0" algn="l">
              <a:buNone/>
              <a:defRPr sz="2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7436DFB-2C6F-4036-AEBC-4AAB690F37DF}"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786029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Quote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272016" cy="3291840"/>
          </a:xfrm>
        </p:spPr>
        <p:txBody>
          <a:bodyPr anchor="ctr">
            <a:normAutofit/>
          </a:bodyPr>
          <a:lstStyle>
            <a:lvl1pPr marL="155448" indent="-155448"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47397" y="5349240"/>
            <a:ext cx="9088027" cy="466344"/>
          </a:xfrm>
        </p:spPr>
        <p:txBody>
          <a:bodyPr anchor="ctr">
            <a:normAutofit/>
          </a:bodyPr>
          <a:lstStyle>
            <a:lvl1pPr marL="0" indent="0" algn="l">
              <a:buNone/>
              <a:defRPr sz="2200" b="1">
                <a:solidFill>
                  <a:schemeClr val="accent1">
                    <a:lumMod val="40000"/>
                    <a:lumOff val="6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1B3A76E-6AB8-4A60-98AF-4814163FD320}"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693244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457199" y="1663264"/>
            <a:ext cx="5218931" cy="4672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663264"/>
            <a:ext cx="5181600" cy="4672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91D92A-FD65-4630-8EF9-DCFDE3EFD6C4}" type="datetime1">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595300"/>
            <a:ext cx="5262890"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457199" y="2271365"/>
            <a:ext cx="5262891"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595300"/>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271365"/>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4373491-7B77-49C6-AD2D-C13ED48C2EBA}" type="datetime1">
              <a:rPr lang="en-US" smtClean="0"/>
              <a:t>9/18/2026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7FDED9-56B8-4F05-AB54-2CC756DCB8EE}" type="datetime1">
              <a:rPr lang="en-US" smtClean="0"/>
              <a:t>9/18/2026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5466C3F-BF2A-44FE-B216-339938B7BC3B}" type="datetime1">
              <a:rPr lang="en-US" smtClean="0"/>
              <a:t>9/18/2026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userDrawn="1"/>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EDF8AE2-251E-4D0E-B879-45475D6F38C8}" type="datetime1">
              <a:rPr lang="en-US" smtClean="0"/>
              <a:t>9/18/2026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userDrawn="1"/>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C8E2833-867D-45B3-9E62-3A71290884E3}" type="datetime1">
              <a:rPr lang="en-US" smtClean="0"/>
              <a:t>9/18/2026</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163207" y="557785"/>
            <a:ext cx="6471008" cy="5742430"/>
          </a:xfr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nclusion">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16F33D-BC3B-B205-F219-8E637AE65197}"/>
              </a:ext>
            </a:extLst>
          </p:cNvPr>
          <p:cNvSpPr/>
          <p:nvPr userDrawn="1"/>
        </p:nvSpPr>
        <p:spPr>
          <a:xfrm>
            <a:off x="0" y="0"/>
            <a:ext cx="12191999"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userDrawn="1"/>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499834" cy="1434662"/>
          </a:xfrm>
        </p:spPr>
        <p:txBody>
          <a:bodyPr anchor="b">
            <a:no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AA654AB-C2AE-417E-9E7B-1A38F8EEF46E}" type="datetime1">
              <a:rPr lang="en-US" smtClean="0"/>
              <a:pPr/>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userDrawn="1"/>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Autofit/>
          </a:bodyPr>
          <a:lstStyle>
            <a:lvl1pPr>
              <a:defRPr sz="60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E59424E-2F7C-42CF-80D9-5F65DA459DD0}" type="datetime1">
              <a:rPr lang="en-US" smtClean="0"/>
              <a:t>9/18/2026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9/18/2026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98575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9/18/2026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5830843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8013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D1E4CDFE-4149-497F-9AB2-FC1DA668517A}" type="datetime1">
              <a:rPr lang="en-US" smtClean="0"/>
              <a:pPr/>
              <a:t>9/18/2026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675" r:id="rId3"/>
    <p:sldLayoutId id="2147483712" r:id="rId4"/>
    <p:sldLayoutId id="2147483698" r:id="rId5"/>
    <p:sldLayoutId id="2147483728" r:id="rId6"/>
    <p:sldLayoutId id="2147483761" r:id="rId7"/>
    <p:sldLayoutId id="2147483760" r:id="rId8"/>
    <p:sldLayoutId id="2147483786" r:id="rId9"/>
    <p:sldLayoutId id="2147483788" r:id="rId10"/>
    <p:sldLayoutId id="2147483713" r:id="rId11"/>
    <p:sldLayoutId id="2147483729" r:id="rId12"/>
    <p:sldLayoutId id="2147483662" r:id="rId13"/>
    <p:sldLayoutId id="2147483767" r:id="rId14"/>
    <p:sldLayoutId id="2147483679" r:id="rId15"/>
    <p:sldLayoutId id="2147483680" r:id="rId16"/>
    <p:sldLayoutId id="2147483681" r:id="rId17"/>
    <p:sldLayoutId id="2147483682" r:id="rId18"/>
    <p:sldLayoutId id="2147483706" r:id="rId19"/>
    <p:sldLayoutId id="2147483789" r:id="rId20"/>
    <p:sldLayoutId id="2147483689" r:id="rId21"/>
    <p:sldLayoutId id="2147483690" r:id="rId22"/>
    <p:sldLayoutId id="2147483707" r:id="rId23"/>
    <p:sldLayoutId id="2147483708" r:id="rId24"/>
    <p:sldLayoutId id="2147483692" r:id="rId25"/>
    <p:sldLayoutId id="2147483691" r:id="rId26"/>
    <p:sldLayoutId id="2147483733" r:id="rId27"/>
    <p:sldLayoutId id="2147483731" r:id="rId28"/>
    <p:sldLayoutId id="2147483780" r:id="rId29"/>
    <p:sldLayoutId id="2147483694" r:id="rId30"/>
    <p:sldLayoutId id="2147483726" r:id="rId31"/>
    <p:sldLayoutId id="2147483693" r:id="rId32"/>
    <p:sldLayoutId id="2147483672" r:id="rId33"/>
    <p:sldLayoutId id="2147483756" r:id="rId34"/>
    <p:sldLayoutId id="2147483757" r:id="rId35"/>
    <p:sldLayoutId id="2147483696" r:id="rId36"/>
    <p:sldLayoutId id="2147483752" r:id="rId37"/>
    <p:sldLayoutId id="2147483758" r:id="rId38"/>
    <p:sldLayoutId id="2147483753" r:id="rId39"/>
    <p:sldLayoutId id="2147483747" r:id="rId40"/>
    <p:sldLayoutId id="2147483759" r:id="rId41"/>
    <p:sldLayoutId id="2147483742" r:id="rId42"/>
    <p:sldLayoutId id="2147483740" r:id="rId43"/>
    <p:sldLayoutId id="2147483743" r:id="rId44"/>
    <p:sldLayoutId id="2147483664" r:id="rId45"/>
    <p:sldLayoutId id="2147483665" r:id="rId46"/>
    <p:sldLayoutId id="2147483666" r:id="rId47"/>
    <p:sldLayoutId id="2147483667" r:id="rId48"/>
    <p:sldLayoutId id="2147483668" r:id="rId49"/>
    <p:sldLayoutId id="2147483784" r:id="rId50"/>
    <p:sldLayoutId id="2147483783" r:id="rId51"/>
    <p:sldLayoutId id="2147483687" r:id="rId52"/>
    <p:sldLayoutId id="2147483790" r:id="rId53"/>
    <p:sldLayoutId id="2147483791" r:id="rId54"/>
    <p:sldLayoutId id="2147483792" r:id="rId55"/>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2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microsoft.com/office/2007/relationships/hdphoto" Target="../media/hdphoto2.wdp"/><Relationship Id="rId3" Type="http://schemas.microsoft.com/office/2018/10/relationships/comments" Target="../comments/modernComment_638_7588364A.xml"/><Relationship Id="rId7"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25.jpeg"/><Relationship Id="rId5" Type="http://schemas.openxmlformats.org/officeDocument/2006/relationships/image" Target="../media/image24.png"/><Relationship Id="rId10" Type="http://schemas.openxmlformats.org/officeDocument/2006/relationships/image" Target="../media/image28.jpeg"/><Relationship Id="rId4" Type="http://schemas.openxmlformats.org/officeDocument/2006/relationships/image" Target="../media/image23.png"/><Relationship Id="rId9" Type="http://schemas.openxmlformats.org/officeDocument/2006/relationships/image" Target="../media/image27.png"/></Relationships>
</file>

<file path=ppt/slides/_rels/slide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microsoft.com/office/2007/relationships/hdphoto" Target="../media/hdphoto4.wdp"/><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31.png"/><Relationship Id="rId11" Type="http://schemas.microsoft.com/office/2007/relationships/hdphoto" Target="../media/hdphoto6.wdp"/><Relationship Id="rId5" Type="http://schemas.microsoft.com/office/2007/relationships/hdphoto" Target="../media/hdphoto3.wdp"/><Relationship Id="rId10" Type="http://schemas.openxmlformats.org/officeDocument/2006/relationships/image" Target="../media/image33.png"/><Relationship Id="rId4" Type="http://schemas.openxmlformats.org/officeDocument/2006/relationships/image" Target="../media/image30.png"/><Relationship Id="rId9" Type="http://schemas.microsoft.com/office/2007/relationships/hdphoto" Target="../media/hdphoto5.wdp"/></Relationships>
</file>

<file path=ppt/slides/_rels/slide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microsoft.com/office/2018/10/relationships/comments" Target="../comments/modernComment_62F_7B14C31.xml"/><Relationship Id="rId2" Type="http://schemas.openxmlformats.org/officeDocument/2006/relationships/notesSlide" Target="../notesSlides/notesSlide6.xml"/><Relationship Id="rId1" Type="http://schemas.openxmlformats.org/officeDocument/2006/relationships/slideLayout" Target="../slideLayouts/slideLayout22.xml"/><Relationship Id="rId5" Type="http://schemas.openxmlformats.org/officeDocument/2006/relationships/hyperlink" Target="https://maken.wikiwijs.nl/138502/Budgetteren_moet_je_leren_" TargetMode="External"/><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microsoft.com/office/2018/10/relationships/comments" Target="../comments/modernComment_63C_6CBF9760.xml"/><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openxmlformats.org/officeDocument/2006/relationships/image" Target="../media/image36.jpeg"/></Relationships>
</file>

<file path=ppt/slides/_rels/slide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8.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mazon Solar Farms US East - YouTube">
            <a:extLst>
              <a:ext uri="{FF2B5EF4-FFF2-40B4-BE49-F238E27FC236}">
                <a16:creationId xmlns:a16="http://schemas.microsoft.com/office/drawing/2014/main" id="{8C4ED28D-666E-6D71-30FA-23896C55273A}"/>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7000"/>
                    </a14:imgEffect>
                  </a14:imgLayer>
                </a14:imgProps>
              </a:ext>
            </a:extLst>
          </a:blip>
          <a:stretch>
            <a:fillRect/>
          </a:stretch>
        </p:blipFill>
        <p:spPr>
          <a:xfrm>
            <a:off x="4262" y="0"/>
            <a:ext cx="12183476" cy="4999464"/>
          </a:xfrm>
          <a:prstGeom prst="rect">
            <a:avLst/>
          </a:prstGeom>
        </p:spPr>
      </p:pic>
      <p:sp>
        <p:nvSpPr>
          <p:cNvPr id="4" name="Title 3">
            <a:extLst>
              <a:ext uri="{FF2B5EF4-FFF2-40B4-BE49-F238E27FC236}">
                <a16:creationId xmlns:a16="http://schemas.microsoft.com/office/drawing/2014/main" id="{86D321A2-65AC-4C18-CA75-0FB5084CA306}"/>
              </a:ext>
            </a:extLst>
          </p:cNvPr>
          <p:cNvSpPr>
            <a:spLocks noGrp="1"/>
          </p:cNvSpPr>
          <p:nvPr>
            <p:ph type="ctrTitle"/>
          </p:nvPr>
        </p:nvSpPr>
        <p:spPr>
          <a:xfrm>
            <a:off x="1163443" y="860"/>
            <a:ext cx="9865116" cy="786384"/>
          </a:xfrm>
        </p:spPr>
        <p:txBody>
          <a:bodyPr>
            <a:normAutofit fontScale="90000"/>
          </a:bodyPr>
          <a:lstStyle/>
          <a:p>
            <a:pPr algn="ctr"/>
            <a:r>
              <a:rPr lang="en-US" b="1">
                <a:solidFill>
                  <a:schemeClr val="tx1"/>
                </a:solidFill>
                <a:highlight>
                  <a:srgbClr val="FFFF00"/>
                </a:highlight>
                <a:latin typeface="Biome"/>
                <a:cs typeface="Biome"/>
              </a:rPr>
              <a:t>AMAZON 150 MW Utility – Scale Solar Farm</a:t>
            </a:r>
            <a:r>
              <a:rPr lang="en-US" b="1">
                <a:solidFill>
                  <a:schemeClr val="accent4">
                    <a:lumMod val="49000"/>
                  </a:schemeClr>
                </a:solidFill>
                <a:latin typeface="Biome"/>
                <a:cs typeface="Biome"/>
              </a:rPr>
              <a:t> </a:t>
            </a:r>
            <a:endParaRPr lang="en-US">
              <a:solidFill>
                <a:schemeClr val="accent4">
                  <a:lumMod val="49000"/>
                </a:schemeClr>
              </a:solidFill>
            </a:endParaRPr>
          </a:p>
        </p:txBody>
      </p:sp>
      <p:sp>
        <p:nvSpPr>
          <p:cNvPr id="5" name="Subtitle 4">
            <a:extLst>
              <a:ext uri="{FF2B5EF4-FFF2-40B4-BE49-F238E27FC236}">
                <a16:creationId xmlns:a16="http://schemas.microsoft.com/office/drawing/2014/main" id="{02FA3257-663D-61CE-A5D5-22B53DB71488}"/>
              </a:ext>
            </a:extLst>
          </p:cNvPr>
          <p:cNvSpPr>
            <a:spLocks noGrp="1"/>
          </p:cNvSpPr>
          <p:nvPr>
            <p:ph type="subTitle" idx="1"/>
          </p:nvPr>
        </p:nvSpPr>
        <p:spPr>
          <a:xfrm>
            <a:off x="122661" y="5237114"/>
            <a:ext cx="8127384" cy="1465396"/>
          </a:xfrm>
        </p:spPr>
        <p:txBody>
          <a:bodyPr vert="horz" lIns="91440" tIns="45720" rIns="91440" bIns="45720" rtlCol="0" anchor="t">
            <a:noAutofit/>
          </a:bodyPr>
          <a:lstStyle/>
          <a:p>
            <a:pPr marL="285750" indent="-285750">
              <a:lnSpc>
                <a:spcPct val="100000"/>
              </a:lnSpc>
              <a:buChar char="•"/>
            </a:pPr>
            <a:r>
              <a:rPr lang="en-US" sz="1400" b="1">
                <a:solidFill>
                  <a:srgbClr val="000000"/>
                </a:solidFill>
                <a:latin typeface="Biome"/>
                <a:cs typeface="Biome"/>
              </a:rPr>
              <a:t>Project Manager:</a:t>
            </a:r>
            <a:r>
              <a:rPr lang="en-US" sz="1400">
                <a:solidFill>
                  <a:srgbClr val="000000"/>
                </a:solidFill>
                <a:latin typeface="Biome"/>
                <a:cs typeface="Biome"/>
              </a:rPr>
              <a:t> Daniela Gutierrez, Thanh Tung Le, Worrel Lee, Namira Rupani</a:t>
            </a:r>
            <a:endParaRPr lang="en-US" sz="1400">
              <a:latin typeface="Biome"/>
              <a:cs typeface="Biome"/>
            </a:endParaRPr>
          </a:p>
          <a:p>
            <a:pPr marL="285750" indent="-285750">
              <a:lnSpc>
                <a:spcPct val="100000"/>
              </a:lnSpc>
              <a:buChar char="•"/>
            </a:pPr>
            <a:r>
              <a:rPr lang="en-US" sz="1400" b="1">
                <a:solidFill>
                  <a:srgbClr val="000000"/>
                </a:solidFill>
                <a:latin typeface="Biome"/>
                <a:cs typeface="Biome"/>
              </a:rPr>
              <a:t>Project Sponsor:</a:t>
            </a:r>
            <a:r>
              <a:rPr lang="en-US" sz="1400">
                <a:solidFill>
                  <a:srgbClr val="000000"/>
                </a:solidFill>
                <a:latin typeface="Biome"/>
                <a:cs typeface="Biome"/>
              </a:rPr>
              <a:t> Amazon Web Services (AWS) </a:t>
            </a:r>
          </a:p>
          <a:p>
            <a:pPr marL="285750" indent="-285750">
              <a:lnSpc>
                <a:spcPct val="100000"/>
              </a:lnSpc>
              <a:buChar char="•"/>
            </a:pPr>
            <a:r>
              <a:rPr lang="en-US" sz="1400" b="1">
                <a:solidFill>
                  <a:srgbClr val="000000"/>
                </a:solidFill>
                <a:latin typeface="Biome"/>
                <a:cs typeface="Biome"/>
              </a:rPr>
              <a:t>Date:</a:t>
            </a:r>
            <a:r>
              <a:rPr lang="en-US" sz="1400">
                <a:solidFill>
                  <a:srgbClr val="000000"/>
                </a:solidFill>
                <a:latin typeface="Biome"/>
                <a:cs typeface="Biome"/>
              </a:rPr>
              <a:t> November 02, 2026 </a:t>
            </a:r>
          </a:p>
          <a:p>
            <a:pPr marL="285750" indent="-285750">
              <a:lnSpc>
                <a:spcPct val="100000"/>
              </a:lnSpc>
              <a:buChar char="•"/>
            </a:pPr>
            <a:r>
              <a:rPr lang="en-US" sz="1400" b="1">
                <a:solidFill>
                  <a:srgbClr val="000000"/>
                </a:solidFill>
                <a:latin typeface="Biome"/>
                <a:cs typeface="Biome"/>
              </a:rPr>
              <a:t>Location: Northern Virginia</a:t>
            </a:r>
          </a:p>
          <a:p>
            <a:endParaRPr lang="en-US" sz="1400">
              <a:solidFill>
                <a:srgbClr val="000000"/>
              </a:solidFill>
              <a:highlight>
                <a:srgbClr val="FFFFFF"/>
              </a:highlight>
              <a:latin typeface="Aptos"/>
            </a:endParaRPr>
          </a:p>
        </p:txBody>
      </p:sp>
      <p:pic>
        <p:nvPicPr>
          <p:cNvPr id="2" name="Picture 1" descr="AWS Announces Four New Capabilities That Make It Easier to Build IoT ...">
            <a:extLst>
              <a:ext uri="{FF2B5EF4-FFF2-40B4-BE49-F238E27FC236}">
                <a16:creationId xmlns:a16="http://schemas.microsoft.com/office/drawing/2014/main" id="{CB986207-4196-A01A-C071-4D5290D6E18A}"/>
              </a:ext>
            </a:extLst>
          </p:cNvPr>
          <p:cNvPicPr>
            <a:picLocks noChangeAspect="1"/>
          </p:cNvPicPr>
          <p:nvPr/>
        </p:nvPicPr>
        <p:blipFill>
          <a:blip r:embed="rId5"/>
          <a:stretch>
            <a:fillRect/>
          </a:stretch>
        </p:blipFill>
        <p:spPr>
          <a:xfrm>
            <a:off x="9505221" y="5413945"/>
            <a:ext cx="1886003" cy="1106420"/>
          </a:xfrm>
          <a:prstGeom prst="rect">
            <a:avLst/>
          </a:prstGeom>
        </p:spPr>
      </p:pic>
    </p:spTree>
    <p:extLst>
      <p:ext uri="{BB962C8B-B14F-4D97-AF65-F5344CB8AC3E}">
        <p14:creationId xmlns:p14="http://schemas.microsoft.com/office/powerpoint/2010/main" val="306996553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3DF8B72F-76F8-4870-846E-98DF11052EC6}"/>
              </a:ext>
            </a:extLst>
          </p:cNvPr>
          <p:cNvSpPr>
            <a:spLocks noGrp="1"/>
          </p:cNvSpPr>
          <p:nvPr>
            <p:ph type="dt" sz="half" idx="10"/>
          </p:nvPr>
        </p:nvSpPr>
        <p:spPr>
          <a:xfrm>
            <a:off x="457199" y="6397586"/>
            <a:ext cx="4043855" cy="365125"/>
          </a:xfrm>
        </p:spPr>
        <p:txBody>
          <a:bodyPr anchor="ctr">
            <a:normAutofit/>
          </a:bodyPr>
          <a:lstStyle/>
          <a:p>
            <a:pPr>
              <a:spcAft>
                <a:spcPts val="600"/>
              </a:spcAft>
            </a:pPr>
            <a:fld id="{0A2676FB-3D7D-40C8-BF49-5420830A3578}" type="datetime1">
              <a:rPr lang="en-US" smtClean="0"/>
              <a:pPr>
                <a:spcAft>
                  <a:spcPts val="600"/>
                </a:spcAft>
              </a:pPr>
              <a:t>9/18/2026</a:t>
            </a:fld>
            <a:endParaRPr lang="en-US"/>
          </a:p>
        </p:txBody>
      </p:sp>
      <p:sp>
        <p:nvSpPr>
          <p:cNvPr id="13" name="Title 1">
            <a:extLst>
              <a:ext uri="{FF2B5EF4-FFF2-40B4-BE49-F238E27FC236}">
                <a16:creationId xmlns:a16="http://schemas.microsoft.com/office/drawing/2014/main" id="{2EF0F178-D58A-AE53-CD16-A2338FBBE435}"/>
              </a:ext>
            </a:extLst>
          </p:cNvPr>
          <p:cNvSpPr>
            <a:spLocks noGrp="1"/>
          </p:cNvSpPr>
          <p:nvPr>
            <p:ph type="title"/>
          </p:nvPr>
        </p:nvSpPr>
        <p:spPr>
          <a:xfrm>
            <a:off x="136533" y="501956"/>
            <a:ext cx="3810033" cy="557080"/>
          </a:xfrm>
        </p:spPr>
        <p:txBody>
          <a:bodyPr>
            <a:noAutofit/>
          </a:bodyPr>
          <a:lstStyle/>
          <a:p>
            <a:pPr algn="ctr"/>
            <a:br>
              <a:rPr lang="en-US" sz="3600" b="1">
                <a:solidFill>
                  <a:schemeClr val="accent4">
                    <a:lumMod val="49000"/>
                  </a:schemeClr>
                </a:solidFill>
                <a:latin typeface="Biome"/>
                <a:cs typeface="Biome"/>
              </a:rPr>
            </a:br>
            <a:r>
              <a:rPr lang="en-US" sz="3600" b="1">
                <a:solidFill>
                  <a:schemeClr val="accent4">
                    <a:lumMod val="49000"/>
                  </a:schemeClr>
                </a:solidFill>
                <a:latin typeface="Biome"/>
                <a:cs typeface="Biome"/>
              </a:rPr>
              <a:t> </a:t>
            </a:r>
            <a:endParaRPr lang="en-US">
              <a:solidFill>
                <a:schemeClr val="accent4">
                  <a:lumMod val="49000"/>
                </a:schemeClr>
              </a:solidFill>
            </a:endParaRPr>
          </a:p>
        </p:txBody>
      </p:sp>
      <p:grpSp>
        <p:nvGrpSpPr>
          <p:cNvPr id="2" name="Group 1">
            <a:extLst>
              <a:ext uri="{FF2B5EF4-FFF2-40B4-BE49-F238E27FC236}">
                <a16:creationId xmlns:a16="http://schemas.microsoft.com/office/drawing/2014/main" id="{5A55E949-16BD-642E-8B8E-8699BA1FAC08}"/>
              </a:ext>
            </a:extLst>
          </p:cNvPr>
          <p:cNvGrpSpPr/>
          <p:nvPr/>
        </p:nvGrpSpPr>
        <p:grpSpPr>
          <a:xfrm>
            <a:off x="645766" y="1614213"/>
            <a:ext cx="10666949" cy="4850451"/>
            <a:chOff x="-19048" y="914400"/>
            <a:chExt cx="12080950" cy="5847823"/>
          </a:xfrm>
        </p:grpSpPr>
        <p:sp>
          <p:nvSpPr>
            <p:cNvPr id="35" name="Rectangle 34">
              <a:extLst>
                <a:ext uri="{FF2B5EF4-FFF2-40B4-BE49-F238E27FC236}">
                  <a16:creationId xmlns:a16="http://schemas.microsoft.com/office/drawing/2014/main" id="{08251164-D204-347B-A25F-8B364A705A33}"/>
                </a:ext>
              </a:extLst>
            </p:cNvPr>
            <p:cNvSpPr/>
            <p:nvPr/>
          </p:nvSpPr>
          <p:spPr>
            <a:xfrm>
              <a:off x="8012522" y="960863"/>
              <a:ext cx="3911600" cy="5801360"/>
            </a:xfrm>
            <a:prstGeom prst="rect">
              <a:avLst/>
            </a:prstGeom>
            <a:solidFill>
              <a:schemeClr val="accent6">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3A2FB2FF-0123-039B-8100-DAA40002862E}"/>
                </a:ext>
              </a:extLst>
            </p:cNvPr>
            <p:cNvSpPr/>
            <p:nvPr/>
          </p:nvSpPr>
          <p:spPr>
            <a:xfrm>
              <a:off x="-18854" y="914400"/>
              <a:ext cx="4099953" cy="5823719"/>
            </a:xfrm>
            <a:prstGeom prst="rect">
              <a:avLst/>
            </a:prstGeom>
            <a:solidFill>
              <a:schemeClr val="accent6">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2765A67B-9C24-6B42-D269-45DF6C56A639}"/>
                </a:ext>
              </a:extLst>
            </p:cNvPr>
            <p:cNvSpPr txBox="1">
              <a:spLocks/>
            </p:cNvSpPr>
            <p:nvPr/>
          </p:nvSpPr>
          <p:spPr>
            <a:xfrm>
              <a:off x="-19048" y="2905569"/>
              <a:ext cx="4043554" cy="603866"/>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500">
                  <a:latin typeface="Aptos"/>
                  <a:ea typeface="+mn-lt"/>
                  <a:cs typeface="+mn-lt"/>
                </a:rPr>
                <a:t>AWS operates one of the </a:t>
              </a:r>
              <a:r>
                <a:rPr lang="en-US" sz="1500" b="1">
                  <a:solidFill>
                    <a:schemeClr val="accent2"/>
                  </a:solidFill>
                  <a:latin typeface="Aptos"/>
                  <a:ea typeface="+mn-lt"/>
                  <a:cs typeface="+mn-lt"/>
                </a:rPr>
                <a:t>world’s largest data center networks</a:t>
              </a:r>
              <a:r>
                <a:rPr lang="en-US" sz="1500">
                  <a:latin typeface="Aptos"/>
                  <a:ea typeface="+mn-lt"/>
                  <a:cs typeface="+mn-lt"/>
                </a:rPr>
                <a:t>, </a:t>
              </a:r>
              <a:endParaRPr lang="en-US" sz="1500">
                <a:latin typeface="Aptos"/>
              </a:endParaRPr>
            </a:p>
          </p:txBody>
        </p:sp>
        <p:sp>
          <p:nvSpPr>
            <p:cNvPr id="18" name="Content Placeholder 2">
              <a:extLst>
                <a:ext uri="{FF2B5EF4-FFF2-40B4-BE49-F238E27FC236}">
                  <a16:creationId xmlns:a16="http://schemas.microsoft.com/office/drawing/2014/main" id="{A1ECB903-CBD1-AF0E-5457-0F820D89A840}"/>
                </a:ext>
              </a:extLst>
            </p:cNvPr>
            <p:cNvSpPr txBox="1">
              <a:spLocks/>
            </p:cNvSpPr>
            <p:nvPr/>
          </p:nvSpPr>
          <p:spPr>
            <a:xfrm>
              <a:off x="4206730" y="2905567"/>
              <a:ext cx="3624176" cy="522168"/>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500">
                  <a:latin typeface="Aptos"/>
                </a:rPr>
                <a:t>Continuous, reliable power </a:t>
              </a:r>
              <a:r>
                <a:rPr lang="en-US" sz="1500" b="1">
                  <a:solidFill>
                    <a:schemeClr val="accent2"/>
                  </a:solidFill>
                  <a:latin typeface="Aptos"/>
                </a:rPr>
                <a:t>to support global cloud service</a:t>
              </a:r>
              <a:r>
                <a:rPr lang="en-US" sz="1600" b="1">
                  <a:solidFill>
                    <a:schemeClr val="accent2"/>
                  </a:solidFill>
                  <a:latin typeface="Aptos"/>
                </a:rPr>
                <a:t>s</a:t>
              </a:r>
              <a:endParaRPr lang="en-US" b="1">
                <a:solidFill>
                  <a:schemeClr val="accent2"/>
                </a:solidFill>
              </a:endParaRPr>
            </a:p>
            <a:p>
              <a:pPr>
                <a:buFont typeface="Arial"/>
                <a:buChar char="•"/>
              </a:pPr>
              <a:endParaRPr lang="en-US" sz="1600">
                <a:latin typeface="Aptos"/>
              </a:endParaRPr>
            </a:p>
            <a:p>
              <a:pPr marL="0" indent="0">
                <a:buNone/>
              </a:pPr>
              <a:endParaRPr lang="en-US" sz="1600">
                <a:latin typeface="Aptos"/>
              </a:endParaRPr>
            </a:p>
          </p:txBody>
        </p:sp>
        <p:sp>
          <p:nvSpPr>
            <p:cNvPr id="19" name="TextBox 18">
              <a:extLst>
                <a:ext uri="{FF2B5EF4-FFF2-40B4-BE49-F238E27FC236}">
                  <a16:creationId xmlns:a16="http://schemas.microsoft.com/office/drawing/2014/main" id="{9582071D-A7CA-5F38-2D36-040C10533868}"/>
                </a:ext>
              </a:extLst>
            </p:cNvPr>
            <p:cNvSpPr txBox="1"/>
            <p:nvPr/>
          </p:nvSpPr>
          <p:spPr>
            <a:xfrm>
              <a:off x="8261196" y="2611245"/>
              <a:ext cx="3410412"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a:solidFill>
                    <a:srgbClr val="1D1D1D"/>
                  </a:solidFill>
                  <a:latin typeface="Aptos"/>
                  <a:ea typeface="Arial"/>
                  <a:cs typeface="Arial"/>
                </a:rPr>
                <a:t>Targets</a:t>
              </a:r>
              <a:r>
                <a:rPr lang="en-US" sz="1500" b="1" baseline="0">
                  <a:solidFill>
                    <a:srgbClr val="1D1D1D"/>
                  </a:solidFill>
                  <a:latin typeface="Aptos"/>
                  <a:ea typeface="Arial"/>
                  <a:cs typeface="Arial"/>
                </a:rPr>
                <a:t> </a:t>
              </a:r>
              <a:r>
                <a:rPr lang="en-US" sz="1500" b="1" baseline="0">
                  <a:solidFill>
                    <a:schemeClr val="accent2"/>
                  </a:solidFill>
                  <a:latin typeface="Aptos"/>
                  <a:ea typeface="Arial"/>
                  <a:cs typeface="Arial"/>
                </a:rPr>
                <a:t>net-zero carbon emissions</a:t>
              </a:r>
              <a:r>
                <a:rPr lang="en-US" sz="1500" b="1" baseline="0">
                  <a:solidFill>
                    <a:srgbClr val="1D1D1D"/>
                  </a:solidFill>
                  <a:latin typeface="Aptos"/>
                  <a:ea typeface="Arial"/>
                  <a:cs typeface="Arial"/>
                </a:rPr>
                <a:t> by 2040</a:t>
              </a:r>
              <a:endParaRPr lang="en-US" sz="1500" b="1"/>
            </a:p>
          </p:txBody>
        </p:sp>
        <p:sp>
          <p:nvSpPr>
            <p:cNvPr id="20" name="TextBox 19">
              <a:extLst>
                <a:ext uri="{FF2B5EF4-FFF2-40B4-BE49-F238E27FC236}">
                  <a16:creationId xmlns:a16="http://schemas.microsoft.com/office/drawing/2014/main" id="{4EF60EB3-6619-3EA1-563E-3956F9571991}"/>
                </a:ext>
              </a:extLst>
            </p:cNvPr>
            <p:cNvSpPr txBox="1"/>
            <p:nvPr/>
          </p:nvSpPr>
          <p:spPr>
            <a:xfrm>
              <a:off x="195147" y="6003074"/>
              <a:ext cx="370778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aseline="0">
                  <a:solidFill>
                    <a:srgbClr val="1D1D1D"/>
                  </a:solidFill>
                  <a:latin typeface="Aptos"/>
                  <a:ea typeface="Arial"/>
                  <a:cs typeface="Arial"/>
                </a:rPr>
                <a:t>Rapid data center</a:t>
              </a:r>
              <a:r>
                <a:rPr lang="en-US" sz="1500" b="1" baseline="0">
                  <a:solidFill>
                    <a:srgbClr val="1D1D1D"/>
                  </a:solidFill>
                  <a:latin typeface="Aptos"/>
                  <a:ea typeface="Arial"/>
                  <a:cs typeface="Arial"/>
                </a:rPr>
                <a:t> </a:t>
              </a:r>
              <a:r>
                <a:rPr lang="en-US" sz="1500" b="1" baseline="0">
                  <a:solidFill>
                    <a:schemeClr val="accent2"/>
                  </a:solidFill>
                  <a:latin typeface="Aptos"/>
                  <a:ea typeface="Arial"/>
                  <a:cs typeface="Arial"/>
                </a:rPr>
                <a:t>growth</a:t>
              </a:r>
              <a:r>
                <a:rPr lang="en-US" sz="1500" baseline="0">
                  <a:solidFill>
                    <a:srgbClr val="1D1D1D"/>
                  </a:solidFill>
                  <a:latin typeface="Aptos"/>
                  <a:ea typeface="Arial"/>
                  <a:cs typeface="Arial"/>
                </a:rPr>
                <a:t> has </a:t>
              </a:r>
              <a:r>
                <a:rPr lang="en-US" sz="1500" b="1" baseline="0">
                  <a:solidFill>
                    <a:schemeClr val="accent2"/>
                  </a:solidFill>
                  <a:latin typeface="Aptos"/>
                  <a:ea typeface="Arial"/>
                  <a:cs typeface="Arial"/>
                </a:rPr>
                <a:t>outpaced</a:t>
              </a:r>
              <a:r>
                <a:rPr lang="en-US" sz="1500" baseline="0">
                  <a:solidFill>
                    <a:srgbClr val="1D1D1D"/>
                  </a:solidFill>
                  <a:latin typeface="Aptos"/>
                  <a:ea typeface="Arial"/>
                  <a:cs typeface="Arial"/>
                </a:rPr>
                <a:t> renewable energy capacity</a:t>
              </a:r>
              <a:endParaRPr lang="en-US" sz="1500"/>
            </a:p>
          </p:txBody>
        </p:sp>
        <p:sp>
          <p:nvSpPr>
            <p:cNvPr id="21" name="TextBox 20">
              <a:extLst>
                <a:ext uri="{FF2B5EF4-FFF2-40B4-BE49-F238E27FC236}">
                  <a16:creationId xmlns:a16="http://schemas.microsoft.com/office/drawing/2014/main" id="{F6D1F793-30D9-961C-4CE4-866D9EC1987B}"/>
                </a:ext>
              </a:extLst>
            </p:cNvPr>
            <p:cNvSpPr txBox="1"/>
            <p:nvPr/>
          </p:nvSpPr>
          <p:spPr>
            <a:xfrm>
              <a:off x="4330390" y="5872975"/>
              <a:ext cx="350334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aseline="0">
                  <a:solidFill>
                    <a:srgbClr val="1D1D1D"/>
                  </a:solidFill>
                  <a:latin typeface="Aptos"/>
                  <a:ea typeface="Arial"/>
                  <a:cs typeface="Arial"/>
                </a:rPr>
                <a:t>The </a:t>
              </a:r>
              <a:r>
                <a:rPr lang="en-US" sz="1600" b="1" baseline="0">
                  <a:solidFill>
                    <a:schemeClr val="accent2"/>
                  </a:solidFill>
                  <a:latin typeface="Aptos"/>
                  <a:ea typeface="Arial"/>
                  <a:cs typeface="Arial"/>
                </a:rPr>
                <a:t>150 MW solar farm </a:t>
              </a:r>
              <a:r>
                <a:rPr lang="en-US" sz="1600" baseline="0">
                  <a:solidFill>
                    <a:srgbClr val="1D1D1D"/>
                  </a:solidFill>
                  <a:latin typeface="Aptos"/>
                  <a:ea typeface="Arial"/>
                  <a:cs typeface="Arial"/>
                </a:rPr>
                <a:t>helps close the renewable energy gap for AWS operations</a:t>
              </a:r>
              <a:endParaRPr lang="en-US"/>
            </a:p>
          </p:txBody>
        </p:sp>
        <p:sp>
          <p:nvSpPr>
            <p:cNvPr id="22" name="TextBox 21">
              <a:extLst>
                <a:ext uri="{FF2B5EF4-FFF2-40B4-BE49-F238E27FC236}">
                  <a16:creationId xmlns:a16="http://schemas.microsoft.com/office/drawing/2014/main" id="{B6F358B4-BACD-F11F-291C-EAE0AB9478F4}"/>
                </a:ext>
              </a:extLst>
            </p:cNvPr>
            <p:cNvSpPr txBox="1"/>
            <p:nvPr/>
          </p:nvSpPr>
          <p:spPr>
            <a:xfrm>
              <a:off x="8158976" y="5715000"/>
              <a:ext cx="3902926" cy="8495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baseline="0">
                  <a:solidFill>
                    <a:schemeClr val="accent2"/>
                  </a:solidFill>
                  <a:latin typeface="Aptos"/>
                  <a:ea typeface="Arial"/>
                  <a:cs typeface="Arial"/>
                </a:rPr>
                <a:t>Spotsylvania County</a:t>
              </a:r>
              <a:r>
                <a:rPr lang="en-US" sz="1600" baseline="0">
                  <a:solidFill>
                    <a:schemeClr val="accent2"/>
                  </a:solidFill>
                  <a:latin typeface="Aptos"/>
                  <a:ea typeface="Arial"/>
                  <a:cs typeface="Arial"/>
                </a:rPr>
                <a:t> </a:t>
              </a:r>
              <a:r>
                <a:rPr lang="en-US" sz="1600" baseline="0">
                  <a:solidFill>
                    <a:srgbClr val="1D1D1D"/>
                  </a:solidFill>
                  <a:latin typeface="Aptos"/>
                  <a:ea typeface="Arial"/>
                  <a:cs typeface="Arial"/>
                </a:rPr>
                <a:t>offers strong solar resources</a:t>
              </a:r>
              <a:r>
                <a:rPr lang="en-US" sz="1600">
                  <a:solidFill>
                    <a:srgbClr val="1D1D1D"/>
                  </a:solidFill>
                  <a:latin typeface="Aptos"/>
                  <a:ea typeface="Arial"/>
                  <a:cs typeface="Arial"/>
                </a:rPr>
                <a:t>,</a:t>
              </a:r>
              <a:r>
                <a:rPr lang="en-US" sz="1600" baseline="0">
                  <a:solidFill>
                    <a:srgbClr val="1D1D1D"/>
                  </a:solidFill>
                  <a:latin typeface="Aptos"/>
                  <a:ea typeface="Arial"/>
                  <a:cs typeface="Arial"/>
                </a:rPr>
                <a:t> low environmental risk, and supportive </a:t>
              </a:r>
              <a:r>
                <a:rPr lang="en-US" sz="1600">
                  <a:solidFill>
                    <a:srgbClr val="1D1D1D"/>
                  </a:solidFill>
                  <a:latin typeface="Aptos"/>
                  <a:ea typeface="Arial"/>
                  <a:cs typeface="Arial"/>
                </a:rPr>
                <a:t>policies</a:t>
              </a:r>
              <a:endParaRPr lang="en-US" err="1"/>
            </a:p>
          </p:txBody>
        </p:sp>
        <p:pic>
          <p:nvPicPr>
            <p:cNvPr id="24" name="Picture 23" descr="Strategic Location | Spotsylvania County, VA">
              <a:extLst>
                <a:ext uri="{FF2B5EF4-FFF2-40B4-BE49-F238E27FC236}">
                  <a16:creationId xmlns:a16="http://schemas.microsoft.com/office/drawing/2014/main" id="{A9628D0D-9CA9-CB94-33CC-5EA3D6311A87}"/>
                </a:ext>
              </a:extLst>
            </p:cNvPr>
            <p:cNvPicPr>
              <a:picLocks noChangeAspect="1"/>
            </p:cNvPicPr>
            <p:nvPr/>
          </p:nvPicPr>
          <p:blipFill>
            <a:blip r:embed="rId4"/>
            <a:stretch>
              <a:fillRect/>
            </a:stretch>
          </p:blipFill>
          <p:spPr>
            <a:xfrm>
              <a:off x="8394196" y="3641802"/>
              <a:ext cx="3135120" cy="1916155"/>
            </a:xfrm>
            <a:prstGeom prst="rect">
              <a:avLst/>
            </a:prstGeom>
          </p:spPr>
        </p:pic>
        <p:pic>
          <p:nvPicPr>
            <p:cNvPr id="26" name="Picture 25" descr="Amazon Web Services (AWS) Partner | Sepia Solutions">
              <a:extLst>
                <a:ext uri="{FF2B5EF4-FFF2-40B4-BE49-F238E27FC236}">
                  <a16:creationId xmlns:a16="http://schemas.microsoft.com/office/drawing/2014/main" id="{69BF26F5-25BD-2361-3455-A8746A011754}"/>
                </a:ext>
              </a:extLst>
            </p:cNvPr>
            <p:cNvPicPr>
              <a:picLocks noChangeAspect="1"/>
            </p:cNvPicPr>
            <p:nvPr/>
          </p:nvPicPr>
          <p:blipFill>
            <a:blip r:embed="rId5"/>
            <a:srcRect t="17379" b="15211"/>
            <a:stretch>
              <a:fillRect/>
            </a:stretch>
          </p:blipFill>
          <p:spPr>
            <a:xfrm>
              <a:off x="4335036" y="957348"/>
              <a:ext cx="3521927" cy="1789211"/>
            </a:xfrm>
            <a:prstGeom prst="rect">
              <a:avLst/>
            </a:prstGeom>
          </p:spPr>
        </p:pic>
        <p:pic>
          <p:nvPicPr>
            <p:cNvPr id="28" name="Picture 27" descr="Solar panel | Definition &amp; Facts | Britannica">
              <a:extLst>
                <a:ext uri="{FF2B5EF4-FFF2-40B4-BE49-F238E27FC236}">
                  <a16:creationId xmlns:a16="http://schemas.microsoft.com/office/drawing/2014/main" id="{12759EC0-635E-E304-57C2-C36D60462593}"/>
                </a:ext>
              </a:extLst>
            </p:cNvPr>
            <p:cNvPicPr>
              <a:picLocks noChangeAspect="1"/>
            </p:cNvPicPr>
            <p:nvPr/>
          </p:nvPicPr>
          <p:blipFill>
            <a:blip r:embed="rId6"/>
            <a:stretch>
              <a:fillRect/>
            </a:stretch>
          </p:blipFill>
          <p:spPr>
            <a:xfrm>
              <a:off x="4572001" y="3930804"/>
              <a:ext cx="3048000" cy="1784196"/>
            </a:xfrm>
            <a:prstGeom prst="rect">
              <a:avLst/>
            </a:prstGeom>
          </p:spPr>
        </p:pic>
        <p:pic>
          <p:nvPicPr>
            <p:cNvPr id="30" name="Picture 29" descr="Amazon's Climate Pledge Friendly Badge: Everything you Need to Know (2023)">
              <a:extLst>
                <a:ext uri="{FF2B5EF4-FFF2-40B4-BE49-F238E27FC236}">
                  <a16:creationId xmlns:a16="http://schemas.microsoft.com/office/drawing/2014/main" id="{249B41BB-5292-9B48-4B1F-D0D5145028FB}"/>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Lst>
            </a:blip>
            <a:srcRect l="11574" t="28615" r="13426" b="24324"/>
            <a:stretch>
              <a:fillRect/>
            </a:stretch>
          </p:blipFill>
          <p:spPr>
            <a:xfrm>
              <a:off x="8079870" y="1194580"/>
              <a:ext cx="3780021" cy="1458612"/>
            </a:xfrm>
            <a:prstGeom prst="rect">
              <a:avLst/>
            </a:prstGeom>
          </p:spPr>
        </p:pic>
        <p:pic>
          <p:nvPicPr>
            <p:cNvPr id="32" name="Picture 31" descr="What it's like inside an AWS data center">
              <a:extLst>
                <a:ext uri="{FF2B5EF4-FFF2-40B4-BE49-F238E27FC236}">
                  <a16:creationId xmlns:a16="http://schemas.microsoft.com/office/drawing/2014/main" id="{9EEE68C1-9318-3290-2660-9938C9AA6CF1}"/>
                </a:ext>
              </a:extLst>
            </p:cNvPr>
            <p:cNvPicPr>
              <a:picLocks noChangeAspect="1"/>
            </p:cNvPicPr>
            <p:nvPr/>
          </p:nvPicPr>
          <p:blipFill>
            <a:blip r:embed="rId9"/>
            <a:srcRect l="12058" t="413" r="1247" b="413"/>
            <a:stretch>
              <a:fillRect/>
            </a:stretch>
          </p:blipFill>
          <p:spPr>
            <a:xfrm>
              <a:off x="566853" y="1026262"/>
              <a:ext cx="3109297" cy="1801633"/>
            </a:xfrm>
            <a:prstGeom prst="rect">
              <a:avLst/>
            </a:prstGeom>
          </p:spPr>
        </p:pic>
        <p:pic>
          <p:nvPicPr>
            <p:cNvPr id="33" name="Picture 32" descr="Decline and growth market chart isolated on white background, vector ...">
              <a:extLst>
                <a:ext uri="{FF2B5EF4-FFF2-40B4-BE49-F238E27FC236}">
                  <a16:creationId xmlns:a16="http://schemas.microsoft.com/office/drawing/2014/main" id="{1693CF65-C3F6-C445-5068-89C6874EAB0C}"/>
                </a:ext>
              </a:extLst>
            </p:cNvPr>
            <p:cNvPicPr>
              <a:picLocks noChangeAspect="1"/>
            </p:cNvPicPr>
            <p:nvPr/>
          </p:nvPicPr>
          <p:blipFill>
            <a:blip r:embed="rId10"/>
            <a:stretch>
              <a:fillRect/>
            </a:stretch>
          </p:blipFill>
          <p:spPr>
            <a:xfrm>
              <a:off x="526644" y="3772829"/>
              <a:ext cx="3054080" cy="2100147"/>
            </a:xfrm>
            <a:prstGeom prst="rect">
              <a:avLst/>
            </a:prstGeom>
          </p:spPr>
        </p:pic>
      </p:grpSp>
      <p:sp>
        <p:nvSpPr>
          <p:cNvPr id="4" name="Content Placeholder 3">
            <a:extLst>
              <a:ext uri="{FF2B5EF4-FFF2-40B4-BE49-F238E27FC236}">
                <a16:creationId xmlns:a16="http://schemas.microsoft.com/office/drawing/2014/main" id="{3A416088-16E9-7E29-6894-F7669A4C2FDC}"/>
              </a:ext>
            </a:extLst>
          </p:cNvPr>
          <p:cNvSpPr txBox="1">
            <a:spLocks/>
          </p:cNvSpPr>
          <p:nvPr/>
        </p:nvSpPr>
        <p:spPr>
          <a:xfrm>
            <a:off x="307344" y="335279"/>
            <a:ext cx="11191638" cy="1419690"/>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600" b="1">
              <a:solidFill>
                <a:schemeClr val="accent2"/>
              </a:solidFill>
              <a:latin typeface="Aptos"/>
              <a:cs typeface="Times New Roman"/>
            </a:endParaRPr>
          </a:p>
          <a:p>
            <a:pPr marL="285750" indent="-285750"/>
            <a:r>
              <a:rPr lang="en-US" sz="1600">
                <a:solidFill>
                  <a:srgbClr val="000000"/>
                </a:solidFill>
                <a:latin typeface="Aptos"/>
                <a:cs typeface="Times New Roman"/>
              </a:rPr>
              <a:t>Design and construct a </a:t>
            </a:r>
            <a:r>
              <a:rPr lang="en-US" sz="1600" b="1">
                <a:solidFill>
                  <a:srgbClr val="000000"/>
                </a:solidFill>
                <a:latin typeface="Aptos"/>
                <a:cs typeface="Times New Roman"/>
              </a:rPr>
              <a:t>150 MW utility-scale solar farm</a:t>
            </a:r>
            <a:r>
              <a:rPr lang="en-US" sz="1600">
                <a:solidFill>
                  <a:srgbClr val="000000"/>
                </a:solidFill>
                <a:latin typeface="Aptos"/>
                <a:cs typeface="Times New Roman"/>
              </a:rPr>
              <a:t> with battery storage and grid interconnection to support Amazon’s renewable energy needs.</a:t>
            </a:r>
          </a:p>
          <a:p>
            <a:pPr marL="0" indent="0">
              <a:buFont typeface="Arial" panose="020B0604020202020204" pitchFamily="34" charset="0"/>
              <a:buNone/>
            </a:pPr>
            <a:endParaRPr lang="en-US" sz="2000" b="1">
              <a:latin typeface="Times New Roman"/>
              <a:cs typeface="Times New Roman"/>
            </a:endParaRPr>
          </a:p>
          <a:p>
            <a:endParaRPr lang="en-US">
              <a:cs typeface="Times New Roman"/>
            </a:endParaRPr>
          </a:p>
          <a:p>
            <a:pPr marL="285750" indent="-285750"/>
            <a:endParaRPr lang="en-US"/>
          </a:p>
        </p:txBody>
      </p:sp>
      <p:sp>
        <p:nvSpPr>
          <p:cNvPr id="6" name="TextBox 5">
            <a:extLst>
              <a:ext uri="{FF2B5EF4-FFF2-40B4-BE49-F238E27FC236}">
                <a16:creationId xmlns:a16="http://schemas.microsoft.com/office/drawing/2014/main" id="{2CC9AE2B-8E1F-DC15-0235-8613504E6BBA}"/>
              </a:ext>
            </a:extLst>
          </p:cNvPr>
          <p:cNvSpPr txBox="1"/>
          <p:nvPr/>
        </p:nvSpPr>
        <p:spPr>
          <a:xfrm>
            <a:off x="450000" y="195000"/>
            <a:ext cx="11058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baseline="0">
                <a:solidFill>
                  <a:schemeClr val="accent4">
                    <a:lumMod val="49000"/>
                  </a:schemeClr>
                </a:solidFill>
                <a:latin typeface="Biome"/>
              </a:rPr>
              <a:t>AMAZON 150 MW Utility – Scale Solar Farm </a:t>
            </a:r>
            <a:r>
              <a:rPr sz="3200">
                <a:solidFill>
                  <a:schemeClr val="accent4">
                    <a:lumMod val="49000"/>
                  </a:schemeClr>
                </a:solidFill>
                <a:latin typeface="Biome"/>
                <a:ea typeface="Biome"/>
                <a:cs typeface="Biome"/>
              </a:rPr>
              <a:t>​</a:t>
            </a:r>
          </a:p>
          <a:p>
            <a:pPr algn="ctr"/>
            <a:endParaRPr lang="en-US">
              <a:solidFill>
                <a:srgbClr val="090909"/>
              </a:solidFill>
            </a:endParaRPr>
          </a:p>
        </p:txBody>
      </p:sp>
    </p:spTree>
    <p:extLst>
      <p:ext uri="{BB962C8B-B14F-4D97-AF65-F5344CB8AC3E}">
        <p14:creationId xmlns:p14="http://schemas.microsoft.com/office/powerpoint/2010/main" val="197186106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9EFBF56A-490C-3465-50CD-9DFAD1A4CA64}"/>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B324E9B2-EF51-DBF9-FEA1-4C047D070E78}"/>
              </a:ext>
            </a:extLst>
          </p:cNvPr>
          <p:cNvSpPr>
            <a:spLocks noGrp="1"/>
          </p:cNvSpPr>
          <p:nvPr>
            <p:ph type="dt" sz="half" idx="10"/>
          </p:nvPr>
        </p:nvSpPr>
        <p:spPr>
          <a:xfrm>
            <a:off x="457199" y="6397586"/>
            <a:ext cx="4043855" cy="365125"/>
          </a:xfrm>
        </p:spPr>
        <p:txBody>
          <a:bodyPr anchor="ctr">
            <a:normAutofit/>
          </a:bodyPr>
          <a:lstStyle/>
          <a:p>
            <a:pPr>
              <a:spcAft>
                <a:spcPts val="600"/>
              </a:spcAft>
            </a:pPr>
            <a:fld id="{0A2676FB-3D7D-40C8-BF49-5420830A3578}" type="datetime1">
              <a:rPr lang="en-US" smtClean="0"/>
              <a:pPr>
                <a:spcAft>
                  <a:spcPts val="600"/>
                </a:spcAft>
              </a:pPr>
              <a:t>9/18/2026</a:t>
            </a:fld>
            <a:endParaRPr lang="en-US"/>
          </a:p>
        </p:txBody>
      </p:sp>
      <p:graphicFrame>
        <p:nvGraphicFramePr>
          <p:cNvPr id="9" name="Table 8">
            <a:extLst>
              <a:ext uri="{FF2B5EF4-FFF2-40B4-BE49-F238E27FC236}">
                <a16:creationId xmlns:a16="http://schemas.microsoft.com/office/drawing/2014/main" id="{382851E2-C434-739F-B11F-47BBB5F08027}"/>
              </a:ext>
            </a:extLst>
          </p:cNvPr>
          <p:cNvGraphicFramePr>
            <a:graphicFrameLocks noGrp="1"/>
          </p:cNvGraphicFramePr>
          <p:nvPr>
            <p:extLst>
              <p:ext uri="{D42A27DB-BD31-4B8C-83A1-F6EECF244321}">
                <p14:modId xmlns:p14="http://schemas.microsoft.com/office/powerpoint/2010/main" val="4116881250"/>
              </p:ext>
            </p:extLst>
          </p:nvPr>
        </p:nvGraphicFramePr>
        <p:xfrm>
          <a:off x="269487" y="1308221"/>
          <a:ext cx="10390001" cy="4521284"/>
        </p:xfrm>
        <a:graphic>
          <a:graphicData uri="http://schemas.openxmlformats.org/drawingml/2006/table">
            <a:tbl>
              <a:tblPr firstRow="1" bandRow="1">
                <a:tableStyleId>{5C22544A-7EE6-4342-B048-85BDC9FD1C3A}</a:tableStyleId>
              </a:tblPr>
              <a:tblGrid>
                <a:gridCol w="2367279">
                  <a:extLst>
                    <a:ext uri="{9D8B030D-6E8A-4147-A177-3AD203B41FA5}">
                      <a16:colId xmlns:a16="http://schemas.microsoft.com/office/drawing/2014/main" val="4211481530"/>
                    </a:ext>
                  </a:extLst>
                </a:gridCol>
                <a:gridCol w="2327523">
                  <a:extLst>
                    <a:ext uri="{9D8B030D-6E8A-4147-A177-3AD203B41FA5}">
                      <a16:colId xmlns:a16="http://schemas.microsoft.com/office/drawing/2014/main" val="371032975"/>
                    </a:ext>
                  </a:extLst>
                </a:gridCol>
                <a:gridCol w="5695199">
                  <a:extLst>
                    <a:ext uri="{9D8B030D-6E8A-4147-A177-3AD203B41FA5}">
                      <a16:colId xmlns:a16="http://schemas.microsoft.com/office/drawing/2014/main" val="589384660"/>
                    </a:ext>
                  </a:extLst>
                </a:gridCol>
              </a:tblGrid>
              <a:tr h="464073">
                <a:tc>
                  <a:txBody>
                    <a:bodyPr/>
                    <a:lstStyle/>
                    <a:p>
                      <a:pPr algn="ctr" rtl="0" fontAlgn="base">
                        <a:lnSpc>
                          <a:spcPts val="1350"/>
                        </a:lnSpc>
                        <a:buNone/>
                      </a:pPr>
                      <a:r>
                        <a:rPr lang="en-US" sz="1600" b="1">
                          <a:solidFill>
                            <a:srgbClr val="FFFFFF"/>
                          </a:solidFill>
                          <a:effectLst/>
                          <a:latin typeface="Aptos"/>
                        </a:rPr>
                        <a:t>Milestone </a:t>
                      </a:r>
                      <a:endParaRPr lang="en-US" sz="2500" b="1">
                        <a:solidFill>
                          <a:srgbClr val="FFFFFF"/>
                        </a:solidFill>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2060"/>
                    </a:solidFill>
                  </a:tcPr>
                </a:tc>
                <a:tc>
                  <a:txBody>
                    <a:bodyPr/>
                    <a:lstStyle/>
                    <a:p>
                      <a:pPr algn="ctr" rtl="0" fontAlgn="base">
                        <a:lnSpc>
                          <a:spcPts val="1350"/>
                        </a:lnSpc>
                        <a:buNone/>
                      </a:pPr>
                      <a:r>
                        <a:rPr lang="en-US" sz="1600" b="1">
                          <a:solidFill>
                            <a:srgbClr val="FFFFFF"/>
                          </a:solidFill>
                          <a:effectLst/>
                          <a:latin typeface="Aptos"/>
                        </a:rPr>
                        <a:t>Target Date (from Project Start ) </a:t>
                      </a:r>
                      <a:endParaRPr lang="en-US" sz="2500" b="1">
                        <a:solidFill>
                          <a:srgbClr val="FFFFFF"/>
                        </a:solidFill>
                        <a:effectLst/>
                        <a:latin typeface="Aptos"/>
                      </a:endParaRPr>
                    </a:p>
                  </a:txBody>
                  <a:tcPr marL="91449" marR="91449" marT="62708" marB="62708" anchor="ctr">
                    <a:lnL>
                      <a:noFill/>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2060"/>
                    </a:solidFill>
                  </a:tcPr>
                </a:tc>
                <a:tc>
                  <a:txBody>
                    <a:bodyPr/>
                    <a:lstStyle/>
                    <a:p>
                      <a:pPr algn="ctr" rtl="0" fontAlgn="base">
                        <a:lnSpc>
                          <a:spcPts val="1350"/>
                        </a:lnSpc>
                        <a:buNone/>
                      </a:pPr>
                      <a:r>
                        <a:rPr lang="en-US" sz="1600" b="1">
                          <a:solidFill>
                            <a:srgbClr val="FFFFFF"/>
                          </a:solidFill>
                          <a:effectLst/>
                          <a:latin typeface="Aptos"/>
                        </a:rPr>
                        <a:t>Acceptance Criteria </a:t>
                      </a:r>
                      <a:endParaRPr lang="en-US" sz="2500" b="1">
                        <a:solidFill>
                          <a:srgbClr val="FFFFFF"/>
                        </a:solidFill>
                        <a:effectLst/>
                        <a:latin typeface="Aptos"/>
                      </a:endParaRPr>
                    </a:p>
                  </a:txBody>
                  <a:tcPr marL="91449" marR="91449" marT="62708" marB="62708" anchor="ctr">
                    <a:lnL>
                      <a:noFill/>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418672359"/>
                  </a:ext>
                </a:extLst>
              </a:tr>
              <a:tr h="559617">
                <a:tc>
                  <a:txBody>
                    <a:bodyPr/>
                    <a:lstStyle/>
                    <a:p>
                      <a:pPr rtl="0" fontAlgn="base">
                        <a:lnSpc>
                          <a:spcPts val="1350"/>
                        </a:lnSpc>
                        <a:buNone/>
                      </a:pPr>
                      <a:r>
                        <a:rPr lang="en-US" sz="1600" b="1">
                          <a:solidFill>
                            <a:srgbClr val="FFFFFF"/>
                          </a:solidFill>
                          <a:effectLst/>
                          <a:latin typeface="Aptos"/>
                        </a:rPr>
                        <a:t>Project Initiation &amp; Site Selection </a:t>
                      </a:r>
                      <a:endParaRPr lang="en-US" sz="2500" b="1">
                        <a:solidFill>
                          <a:srgbClr val="FFFFFF"/>
                        </a:solidFill>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2060"/>
                    </a:solidFill>
                  </a:tcPr>
                </a:tc>
                <a:tc>
                  <a:txBody>
                    <a:bodyPr/>
                    <a:lstStyle/>
                    <a:p>
                      <a:pPr algn="ctr" rtl="0" fontAlgn="base">
                        <a:lnSpc>
                          <a:spcPts val="1350"/>
                        </a:lnSpc>
                        <a:buNone/>
                      </a:pPr>
                      <a:r>
                        <a:rPr lang="en-US" sz="1600">
                          <a:effectLst/>
                          <a:latin typeface="Aptos"/>
                        </a:rPr>
                        <a:t>Month 6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tc>
                  <a:txBody>
                    <a:bodyPr/>
                    <a:lstStyle/>
                    <a:p>
                      <a:pPr rtl="0" fontAlgn="base">
                        <a:lnSpc>
                          <a:spcPts val="1350"/>
                        </a:lnSpc>
                        <a:buNone/>
                      </a:pPr>
                      <a:r>
                        <a:rPr lang="en-US" sz="1600">
                          <a:effectLst/>
                          <a:latin typeface="Aptos"/>
                        </a:rPr>
                        <a:t>Site acquired; preliminary feasibility study approved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37607525"/>
                  </a:ext>
                </a:extLst>
              </a:tr>
              <a:tr h="559617">
                <a:tc>
                  <a:txBody>
                    <a:bodyPr/>
                    <a:lstStyle/>
                    <a:p>
                      <a:pPr rtl="0" fontAlgn="base">
                        <a:lnSpc>
                          <a:spcPts val="1350"/>
                        </a:lnSpc>
                        <a:buNone/>
                      </a:pPr>
                      <a:r>
                        <a:rPr lang="en-US" sz="1600" b="1">
                          <a:solidFill>
                            <a:srgbClr val="FFFFFF"/>
                          </a:solidFill>
                          <a:effectLst/>
                          <a:latin typeface="Aptos"/>
                        </a:rPr>
                        <a:t>Permitting &amp; Interconnection Approval </a:t>
                      </a:r>
                      <a:endParaRPr lang="en-US" sz="2500" b="1">
                        <a:solidFill>
                          <a:srgbClr val="FFFFFF"/>
                        </a:solidFill>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2060"/>
                    </a:solidFill>
                  </a:tcPr>
                </a:tc>
                <a:tc>
                  <a:txBody>
                    <a:bodyPr/>
                    <a:lstStyle/>
                    <a:p>
                      <a:pPr algn="ctr" rtl="0" fontAlgn="base">
                        <a:lnSpc>
                          <a:spcPts val="1350"/>
                        </a:lnSpc>
                        <a:buNone/>
                      </a:pPr>
                      <a:r>
                        <a:rPr lang="en-US" sz="1600">
                          <a:effectLst/>
                          <a:latin typeface="Aptos"/>
                        </a:rPr>
                        <a:t>Month 12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tc>
                  <a:txBody>
                    <a:bodyPr/>
                    <a:lstStyle/>
                    <a:p>
                      <a:pPr rtl="0" fontAlgn="base">
                        <a:lnSpc>
                          <a:spcPts val="1350"/>
                        </a:lnSpc>
                        <a:buNone/>
                      </a:pPr>
                      <a:r>
                        <a:rPr lang="en-US" sz="1600">
                          <a:effectLst/>
                          <a:latin typeface="Aptos"/>
                        </a:rPr>
                        <a:t>All regulatory approvals secured; utility interconnection </a:t>
                      </a:r>
                      <a:endParaRPr lang="en-US" sz="2500">
                        <a:effectLst/>
                        <a:latin typeface="Aptos"/>
                      </a:endParaRPr>
                    </a:p>
                    <a:p>
                      <a:pPr lvl="0">
                        <a:lnSpc>
                          <a:spcPts val="1350"/>
                        </a:lnSpc>
                        <a:buNone/>
                      </a:pPr>
                      <a:r>
                        <a:rPr lang="en-US" sz="1600">
                          <a:effectLst/>
                          <a:latin typeface="Aptos"/>
                        </a:rPr>
                        <a:t>agreement signed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2498843379"/>
                  </a:ext>
                </a:extLst>
              </a:tr>
              <a:tr h="559617">
                <a:tc>
                  <a:txBody>
                    <a:bodyPr/>
                    <a:lstStyle/>
                    <a:p>
                      <a:pPr rtl="0" fontAlgn="base">
                        <a:lnSpc>
                          <a:spcPts val="1350"/>
                        </a:lnSpc>
                        <a:buNone/>
                      </a:pPr>
                      <a:r>
                        <a:rPr lang="en-US" sz="1600" b="1">
                          <a:solidFill>
                            <a:srgbClr val="FFFFFF"/>
                          </a:solidFill>
                          <a:effectLst/>
                          <a:latin typeface="Aptos"/>
                        </a:rPr>
                        <a:t>Detailed Design Complete </a:t>
                      </a:r>
                      <a:endParaRPr lang="en-US" sz="2500" b="1">
                        <a:solidFill>
                          <a:srgbClr val="FFFFFF"/>
                        </a:solidFill>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2060"/>
                    </a:solidFill>
                  </a:tcPr>
                </a:tc>
                <a:tc>
                  <a:txBody>
                    <a:bodyPr/>
                    <a:lstStyle/>
                    <a:p>
                      <a:pPr algn="ctr" rtl="0" fontAlgn="base">
                        <a:lnSpc>
                          <a:spcPts val="1350"/>
                        </a:lnSpc>
                        <a:buNone/>
                      </a:pPr>
                      <a:r>
                        <a:rPr lang="en-US" sz="1600">
                          <a:effectLst/>
                          <a:latin typeface="Aptos"/>
                        </a:rPr>
                        <a:t>Month 18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tc>
                  <a:txBody>
                    <a:bodyPr/>
                    <a:lstStyle/>
                    <a:p>
                      <a:pPr rtl="0" fontAlgn="base">
                        <a:lnSpc>
                          <a:spcPts val="1350"/>
                        </a:lnSpc>
                        <a:buNone/>
                      </a:pPr>
                      <a:r>
                        <a:rPr lang="en-US" sz="1600">
                          <a:effectLst/>
                          <a:latin typeface="Aptos"/>
                        </a:rPr>
                        <a:t>Engineering drawings finalized and approved; equipment specifications locked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3230796299"/>
                  </a:ext>
                </a:extLst>
              </a:tr>
              <a:tr h="559617">
                <a:tc>
                  <a:txBody>
                    <a:bodyPr/>
                    <a:lstStyle/>
                    <a:p>
                      <a:pPr rtl="0" fontAlgn="base">
                        <a:lnSpc>
                          <a:spcPts val="1350"/>
                        </a:lnSpc>
                        <a:buNone/>
                      </a:pPr>
                      <a:r>
                        <a:rPr lang="en-US" sz="1600" b="1">
                          <a:solidFill>
                            <a:srgbClr val="FFFFFF"/>
                          </a:solidFill>
                          <a:effectLst/>
                          <a:latin typeface="Aptos"/>
                        </a:rPr>
                        <a:t>Procurement  </a:t>
                      </a:r>
                      <a:endParaRPr lang="en-US" sz="2500" b="1">
                        <a:solidFill>
                          <a:srgbClr val="FFFFFF"/>
                        </a:solidFill>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2060"/>
                    </a:solidFill>
                  </a:tcPr>
                </a:tc>
                <a:tc>
                  <a:txBody>
                    <a:bodyPr/>
                    <a:lstStyle/>
                    <a:p>
                      <a:pPr algn="ctr" rtl="0" fontAlgn="base">
                        <a:lnSpc>
                          <a:spcPts val="1350"/>
                        </a:lnSpc>
                        <a:buNone/>
                      </a:pPr>
                      <a:r>
                        <a:rPr lang="en-US" sz="1600">
                          <a:effectLst/>
                          <a:latin typeface="Aptos"/>
                        </a:rPr>
                        <a:t>Month 21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tc>
                  <a:txBody>
                    <a:bodyPr/>
                    <a:lstStyle/>
                    <a:p>
                      <a:pPr rtl="0" fontAlgn="base">
                        <a:lnSpc>
                          <a:spcPts val="1350"/>
                        </a:lnSpc>
                        <a:buNone/>
                      </a:pPr>
                      <a:r>
                        <a:rPr lang="en-US" sz="1600">
                          <a:effectLst/>
                          <a:latin typeface="Aptos"/>
                        </a:rPr>
                        <a:t>Solar panels, batteries, and major equipment ordered and on schedule; mobilization plan approved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1025577050"/>
                  </a:ext>
                </a:extLst>
              </a:tr>
              <a:tr h="559617">
                <a:tc>
                  <a:txBody>
                    <a:bodyPr/>
                    <a:lstStyle/>
                    <a:p>
                      <a:pPr rtl="0" fontAlgn="base">
                        <a:lnSpc>
                          <a:spcPts val="1350"/>
                        </a:lnSpc>
                        <a:buNone/>
                      </a:pPr>
                      <a:r>
                        <a:rPr lang="en-US" sz="1600" b="1">
                          <a:solidFill>
                            <a:srgbClr val="FFFFFF"/>
                          </a:solidFill>
                          <a:effectLst/>
                          <a:latin typeface="Aptos"/>
                        </a:rPr>
                        <a:t>Construction Complete </a:t>
                      </a:r>
                      <a:endParaRPr lang="en-US" sz="2500" b="1">
                        <a:solidFill>
                          <a:srgbClr val="FFFFFF"/>
                        </a:solidFill>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2060"/>
                    </a:solidFill>
                  </a:tcPr>
                </a:tc>
                <a:tc>
                  <a:txBody>
                    <a:bodyPr/>
                    <a:lstStyle/>
                    <a:p>
                      <a:pPr algn="ctr" rtl="0" fontAlgn="base">
                        <a:lnSpc>
                          <a:spcPts val="1350"/>
                        </a:lnSpc>
                        <a:buNone/>
                      </a:pPr>
                      <a:r>
                        <a:rPr lang="en-US" sz="1600">
                          <a:effectLst/>
                          <a:latin typeface="Aptos"/>
                        </a:rPr>
                        <a:t>Month 36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tc>
                  <a:txBody>
                    <a:bodyPr/>
                    <a:lstStyle/>
                    <a:p>
                      <a:pPr rtl="0" fontAlgn="base">
                        <a:lnSpc>
                          <a:spcPts val="1350"/>
                        </a:lnSpc>
                        <a:buNone/>
                      </a:pPr>
                      <a:r>
                        <a:rPr lang="en-US" sz="1600">
                          <a:effectLst/>
                          <a:latin typeface="Aptos"/>
                        </a:rPr>
                        <a:t>Solar panels, battery energy storage system, and grid physically installed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4080559084"/>
                  </a:ext>
                </a:extLst>
              </a:tr>
              <a:tr h="559617">
                <a:tc>
                  <a:txBody>
                    <a:bodyPr/>
                    <a:lstStyle/>
                    <a:p>
                      <a:pPr rtl="0" fontAlgn="base">
                        <a:lnSpc>
                          <a:spcPts val="1350"/>
                        </a:lnSpc>
                        <a:buNone/>
                      </a:pPr>
                      <a:r>
                        <a:rPr lang="en-US" sz="1600" b="1">
                          <a:solidFill>
                            <a:srgbClr val="FFFFFF"/>
                          </a:solidFill>
                          <a:effectLst/>
                          <a:latin typeface="Aptos"/>
                        </a:rPr>
                        <a:t>Commissioning &amp; Testing </a:t>
                      </a:r>
                      <a:endParaRPr lang="en-US" sz="2500" b="1">
                        <a:solidFill>
                          <a:srgbClr val="FFFFFF"/>
                        </a:solidFill>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2060"/>
                    </a:solidFill>
                  </a:tcPr>
                </a:tc>
                <a:tc>
                  <a:txBody>
                    <a:bodyPr/>
                    <a:lstStyle/>
                    <a:p>
                      <a:pPr algn="ctr" rtl="0" fontAlgn="base">
                        <a:lnSpc>
                          <a:spcPts val="1350"/>
                        </a:lnSpc>
                        <a:buNone/>
                      </a:pPr>
                      <a:r>
                        <a:rPr lang="en-US" sz="1600">
                          <a:effectLst/>
                          <a:latin typeface="Aptos"/>
                        </a:rPr>
                        <a:t>Month 39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tc>
                  <a:txBody>
                    <a:bodyPr/>
                    <a:lstStyle/>
                    <a:p>
                      <a:pPr rtl="0" fontAlgn="base">
                        <a:lnSpc>
                          <a:spcPts val="1350"/>
                        </a:lnSpc>
                        <a:buNone/>
                      </a:pPr>
                      <a:r>
                        <a:rPr lang="en-US" sz="1600">
                          <a:effectLst/>
                          <a:latin typeface="Aptos"/>
                        </a:rPr>
                        <a:t>Acceptance tests passed; on-site performance verified; grid synchronization successful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2937894840"/>
                  </a:ext>
                </a:extLst>
              </a:tr>
              <a:tr h="559617">
                <a:tc>
                  <a:txBody>
                    <a:bodyPr/>
                    <a:lstStyle/>
                    <a:p>
                      <a:pPr rtl="0" fontAlgn="base">
                        <a:lnSpc>
                          <a:spcPts val="1350"/>
                        </a:lnSpc>
                        <a:buNone/>
                      </a:pPr>
                      <a:r>
                        <a:rPr lang="en-US" sz="1600" b="1">
                          <a:solidFill>
                            <a:srgbClr val="FFFFFF"/>
                          </a:solidFill>
                          <a:effectLst/>
                          <a:latin typeface="Aptos"/>
                        </a:rPr>
                        <a:t>Commercial Operation </a:t>
                      </a:r>
                      <a:endParaRPr lang="en-US" sz="2500" b="1">
                        <a:solidFill>
                          <a:srgbClr val="FFFFFF"/>
                        </a:solidFill>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2060"/>
                    </a:solidFill>
                  </a:tcPr>
                </a:tc>
                <a:tc>
                  <a:txBody>
                    <a:bodyPr/>
                    <a:lstStyle/>
                    <a:p>
                      <a:pPr algn="ctr" rtl="0" fontAlgn="base">
                        <a:lnSpc>
                          <a:spcPts val="1350"/>
                        </a:lnSpc>
                        <a:buNone/>
                      </a:pPr>
                      <a:r>
                        <a:rPr lang="en-US" sz="1600">
                          <a:effectLst/>
                          <a:latin typeface="Aptos"/>
                        </a:rPr>
                        <a:t>Month 42 </a:t>
                      </a:r>
                      <a:endParaRPr lang="en-US" sz="2500">
                        <a:effectLst/>
                        <a:latin typeface="Aptos"/>
                      </a:endParaRP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tc>
                  <a:txBody>
                    <a:bodyPr/>
                    <a:lstStyle/>
                    <a:p>
                      <a:pPr rtl="0" fontAlgn="base">
                        <a:lnSpc>
                          <a:spcPts val="1350"/>
                        </a:lnSpc>
                        <a:buNone/>
                      </a:pPr>
                      <a:r>
                        <a:rPr lang="en-US" sz="1600">
                          <a:effectLst/>
                          <a:latin typeface="Aptos"/>
                        </a:rPr>
                        <a:t>First energy delivered</a:t>
                      </a:r>
                    </a:p>
                  </a:txBody>
                  <a:tcPr marL="91449" marR="91449" marT="62708" marB="6270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4212944740"/>
                  </a:ext>
                </a:extLst>
              </a:tr>
            </a:tbl>
          </a:graphicData>
        </a:graphic>
      </p:graphicFrame>
      <p:sp>
        <p:nvSpPr>
          <p:cNvPr id="11" name="Title 1">
            <a:extLst>
              <a:ext uri="{FF2B5EF4-FFF2-40B4-BE49-F238E27FC236}">
                <a16:creationId xmlns:a16="http://schemas.microsoft.com/office/drawing/2014/main" id="{DC1EEE92-9720-78ED-1805-2D99563AAB6C}"/>
              </a:ext>
            </a:extLst>
          </p:cNvPr>
          <p:cNvSpPr>
            <a:spLocks noGrp="1"/>
          </p:cNvSpPr>
          <p:nvPr>
            <p:ph type="title"/>
          </p:nvPr>
        </p:nvSpPr>
        <p:spPr>
          <a:xfrm>
            <a:off x="266630" y="468724"/>
            <a:ext cx="8521423" cy="557080"/>
          </a:xfrm>
        </p:spPr>
        <p:txBody>
          <a:bodyPr>
            <a:noAutofit/>
          </a:bodyPr>
          <a:lstStyle/>
          <a:p>
            <a:r>
              <a:rPr lang="en-US" sz="3600" b="1">
                <a:solidFill>
                  <a:schemeClr val="accent4">
                    <a:lumMod val="49000"/>
                  </a:schemeClr>
                </a:solidFill>
                <a:latin typeface="Biome"/>
                <a:cs typeface="Biome"/>
              </a:rPr>
              <a:t>Schedule &amp; Milestone</a:t>
            </a:r>
          </a:p>
        </p:txBody>
      </p:sp>
      <p:pic>
        <p:nvPicPr>
          <p:cNvPr id="2" name="Picture 1" descr="Buy Icons &amp; Symbols">
            <a:extLst>
              <a:ext uri="{FF2B5EF4-FFF2-40B4-BE49-F238E27FC236}">
                <a16:creationId xmlns:a16="http://schemas.microsoft.com/office/drawing/2014/main" id="{5719B028-4FA7-18BE-FC16-8ED51D06CD6D}"/>
              </a:ext>
            </a:extLst>
          </p:cNvPr>
          <p:cNvPicPr>
            <a:picLocks noChangeAspect="1"/>
          </p:cNvPicPr>
          <p:nvPr/>
        </p:nvPicPr>
        <p:blipFill>
          <a:blip r:embed="rId3"/>
          <a:stretch>
            <a:fillRect/>
          </a:stretch>
        </p:blipFill>
        <p:spPr>
          <a:xfrm>
            <a:off x="10872439" y="1486830"/>
            <a:ext cx="994318" cy="994318"/>
          </a:xfrm>
          <a:prstGeom prst="rect">
            <a:avLst/>
          </a:prstGeom>
        </p:spPr>
      </p:pic>
      <p:pic>
        <p:nvPicPr>
          <p:cNvPr id="3" name="Picture 2" descr="Premium Vector | Approved stamp Green approval stamp Grunge approved stamp">
            <a:extLst>
              <a:ext uri="{FF2B5EF4-FFF2-40B4-BE49-F238E27FC236}">
                <a16:creationId xmlns:a16="http://schemas.microsoft.com/office/drawing/2014/main" id="{F8D6C9B7-7BE5-9C6B-7E07-578C10FA320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rot="420000">
            <a:off x="10650508" y="2458482"/>
            <a:ext cx="1613675" cy="960864"/>
          </a:xfrm>
          <a:prstGeom prst="rect">
            <a:avLst/>
          </a:prstGeom>
        </p:spPr>
      </p:pic>
      <p:pic>
        <p:nvPicPr>
          <p:cNvPr id="4" name="Picture 3" descr="Engineering Hard Hat CE Safety Helmet Construction... – Vicedeal">
            <a:extLst>
              <a:ext uri="{FF2B5EF4-FFF2-40B4-BE49-F238E27FC236}">
                <a16:creationId xmlns:a16="http://schemas.microsoft.com/office/drawing/2014/main" id="{83F94F9C-87A2-39B2-33C8-B305D4A529C1}"/>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10996961" y="3386251"/>
            <a:ext cx="921836" cy="810324"/>
          </a:xfrm>
          <a:prstGeom prst="rect">
            <a:avLst/>
          </a:prstGeom>
        </p:spPr>
      </p:pic>
      <p:pic>
        <p:nvPicPr>
          <p:cNvPr id="6" name="Picture 5" descr="hammer icon vector 23887611 Vector Art at Vecteezy">
            <a:extLst>
              <a:ext uri="{FF2B5EF4-FFF2-40B4-BE49-F238E27FC236}">
                <a16:creationId xmlns:a16="http://schemas.microsoft.com/office/drawing/2014/main" id="{033EE41E-0CD6-25A3-3577-5E96663E4427}"/>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Lst>
          </a:blip>
          <a:srcRect l="9620" t="12060" r="8401" b="12202"/>
          <a:stretch>
            <a:fillRect/>
          </a:stretch>
        </p:blipFill>
        <p:spPr>
          <a:xfrm>
            <a:off x="11076877" y="5482682"/>
            <a:ext cx="845648" cy="817288"/>
          </a:xfrm>
          <a:prstGeom prst="rect">
            <a:avLst/>
          </a:prstGeom>
        </p:spPr>
      </p:pic>
      <p:pic>
        <p:nvPicPr>
          <p:cNvPr id="7" name="Picture 6" descr="Premium Vector | Accu icon vector design template">
            <a:extLst>
              <a:ext uri="{FF2B5EF4-FFF2-40B4-BE49-F238E27FC236}">
                <a16:creationId xmlns:a16="http://schemas.microsoft.com/office/drawing/2014/main" id="{BBF32D26-C6E5-FE7D-9BDB-51BD2BE20CDF}"/>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imgEffect>
                  </a14:imgLayer>
                </a14:imgProps>
              </a:ext>
            </a:extLst>
          </a:blip>
          <a:srcRect l="22648" t="22577" r="20209" b="24569"/>
          <a:stretch>
            <a:fillRect/>
          </a:stretch>
        </p:blipFill>
        <p:spPr>
          <a:xfrm>
            <a:off x="10872436" y="4426825"/>
            <a:ext cx="1254519" cy="809339"/>
          </a:xfrm>
          <a:prstGeom prst="rect">
            <a:avLst/>
          </a:prstGeom>
        </p:spPr>
      </p:pic>
    </p:spTree>
    <p:extLst>
      <p:ext uri="{BB962C8B-B14F-4D97-AF65-F5344CB8AC3E}">
        <p14:creationId xmlns:p14="http://schemas.microsoft.com/office/powerpoint/2010/main" val="236375059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588CE-3736-9BE7-3FEC-ACEBAFEEC18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B43E1F4-441B-0A73-ADFC-0DE3B8FEE932}"/>
              </a:ext>
            </a:extLst>
          </p:cNvPr>
          <p:cNvSpPr>
            <a:spLocks noGrp="1"/>
          </p:cNvSpPr>
          <p:nvPr>
            <p:ph sz="quarter" idx="14"/>
          </p:nvPr>
        </p:nvSpPr>
        <p:spPr>
          <a:xfrm>
            <a:off x="206296" y="852630"/>
            <a:ext cx="7084143" cy="2573298"/>
          </a:xfrm>
        </p:spPr>
        <p:txBody>
          <a:bodyPr vert="horz" lIns="91440" tIns="45720" rIns="91440" bIns="45720" rtlCol="0" anchor="t">
            <a:noAutofit/>
          </a:bodyPr>
          <a:lstStyle/>
          <a:p>
            <a:pPr marL="0" indent="0">
              <a:buNone/>
            </a:pPr>
            <a:r>
              <a:rPr lang="en-US" b="1">
                <a:solidFill>
                  <a:schemeClr val="accent2">
                    <a:lumMod val="76000"/>
                  </a:schemeClr>
                </a:solidFill>
                <a:latin typeface="Biome"/>
                <a:cs typeface="Biome"/>
              </a:rPr>
              <a:t>Risks: </a:t>
            </a:r>
            <a:endParaRPr lang="en-US">
              <a:solidFill>
                <a:schemeClr val="accent2">
                  <a:lumMod val="76000"/>
                </a:schemeClr>
              </a:solidFill>
            </a:endParaRPr>
          </a:p>
          <a:p>
            <a:endParaRPr lang="en-US" sz="1600">
              <a:latin typeface="Aptos"/>
              <a:ea typeface="+mn-lt"/>
              <a:cs typeface="+mn-lt"/>
            </a:endParaRPr>
          </a:p>
          <a:p>
            <a:endParaRPr lang="en-US" sz="1600">
              <a:latin typeface="Times New Roman"/>
              <a:cs typeface="Times New Roman"/>
            </a:endParaRPr>
          </a:p>
        </p:txBody>
      </p:sp>
      <p:pic>
        <p:nvPicPr>
          <p:cNvPr id="7" name="Picture Placeholder 7" descr="Business man pulling a block from Jenga tower">
            <a:extLst>
              <a:ext uri="{FF2B5EF4-FFF2-40B4-BE49-F238E27FC236}">
                <a16:creationId xmlns:a16="http://schemas.microsoft.com/office/drawing/2014/main" id="{C565CF06-2F83-C4F4-A583-9ED9B380C3AC}"/>
              </a:ext>
            </a:extLst>
          </p:cNvPr>
          <p:cNvPicPr>
            <a:picLocks noChangeAspect="1"/>
          </p:cNvPicPr>
          <p:nvPr/>
        </p:nvPicPr>
        <p:blipFill>
          <a:blip r:embed="rId3"/>
          <a:srcRect l="44086" r="16104" b="-159"/>
          <a:stretch>
            <a:fillRect/>
          </a:stretch>
        </p:blipFill>
        <p:spPr>
          <a:xfrm>
            <a:off x="8102776" y="-2551"/>
            <a:ext cx="4089858" cy="6862947"/>
          </a:xfrm>
          <a:prstGeom prst="rect">
            <a:avLst/>
          </a:prstGeom>
          <a:blipFill>
            <a:blip r:embed="rId4" cstate="screen">
              <a:alphaModFix amt="70000"/>
              <a:extLst>
                <a:ext uri="{28A0092B-C50C-407E-A947-70E740481C1C}">
                  <a14:useLocalDpi xmlns:a14="http://schemas.microsoft.com/office/drawing/2010/main"/>
                </a:ext>
              </a:extLst>
            </a:blip>
            <a:stretch>
              <a:fillRect/>
            </a:stretch>
          </a:blipFill>
        </p:spPr>
      </p:pic>
      <p:sp>
        <p:nvSpPr>
          <p:cNvPr id="9" name="Title 1">
            <a:extLst>
              <a:ext uri="{FF2B5EF4-FFF2-40B4-BE49-F238E27FC236}">
                <a16:creationId xmlns:a16="http://schemas.microsoft.com/office/drawing/2014/main" id="{518E25AD-43C3-8946-E4C7-031B466FC7C3}"/>
              </a:ext>
            </a:extLst>
          </p:cNvPr>
          <p:cNvSpPr txBox="1">
            <a:spLocks/>
          </p:cNvSpPr>
          <p:nvPr/>
        </p:nvSpPr>
        <p:spPr>
          <a:xfrm>
            <a:off x="117947" y="189943"/>
            <a:ext cx="9078984" cy="55708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a:lstStyle>
          <a:p>
            <a:r>
              <a:rPr lang="en-US" sz="3600" b="1">
                <a:solidFill>
                  <a:schemeClr val="accent4">
                    <a:lumMod val="49000"/>
                  </a:schemeClr>
                </a:solidFill>
                <a:latin typeface="Biome"/>
                <a:cs typeface="Biome"/>
              </a:rPr>
              <a:t>Risk, Assumptions &amp; Constraints   </a:t>
            </a:r>
          </a:p>
        </p:txBody>
      </p:sp>
      <p:graphicFrame>
        <p:nvGraphicFramePr>
          <p:cNvPr id="3" name="Table 2">
            <a:extLst>
              <a:ext uri="{FF2B5EF4-FFF2-40B4-BE49-F238E27FC236}">
                <a16:creationId xmlns:a16="http://schemas.microsoft.com/office/drawing/2014/main" id="{1F06DD7D-8F2B-9AC4-A7B9-94EAA72659B9}"/>
              </a:ext>
            </a:extLst>
          </p:cNvPr>
          <p:cNvGraphicFramePr>
            <a:graphicFrameLocks noGrp="1"/>
          </p:cNvGraphicFramePr>
          <p:nvPr>
            <p:extLst>
              <p:ext uri="{D42A27DB-BD31-4B8C-83A1-F6EECF244321}">
                <p14:modId xmlns:p14="http://schemas.microsoft.com/office/powerpoint/2010/main" val="4202547662"/>
              </p:ext>
            </p:extLst>
          </p:nvPr>
        </p:nvGraphicFramePr>
        <p:xfrm>
          <a:off x="810000" y="2286000"/>
          <a:ext cx="6654966" cy="3587292"/>
        </p:xfrm>
        <a:graphic>
          <a:graphicData uri="http://schemas.openxmlformats.org/drawingml/2006/table">
            <a:tbl>
              <a:tblPr bandRow="1">
                <a:tableStyleId>{5C22544A-7EE6-4342-B048-85BDC9FD1C3A}</a:tableStyleId>
              </a:tblPr>
              <a:tblGrid>
                <a:gridCol w="6654966">
                  <a:extLst>
                    <a:ext uri="{9D8B030D-6E8A-4147-A177-3AD203B41FA5}">
                      <a16:colId xmlns:a16="http://schemas.microsoft.com/office/drawing/2014/main" val="1774662768"/>
                    </a:ext>
                  </a:extLst>
                </a:gridCol>
              </a:tblGrid>
              <a:tr h="597882">
                <a:tc>
                  <a:txBody>
                    <a:bodyPr/>
                    <a:lstStyle/>
                    <a:p>
                      <a:pPr algn="l" rtl="0" fontAlgn="base">
                        <a:lnSpc>
                          <a:spcPts val="1425"/>
                        </a:lnSpc>
                        <a:buNone/>
                      </a:pPr>
                      <a:r>
                        <a:rPr lang="en-US" sz="1800" b="1" i="0">
                          <a:solidFill>
                            <a:srgbClr val="FFFFFF"/>
                          </a:solidFill>
                          <a:effectLst/>
                          <a:latin typeface="Calibri"/>
                        </a:rPr>
                        <a:t>Permitting &amp; interconnection approval delays </a:t>
                      </a:r>
                    </a:p>
                  </a:txBody>
                  <a:tcPr marL="66675" marR="6667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2277107467"/>
                  </a:ext>
                </a:extLst>
              </a:tr>
              <a:tr h="597882">
                <a:tc>
                  <a:txBody>
                    <a:bodyPr/>
                    <a:lstStyle/>
                    <a:p>
                      <a:pPr algn="l" rtl="0" fontAlgn="base">
                        <a:lnSpc>
                          <a:spcPts val="1425"/>
                        </a:lnSpc>
                        <a:buNone/>
                      </a:pPr>
                      <a:r>
                        <a:rPr lang="en-US" sz="1800" b="1" i="0">
                          <a:solidFill>
                            <a:srgbClr val="FFFFFF"/>
                          </a:solidFill>
                          <a:effectLst/>
                          <a:latin typeface="Calibri"/>
                        </a:rPr>
                        <a:t>Supply chain disruptions (panels, batteries, equipment) </a:t>
                      </a:r>
                    </a:p>
                  </a:txBody>
                  <a:tcPr marL="66675" marR="6667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3433421305"/>
                  </a:ext>
                </a:extLst>
              </a:tr>
              <a:tr h="597882">
                <a:tc>
                  <a:txBody>
                    <a:bodyPr/>
                    <a:lstStyle/>
                    <a:p>
                      <a:pPr algn="l" rtl="0" fontAlgn="base">
                        <a:lnSpc>
                          <a:spcPts val="1425"/>
                        </a:lnSpc>
                        <a:buNone/>
                      </a:pPr>
                      <a:r>
                        <a:rPr lang="en-US" sz="1800" b="1" i="0">
                          <a:solidFill>
                            <a:srgbClr val="FFFFFF"/>
                          </a:solidFill>
                          <a:effectLst/>
                          <a:latin typeface="Calibri"/>
                        </a:rPr>
                        <a:t>Construction cost escalation </a:t>
                      </a:r>
                    </a:p>
                  </a:txBody>
                  <a:tcPr marL="66675" marR="6667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3414858610"/>
                  </a:ext>
                </a:extLst>
              </a:tr>
              <a:tr h="597882">
                <a:tc>
                  <a:txBody>
                    <a:bodyPr/>
                    <a:lstStyle/>
                    <a:p>
                      <a:pPr algn="l" rtl="0" fontAlgn="base">
                        <a:lnSpc>
                          <a:spcPts val="1425"/>
                        </a:lnSpc>
                        <a:buNone/>
                      </a:pPr>
                      <a:r>
                        <a:rPr lang="en-US" sz="1800" b="1" i="0">
                          <a:solidFill>
                            <a:srgbClr val="FFFFFF"/>
                          </a:solidFill>
                          <a:effectLst/>
                          <a:latin typeface="Calibri"/>
                        </a:rPr>
                        <a:t>Severe weather during construction </a:t>
                      </a:r>
                    </a:p>
                  </a:txBody>
                  <a:tcPr marL="66675" marR="6667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124164831"/>
                  </a:ext>
                </a:extLst>
              </a:tr>
              <a:tr h="597882">
                <a:tc>
                  <a:txBody>
                    <a:bodyPr/>
                    <a:lstStyle/>
                    <a:p>
                      <a:pPr algn="l" rtl="0" fontAlgn="base">
                        <a:lnSpc>
                          <a:spcPts val="1425"/>
                        </a:lnSpc>
                        <a:buNone/>
                      </a:pPr>
                      <a:r>
                        <a:rPr lang="en-US" sz="1800" b="1" i="0">
                          <a:solidFill>
                            <a:srgbClr val="FFFFFF"/>
                          </a:solidFill>
                          <a:effectLst/>
                          <a:latin typeface="Calibri"/>
                        </a:rPr>
                        <a:t>Community opposition to project </a:t>
                      </a:r>
                    </a:p>
                  </a:txBody>
                  <a:tcPr marL="66675" marR="6667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753606170"/>
                  </a:ext>
                </a:extLst>
              </a:tr>
              <a:tr h="597882">
                <a:tc>
                  <a:txBody>
                    <a:bodyPr/>
                    <a:lstStyle/>
                    <a:p>
                      <a:pPr algn="l" rtl="0" fontAlgn="base">
                        <a:lnSpc>
                          <a:spcPts val="1425"/>
                        </a:lnSpc>
                        <a:buNone/>
                      </a:pPr>
                      <a:r>
                        <a:rPr lang="en-US" sz="1800" b="1" i="0">
                          <a:solidFill>
                            <a:srgbClr val="FFFFFF"/>
                          </a:solidFill>
                          <a:effectLst/>
                          <a:latin typeface="Calibri"/>
                        </a:rPr>
                        <a:t>Changes to federal tax incentives </a:t>
                      </a:r>
                    </a:p>
                  </a:txBody>
                  <a:tcPr marL="66675" marR="6667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542845102"/>
                  </a:ext>
                </a:extLst>
              </a:tr>
            </a:tbl>
          </a:graphicData>
        </a:graphic>
      </p:graphicFrame>
      <p:sp>
        <p:nvSpPr>
          <p:cNvPr id="5" name="TextBox 4">
            <a:extLst>
              <a:ext uri="{FF2B5EF4-FFF2-40B4-BE49-F238E27FC236}">
                <a16:creationId xmlns:a16="http://schemas.microsoft.com/office/drawing/2014/main" id="{8D0C0B68-FE30-BFB6-0ABB-A3E21712D772}"/>
              </a:ext>
            </a:extLst>
          </p:cNvPr>
          <p:cNvSpPr txBox="1"/>
          <p:nvPr/>
        </p:nvSpPr>
        <p:spPr>
          <a:xfrm>
            <a:off x="810000" y="1257000"/>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Aptos"/>
                <a:ea typeface="Aptos"/>
                <a:cs typeface="Aptos"/>
              </a:rPr>
              <a:t>Permitting delays, supply chain disruptions, cost escalation, weather, tax incentive changes</a:t>
            </a:r>
            <a:endParaRPr lang="en-US"/>
          </a:p>
          <a:p>
            <a:pPr algn="ctr"/>
            <a:endParaRPr lang="en-US"/>
          </a:p>
        </p:txBody>
      </p:sp>
    </p:spTree>
    <p:extLst>
      <p:ext uri="{BB962C8B-B14F-4D97-AF65-F5344CB8AC3E}">
        <p14:creationId xmlns:p14="http://schemas.microsoft.com/office/powerpoint/2010/main" val="11324095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2F453-4282-F37A-E73A-079DDDF1076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4DC3582-9CA8-0478-1F94-E51A4582B294}"/>
              </a:ext>
            </a:extLst>
          </p:cNvPr>
          <p:cNvSpPr>
            <a:spLocks noGrp="1"/>
          </p:cNvSpPr>
          <p:nvPr>
            <p:ph sz="quarter" idx="14"/>
          </p:nvPr>
        </p:nvSpPr>
        <p:spPr>
          <a:xfrm>
            <a:off x="206296" y="852630"/>
            <a:ext cx="7084143" cy="2573298"/>
          </a:xfrm>
        </p:spPr>
        <p:txBody>
          <a:bodyPr vert="horz" lIns="91440" tIns="45720" rIns="91440" bIns="45720" rtlCol="0" anchor="t">
            <a:noAutofit/>
          </a:bodyPr>
          <a:lstStyle/>
          <a:p>
            <a:pPr marL="0" indent="0">
              <a:buNone/>
            </a:pPr>
            <a:r>
              <a:rPr lang="en-US" b="1">
                <a:solidFill>
                  <a:schemeClr val="accent2">
                    <a:lumMod val="76000"/>
                  </a:schemeClr>
                </a:solidFill>
                <a:latin typeface="Biome"/>
                <a:cs typeface="Biome"/>
              </a:rPr>
              <a:t>Assumptions: </a:t>
            </a:r>
            <a:endParaRPr lang="en-US"/>
          </a:p>
          <a:p>
            <a:r>
              <a:rPr lang="en-US" sz="1600">
                <a:latin typeface="Aptos"/>
                <a:ea typeface="+mn-lt"/>
                <a:cs typeface="+mn-lt"/>
              </a:rPr>
              <a:t>High solar resource with consistent sunshine</a:t>
            </a:r>
            <a:endParaRPr lang="en-US" sz="1600">
              <a:latin typeface="Aptos"/>
              <a:cs typeface="Times New Roman"/>
            </a:endParaRPr>
          </a:p>
          <a:p>
            <a:r>
              <a:rPr lang="en-US" sz="1600">
                <a:latin typeface="Aptos"/>
                <a:ea typeface="+mn-lt"/>
                <a:cs typeface="+mn-lt"/>
              </a:rPr>
              <a:t>Federal ITC remains at 30% through completion</a:t>
            </a:r>
            <a:endParaRPr lang="en-US" sz="1600">
              <a:latin typeface="Aptos"/>
            </a:endParaRPr>
          </a:p>
          <a:p>
            <a:r>
              <a:rPr lang="en-US" sz="1600">
                <a:latin typeface="Aptos"/>
                <a:ea typeface="+mn-lt"/>
                <a:cs typeface="+mn-lt"/>
              </a:rPr>
              <a:t>Stable regulatory environment</a:t>
            </a:r>
            <a:endParaRPr lang="en-US" sz="1600">
              <a:latin typeface="Aptos"/>
            </a:endParaRPr>
          </a:p>
          <a:p>
            <a:r>
              <a:rPr lang="en-US" sz="1600">
                <a:latin typeface="Aptos"/>
                <a:ea typeface="+mn-lt"/>
                <a:cs typeface="+mn-lt"/>
              </a:rPr>
              <a:t>Predictable equipment lead times (panels &amp; batteries)</a:t>
            </a:r>
            <a:endParaRPr lang="en-US" sz="1600">
              <a:latin typeface="Aptos"/>
            </a:endParaRPr>
          </a:p>
          <a:p>
            <a:r>
              <a:rPr lang="en-US" sz="1600">
                <a:latin typeface="Aptos"/>
                <a:ea typeface="+mn-lt"/>
                <a:cs typeface="+mn-lt"/>
              </a:rPr>
              <a:t>Grid can accommodate 150 MW without major upgrades</a:t>
            </a:r>
          </a:p>
          <a:p>
            <a:endParaRPr lang="en-US" sz="1600">
              <a:latin typeface="Times New Roman"/>
              <a:cs typeface="Times New Roman"/>
            </a:endParaRPr>
          </a:p>
        </p:txBody>
      </p:sp>
      <p:pic>
        <p:nvPicPr>
          <p:cNvPr id="7" name="Picture Placeholder 7" descr="Business man pulling a block from Jenga tower">
            <a:extLst>
              <a:ext uri="{FF2B5EF4-FFF2-40B4-BE49-F238E27FC236}">
                <a16:creationId xmlns:a16="http://schemas.microsoft.com/office/drawing/2014/main" id="{0C39A7AB-6169-8DB7-FCB8-239A62506D28}"/>
              </a:ext>
            </a:extLst>
          </p:cNvPr>
          <p:cNvPicPr>
            <a:picLocks noChangeAspect="1"/>
          </p:cNvPicPr>
          <p:nvPr/>
        </p:nvPicPr>
        <p:blipFill>
          <a:blip r:embed="rId3"/>
          <a:srcRect l="44086" r="16104" b="-159"/>
          <a:stretch>
            <a:fillRect/>
          </a:stretch>
        </p:blipFill>
        <p:spPr>
          <a:xfrm>
            <a:off x="8102776" y="-2551"/>
            <a:ext cx="4089858" cy="6862947"/>
          </a:xfrm>
          <a:prstGeom prst="rect">
            <a:avLst/>
          </a:prstGeom>
          <a:blipFill>
            <a:blip r:embed="rId4" cstate="screen">
              <a:alphaModFix amt="70000"/>
              <a:extLst>
                <a:ext uri="{28A0092B-C50C-407E-A947-70E740481C1C}">
                  <a14:useLocalDpi xmlns:a14="http://schemas.microsoft.com/office/drawing/2010/main"/>
                </a:ext>
              </a:extLst>
            </a:blip>
            <a:stretch>
              <a:fillRect/>
            </a:stretch>
          </a:blipFill>
        </p:spPr>
      </p:pic>
      <p:sp>
        <p:nvSpPr>
          <p:cNvPr id="9" name="Title 1">
            <a:extLst>
              <a:ext uri="{FF2B5EF4-FFF2-40B4-BE49-F238E27FC236}">
                <a16:creationId xmlns:a16="http://schemas.microsoft.com/office/drawing/2014/main" id="{705F418D-0136-9AD0-EB4D-88B6C8823648}"/>
              </a:ext>
            </a:extLst>
          </p:cNvPr>
          <p:cNvSpPr txBox="1">
            <a:spLocks/>
          </p:cNvSpPr>
          <p:nvPr/>
        </p:nvSpPr>
        <p:spPr>
          <a:xfrm>
            <a:off x="117947" y="189943"/>
            <a:ext cx="9078984" cy="55708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a:lstStyle>
          <a:p>
            <a:r>
              <a:rPr lang="en-US" sz="3600" b="1">
                <a:solidFill>
                  <a:schemeClr val="accent4">
                    <a:lumMod val="49000"/>
                  </a:schemeClr>
                </a:solidFill>
                <a:latin typeface="Biome"/>
                <a:cs typeface="Biome"/>
              </a:rPr>
              <a:t>Risk, Assumptions &amp; Constraints   </a:t>
            </a:r>
          </a:p>
        </p:txBody>
      </p:sp>
      <p:sp>
        <p:nvSpPr>
          <p:cNvPr id="11" name="Content Placeholder 3">
            <a:extLst>
              <a:ext uri="{FF2B5EF4-FFF2-40B4-BE49-F238E27FC236}">
                <a16:creationId xmlns:a16="http://schemas.microsoft.com/office/drawing/2014/main" id="{C6878904-E510-CD8B-B5A2-1C21455ADED6}"/>
              </a:ext>
            </a:extLst>
          </p:cNvPr>
          <p:cNvSpPr txBox="1">
            <a:spLocks/>
          </p:cNvSpPr>
          <p:nvPr/>
        </p:nvSpPr>
        <p:spPr>
          <a:xfrm>
            <a:off x="201913" y="3736517"/>
            <a:ext cx="7084143" cy="2846818"/>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b="1">
                <a:solidFill>
                  <a:schemeClr val="accent4">
                    <a:lumMod val="49000"/>
                  </a:schemeClr>
                </a:solidFill>
                <a:latin typeface="Biome"/>
                <a:cs typeface="Biome"/>
              </a:rPr>
              <a:t>Project Constraints: </a:t>
            </a:r>
            <a:endParaRPr lang="en-US">
              <a:solidFill>
                <a:schemeClr val="accent4">
                  <a:lumMod val="49000"/>
                </a:schemeClr>
              </a:solidFill>
            </a:endParaRPr>
          </a:p>
          <a:p>
            <a:pPr>
              <a:buFont typeface="Arial"/>
              <a:buChar char="•"/>
            </a:pPr>
            <a:r>
              <a:rPr lang="en-US" sz="1600" b="1">
                <a:latin typeface="Aptos"/>
                <a:ea typeface="+mn-lt"/>
                <a:cs typeface="+mn-lt"/>
              </a:rPr>
              <a:t>Budget:</a:t>
            </a:r>
            <a:r>
              <a:rPr lang="en-US" sz="1600">
                <a:latin typeface="Aptos"/>
                <a:ea typeface="+mn-lt"/>
                <a:cs typeface="+mn-lt"/>
              </a:rPr>
              <a:t> Capital cost approx. $210M</a:t>
            </a:r>
            <a:endParaRPr lang="en-US" sz="1600">
              <a:latin typeface="Aptos"/>
              <a:cs typeface="Times New Roman"/>
            </a:endParaRPr>
          </a:p>
          <a:p>
            <a:pPr>
              <a:buFont typeface="Arial"/>
              <a:buChar char="•"/>
            </a:pPr>
            <a:r>
              <a:rPr lang="en-US" sz="1600" b="1">
                <a:latin typeface="Aptos"/>
                <a:ea typeface="+mn-lt"/>
                <a:cs typeface="+mn-lt"/>
              </a:rPr>
              <a:t>Schedule: </a:t>
            </a:r>
            <a:r>
              <a:rPr lang="en-US" sz="1600">
                <a:latin typeface="Aptos"/>
                <a:ea typeface="+mn-lt"/>
                <a:cs typeface="+mn-lt"/>
              </a:rPr>
              <a:t>Commercial operation by Month 42</a:t>
            </a:r>
            <a:endParaRPr lang="en-US" sz="1600">
              <a:latin typeface="Aptos"/>
            </a:endParaRPr>
          </a:p>
          <a:p>
            <a:pPr>
              <a:buFont typeface="Arial"/>
              <a:buChar char="•"/>
            </a:pPr>
            <a:r>
              <a:rPr lang="en-US" sz="1600" b="1">
                <a:latin typeface="Aptos"/>
                <a:ea typeface="+mn-lt"/>
                <a:cs typeface="+mn-lt"/>
              </a:rPr>
              <a:t>Technical:</a:t>
            </a:r>
            <a:r>
              <a:rPr lang="en-US" sz="1600">
                <a:latin typeface="Aptos"/>
                <a:ea typeface="+mn-lt"/>
                <a:cs typeface="+mn-lt"/>
              </a:rPr>
              <a:t> Interconnection to 230 kV lines within 2 miles</a:t>
            </a:r>
            <a:endParaRPr lang="en-US" sz="1600">
              <a:latin typeface="Aptos"/>
            </a:endParaRPr>
          </a:p>
          <a:p>
            <a:pPr>
              <a:buFont typeface="Arial"/>
              <a:buChar char="•"/>
            </a:pPr>
            <a:r>
              <a:rPr lang="en-US" sz="1600" b="1">
                <a:latin typeface="Aptos"/>
                <a:ea typeface="+mn-lt"/>
                <a:cs typeface="+mn-lt"/>
              </a:rPr>
              <a:t>Environmental:</a:t>
            </a:r>
            <a:r>
              <a:rPr lang="en-US" sz="1600">
                <a:latin typeface="Aptos"/>
                <a:ea typeface="+mn-lt"/>
                <a:cs typeface="+mn-lt"/>
              </a:rPr>
              <a:t> No impact to protected areas; 100-ft buffer</a:t>
            </a:r>
            <a:endParaRPr lang="en-US" sz="1600">
              <a:latin typeface="Aptos"/>
            </a:endParaRPr>
          </a:p>
          <a:p>
            <a:pPr>
              <a:buFont typeface="Arial"/>
              <a:buChar char="•"/>
            </a:pPr>
            <a:r>
              <a:rPr lang="en-US" sz="1600" b="1">
                <a:latin typeface="Aptos"/>
                <a:ea typeface="+mn-lt"/>
                <a:cs typeface="+mn-lt"/>
              </a:rPr>
              <a:t>Regulatory: </a:t>
            </a:r>
            <a:r>
              <a:rPr lang="en-US" sz="1600">
                <a:latin typeface="Aptos"/>
                <a:ea typeface="+mn-lt"/>
                <a:cs typeface="+mn-lt"/>
              </a:rPr>
              <a:t>Compliance with state and local requirements</a:t>
            </a:r>
            <a:endParaRPr lang="en-US" sz="1600">
              <a:latin typeface="Aptos"/>
            </a:endParaRPr>
          </a:p>
        </p:txBody>
      </p:sp>
    </p:spTree>
    <p:extLst>
      <p:ext uri="{BB962C8B-B14F-4D97-AF65-F5344CB8AC3E}">
        <p14:creationId xmlns:p14="http://schemas.microsoft.com/office/powerpoint/2010/main" val="5399093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xEl>
                                              <p:pRg st="1" end="1"/>
                                            </p:txEl>
                                          </p:spTgt>
                                        </p:tgtEl>
                                        <p:attrNameLst>
                                          <p:attrName>style.visibility</p:attrName>
                                        </p:attrNameLst>
                                      </p:cBhvr>
                                      <p:to>
                                        <p:strVal val="visible"/>
                                      </p:to>
                                    </p:set>
                                    <p:animEffect transition="in" filter="fade">
                                      <p:cBhvr>
                                        <p:cTn id="42" dur="500"/>
                                        <p:tgtEl>
                                          <p:spTgt spid="11">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xEl>
                                              <p:pRg st="2" end="2"/>
                                            </p:txEl>
                                          </p:spTgt>
                                        </p:tgtEl>
                                        <p:attrNameLst>
                                          <p:attrName>style.visibility</p:attrName>
                                        </p:attrNameLst>
                                      </p:cBhvr>
                                      <p:to>
                                        <p:strVal val="visible"/>
                                      </p:to>
                                    </p:set>
                                    <p:animEffect transition="in" filter="fade">
                                      <p:cBhvr>
                                        <p:cTn id="47" dur="500"/>
                                        <p:tgtEl>
                                          <p:spTgt spid="11">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xEl>
                                              <p:pRg st="3" end="3"/>
                                            </p:txEl>
                                          </p:spTgt>
                                        </p:tgtEl>
                                        <p:attrNameLst>
                                          <p:attrName>style.visibility</p:attrName>
                                        </p:attrNameLst>
                                      </p:cBhvr>
                                      <p:to>
                                        <p:strVal val="visible"/>
                                      </p:to>
                                    </p:set>
                                    <p:animEffect transition="in" filter="fade">
                                      <p:cBhvr>
                                        <p:cTn id="52" dur="500"/>
                                        <p:tgtEl>
                                          <p:spTgt spid="11">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1">
                                            <p:txEl>
                                              <p:pRg st="4" end="4"/>
                                            </p:txEl>
                                          </p:spTgt>
                                        </p:tgtEl>
                                        <p:attrNameLst>
                                          <p:attrName>style.visibility</p:attrName>
                                        </p:attrNameLst>
                                      </p:cBhvr>
                                      <p:to>
                                        <p:strVal val="visible"/>
                                      </p:to>
                                    </p:set>
                                    <p:animEffect transition="in" filter="fade">
                                      <p:cBhvr>
                                        <p:cTn id="57" dur="500"/>
                                        <p:tgtEl>
                                          <p:spTgt spid="11">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1">
                                            <p:txEl>
                                              <p:pRg st="5" end="5"/>
                                            </p:txEl>
                                          </p:spTgt>
                                        </p:tgtEl>
                                        <p:attrNameLst>
                                          <p:attrName>style.visibility</p:attrName>
                                        </p:attrNameLst>
                                      </p:cBhvr>
                                      <p:to>
                                        <p:strVal val="visible"/>
                                      </p:to>
                                    </p:set>
                                    <p:animEffect transition="in" filter="fade">
                                      <p:cBhvr>
                                        <p:cTn id="62"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21104-F2AE-A0E0-B076-66F195CE9DD4}"/>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6B7BE9AF-DCED-5D39-2131-FD676DBC380E}"/>
              </a:ext>
            </a:extLst>
          </p:cNvPr>
          <p:cNvSpPr txBox="1">
            <a:spLocks/>
          </p:cNvSpPr>
          <p:nvPr/>
        </p:nvSpPr>
        <p:spPr>
          <a:xfrm>
            <a:off x="457200" y="438912"/>
            <a:ext cx="6249032" cy="98755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a:lstStyle>
          <a:p>
            <a:pPr>
              <a:spcAft>
                <a:spcPts val="600"/>
              </a:spcAft>
            </a:pPr>
            <a:r>
              <a:rPr lang="en-US" sz="3600" b="1">
                <a:solidFill>
                  <a:schemeClr val="accent4">
                    <a:lumMod val="49000"/>
                  </a:schemeClr>
                </a:solidFill>
                <a:latin typeface="Biome"/>
                <a:cs typeface="Biome"/>
              </a:rPr>
              <a:t>Budgeting &amp; Resources   </a:t>
            </a:r>
          </a:p>
        </p:txBody>
      </p:sp>
      <p:sp>
        <p:nvSpPr>
          <p:cNvPr id="18" name="Date Placeholder 3">
            <a:extLst>
              <a:ext uri="{FF2B5EF4-FFF2-40B4-BE49-F238E27FC236}">
                <a16:creationId xmlns:a16="http://schemas.microsoft.com/office/drawing/2014/main" id="{DCF5A345-270C-099B-9CF3-DA1EC9F40585}"/>
              </a:ext>
            </a:extLst>
          </p:cNvPr>
          <p:cNvSpPr>
            <a:spLocks noGrp="1"/>
          </p:cNvSpPr>
          <p:nvPr>
            <p:ph type="dt" sz="half" idx="15"/>
          </p:nvPr>
        </p:nvSpPr>
        <p:spPr>
          <a:xfrm>
            <a:off x="457200" y="6397586"/>
            <a:ext cx="3307438" cy="365125"/>
          </a:xfrm>
        </p:spPr>
        <p:txBody>
          <a:bodyPr vert="horz" lIns="91440" tIns="45720" rIns="91440" bIns="45720" rtlCol="0" anchor="ctr">
            <a:normAutofit/>
          </a:bodyPr>
          <a:lstStyle/>
          <a:p>
            <a:pPr>
              <a:spcAft>
                <a:spcPts val="600"/>
              </a:spcAft>
            </a:pPr>
            <a:fld id="{1EDE0F73-15D4-4675-AC83-2116B6713E0D}" type="datetime1">
              <a:rPr lang="en-US" smtClean="0"/>
              <a:pPr>
                <a:spcAft>
                  <a:spcPts val="600"/>
                </a:spcAft>
              </a:pPr>
              <a:t>9/18/2026</a:t>
            </a:fld>
            <a:endParaRPr lang="en-US"/>
          </a:p>
        </p:txBody>
      </p:sp>
      <p:sp>
        <p:nvSpPr>
          <p:cNvPr id="33" name="Footer Placeholder 4">
            <a:extLst>
              <a:ext uri="{FF2B5EF4-FFF2-40B4-BE49-F238E27FC236}">
                <a16:creationId xmlns:a16="http://schemas.microsoft.com/office/drawing/2014/main" id="{36CF2EB8-2599-C4D1-6A2D-FBCF126A3C6F}"/>
              </a:ext>
            </a:extLst>
          </p:cNvPr>
          <p:cNvSpPr>
            <a:spLocks noGrp="1"/>
          </p:cNvSpPr>
          <p:nvPr>
            <p:ph type="ftr" sz="quarter" idx="16"/>
          </p:nvPr>
        </p:nvSpPr>
        <p:spPr>
          <a:xfrm>
            <a:off x="3950591" y="6397490"/>
            <a:ext cx="2755641" cy="365125"/>
          </a:xfrm>
        </p:spPr>
        <p:txBody>
          <a:bodyPr/>
          <a:lstStyle/>
          <a:p>
            <a:pPr>
              <a:spcAft>
                <a:spcPts val="600"/>
              </a:spcAft>
            </a:pPr>
            <a:r>
              <a:rPr lang="en-US"/>
              <a:t>Sample Footer Text</a:t>
            </a:r>
          </a:p>
        </p:txBody>
      </p:sp>
      <p:sp>
        <p:nvSpPr>
          <p:cNvPr id="22" name="Slide Number Placeholder 5">
            <a:extLst>
              <a:ext uri="{FF2B5EF4-FFF2-40B4-BE49-F238E27FC236}">
                <a16:creationId xmlns:a16="http://schemas.microsoft.com/office/drawing/2014/main" id="{A593E43C-302F-F9E5-2BDE-76775AB15B05}"/>
              </a:ext>
            </a:extLst>
          </p:cNvPr>
          <p:cNvSpPr>
            <a:spLocks noGrp="1"/>
          </p:cNvSpPr>
          <p:nvPr>
            <p:ph type="sldNum" sz="quarter" idx="17"/>
          </p:nvPr>
        </p:nvSpPr>
        <p:spPr>
          <a:xfrm>
            <a:off x="6706232" y="6397490"/>
            <a:ext cx="429207"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6</a:t>
            </a:fld>
            <a:endParaRPr lang="en-US"/>
          </a:p>
        </p:txBody>
      </p:sp>
      <p:pic>
        <p:nvPicPr>
          <p:cNvPr id="8" name="Picture Placeholder 7">
            <a:extLst>
              <a:ext uri="{FF2B5EF4-FFF2-40B4-BE49-F238E27FC236}">
                <a16:creationId xmlns:a16="http://schemas.microsoft.com/office/drawing/2014/main" id="{8D3B79A0-CB5C-9446-F9A2-6E5A7875A871}"/>
              </a:ext>
            </a:extLst>
          </p:cNvPr>
          <p:cNvPicPr>
            <a:picLocks noGrp="1" noChangeAspect="1"/>
          </p:cNvPicPr>
          <p:nvPr>
            <p:ph type="pic" sz="quarter" idx="13"/>
          </p:nvPr>
        </p:nvPicPr>
        <p:blipFill>
          <a:blip r:embed="rId4">
            <a:extLst>
              <a:ext uri="{837473B0-CC2E-450A-ABE3-18F120FF3D39}">
                <a1611:picAttrSrcUrl xmlns:a1611="http://schemas.microsoft.com/office/drawing/2016/11/main" r:id="rId5"/>
              </a:ext>
            </a:extLst>
          </a:blip>
          <a:stretch/>
        </p:blipFill>
        <p:spPr>
          <a:xfrm>
            <a:off x="7400544" y="1338727"/>
            <a:ext cx="4791456" cy="4180545"/>
          </a:xfrm>
          <a:noFill/>
        </p:spPr>
      </p:pic>
      <p:graphicFrame>
        <p:nvGraphicFramePr>
          <p:cNvPr id="9" name="Table 8">
            <a:extLst>
              <a:ext uri="{FF2B5EF4-FFF2-40B4-BE49-F238E27FC236}">
                <a16:creationId xmlns:a16="http://schemas.microsoft.com/office/drawing/2014/main" id="{589BE760-D3EE-A70B-F076-AF0544069B07}"/>
              </a:ext>
            </a:extLst>
          </p:cNvPr>
          <p:cNvGraphicFramePr>
            <a:graphicFrameLocks noGrp="1"/>
          </p:cNvGraphicFramePr>
          <p:nvPr>
            <p:extLst>
              <p:ext uri="{D42A27DB-BD31-4B8C-83A1-F6EECF244321}">
                <p14:modId xmlns:p14="http://schemas.microsoft.com/office/powerpoint/2010/main" val="998812135"/>
              </p:ext>
            </p:extLst>
          </p:nvPr>
        </p:nvGraphicFramePr>
        <p:xfrm>
          <a:off x="455762" y="2178331"/>
          <a:ext cx="6248398" cy="3709035"/>
        </p:xfrm>
        <a:graphic>
          <a:graphicData uri="http://schemas.openxmlformats.org/drawingml/2006/table">
            <a:tbl>
              <a:tblPr firstRow="1" bandRow="1">
                <a:tableStyleId>{5C22544A-7EE6-4342-B048-85BDC9FD1C3A}</a:tableStyleId>
              </a:tblPr>
              <a:tblGrid>
                <a:gridCol w="732692">
                  <a:extLst>
                    <a:ext uri="{9D8B030D-6E8A-4147-A177-3AD203B41FA5}">
                      <a16:colId xmlns:a16="http://schemas.microsoft.com/office/drawing/2014/main" val="1196884399"/>
                    </a:ext>
                  </a:extLst>
                </a:gridCol>
                <a:gridCol w="3026507">
                  <a:extLst>
                    <a:ext uri="{9D8B030D-6E8A-4147-A177-3AD203B41FA5}">
                      <a16:colId xmlns:a16="http://schemas.microsoft.com/office/drawing/2014/main" val="3392332168"/>
                    </a:ext>
                  </a:extLst>
                </a:gridCol>
                <a:gridCol w="1384299">
                  <a:extLst>
                    <a:ext uri="{9D8B030D-6E8A-4147-A177-3AD203B41FA5}">
                      <a16:colId xmlns:a16="http://schemas.microsoft.com/office/drawing/2014/main" val="2859163211"/>
                    </a:ext>
                  </a:extLst>
                </a:gridCol>
                <a:gridCol w="1104900">
                  <a:extLst>
                    <a:ext uri="{9D8B030D-6E8A-4147-A177-3AD203B41FA5}">
                      <a16:colId xmlns:a16="http://schemas.microsoft.com/office/drawing/2014/main" val="2983776435"/>
                    </a:ext>
                  </a:extLst>
                </a:gridCol>
              </a:tblGrid>
              <a:tr h="491744">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WBS L1</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Category</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Category Total</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 of Total</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2903633256"/>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1</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Project Management &amp; Governance</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$77,222,200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14.12%</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923661127"/>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2</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Site Control, Environmental &amp; Permitting</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$5,900,000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1.08%</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991177996"/>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3</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Engineering &amp; Design</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$5,500,000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1.01%</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308250663"/>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4</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Financing, PPA &amp; Tax Equity Structure</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$3,150,000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0.58%</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4246699136"/>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5</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Procurement &amp; Contractin</a:t>
                      </a:r>
                      <a:r>
                        <a:rPr lang="en-US" sz="1300" b="1" i="0" kern="1200">
                          <a:solidFill>
                            <a:srgbClr val="FFFFFF"/>
                          </a:solidFill>
                          <a:effectLst/>
                          <a:latin typeface="Calibri" panose="020F0502020204030204" pitchFamily="34" charset="0"/>
                        </a:rPr>
                        <a:t>g</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$5,400,000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0.99%</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3580409258"/>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6</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Civil &amp; Structural Works</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$62,350,000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11.40%</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3554080571"/>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7</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Electrical Systems &amp; BESS</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$346,698,000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63.40%</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2704566681"/>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8</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SCADA, Communications &amp; Controls</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$11,500,000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2.10%</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2980109402"/>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9</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Testing, Commissioning &amp; Interconnection</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$20,500,000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3.75%</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2959111972"/>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10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Handover, Documentation &amp; Closeout</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$5,900,000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1.08%</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1065606740"/>
                  </a:ext>
                </a:extLst>
              </a:tr>
              <a:tr h="292481">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INC</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l"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Incidentals</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$2,750,000</a:t>
                      </a:r>
                      <a:endParaRPr lang="en-US">
                        <a:effectLst/>
                      </a:endParaRPr>
                    </a:p>
                  </a:txBody>
                  <a:tcPr marL="0" marR="0" marT="0" marB="0" anchor="ctr">
                    <a:lnL>
                      <a:noFill/>
                    </a:lnL>
                    <a:lnR>
                      <a:noFill/>
                    </a:lnR>
                    <a:lnT>
                      <a:noFill/>
                    </a:lnT>
                    <a:lnB>
                      <a:noFill/>
                    </a:lnB>
                    <a:solidFill>
                      <a:schemeClr val="accent3">
                        <a:lumMod val="50000"/>
                      </a:schemeClr>
                    </a:solidFill>
                  </a:tcPr>
                </a:tc>
                <a:tc>
                  <a:txBody>
                    <a:bodyPr/>
                    <a:lstStyle/>
                    <a:p>
                      <a:pPr marL="0" algn="ctr" rtl="0" eaLnBrk="1" latinLnBrk="0" hangingPunct="1">
                        <a:buNone/>
                      </a:pPr>
                      <a:r>
                        <a:rPr lang="en-US" sz="1300" b="1" i="0" kern="1200">
                          <a:solidFill>
                            <a:srgbClr val="FFFFFF"/>
                          </a:solidFill>
                          <a:effectLst/>
                          <a:latin typeface="Calibri" panose="020F0502020204030204" pitchFamily="34" charset="0"/>
                          <a:ea typeface="Calibri" panose="020F0502020204030204" pitchFamily="34" charset="0"/>
                          <a:cs typeface="Calibri" panose="020F0502020204030204" pitchFamily="34" charset="0"/>
                        </a:rPr>
                        <a:t>0.50%</a:t>
                      </a:r>
                      <a:endParaRPr lang="en-US">
                        <a:effectLst/>
                      </a:endParaRPr>
                    </a:p>
                  </a:txBody>
                  <a:tcPr marL="0" marR="0" marT="0" marB="0" anchor="ctr">
                    <a:lnL>
                      <a:noFill/>
                    </a:lnL>
                    <a:lnR>
                      <a:noFill/>
                    </a:lnR>
                    <a:lnT>
                      <a:noFill/>
                    </a:lnT>
                    <a:lnB>
                      <a:noFill/>
                    </a:lnB>
                    <a:solidFill>
                      <a:schemeClr val="accent3">
                        <a:lumMod val="50000"/>
                      </a:schemeClr>
                    </a:solidFill>
                  </a:tcPr>
                </a:tc>
                <a:extLst>
                  <a:ext uri="{0D108BD9-81ED-4DB2-BD59-A6C34878D82A}">
                    <a16:rowId xmlns:a16="http://schemas.microsoft.com/office/drawing/2014/main" val="704119452"/>
                  </a:ext>
                </a:extLst>
              </a:tr>
            </a:tbl>
          </a:graphicData>
        </a:graphic>
      </p:graphicFrame>
      <p:sp>
        <p:nvSpPr>
          <p:cNvPr id="10" name="TextBox 9">
            <a:extLst>
              <a:ext uri="{FF2B5EF4-FFF2-40B4-BE49-F238E27FC236}">
                <a16:creationId xmlns:a16="http://schemas.microsoft.com/office/drawing/2014/main" id="{3620F4B3-4B98-68FC-3252-22022B36D0F7}"/>
              </a:ext>
            </a:extLst>
          </p:cNvPr>
          <p:cNvSpPr txBox="1"/>
          <p:nvPr/>
        </p:nvSpPr>
        <p:spPr>
          <a:xfrm>
            <a:off x="3410224" y="6023558"/>
            <a:ext cx="43928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3">
                    <a:lumMod val="49000"/>
                  </a:schemeClr>
                </a:solidFill>
                <a:ea typeface="+mn-lt"/>
                <a:cs typeface="+mn-lt"/>
              </a:rPr>
              <a:t>Total Project Cost: $546,870,200</a:t>
            </a:r>
            <a:endParaRPr lang="en-US">
              <a:solidFill>
                <a:schemeClr val="accent3">
                  <a:lumMod val="49000"/>
                </a:schemeClr>
              </a:solidFill>
            </a:endParaRPr>
          </a:p>
        </p:txBody>
      </p:sp>
    </p:spTree>
    <p:extLst>
      <p:ext uri="{BB962C8B-B14F-4D97-AF65-F5344CB8AC3E}">
        <p14:creationId xmlns:p14="http://schemas.microsoft.com/office/powerpoint/2010/main" val="1290598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28CE5-6367-151A-94E2-BB39F0163361}"/>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939F2650-8FC5-3D36-D827-831227BEF309}"/>
              </a:ext>
            </a:extLst>
          </p:cNvPr>
          <p:cNvSpPr/>
          <p:nvPr/>
        </p:nvSpPr>
        <p:spPr>
          <a:xfrm>
            <a:off x="3541876" y="-1"/>
            <a:ext cx="8650124" cy="6858000"/>
          </a:xfrm>
          <a:prstGeom prst="rect">
            <a:avLst/>
          </a:prstGeom>
          <a:solidFill>
            <a:srgbClr val="F9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B16BB9A8-4D13-0219-D2DC-80501B6B928E}"/>
              </a:ext>
            </a:extLst>
          </p:cNvPr>
          <p:cNvSpPr txBox="1">
            <a:spLocks/>
          </p:cNvSpPr>
          <p:nvPr/>
        </p:nvSpPr>
        <p:spPr>
          <a:xfrm>
            <a:off x="3886972" y="212207"/>
            <a:ext cx="7084142" cy="65023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a:lstStyle>
          <a:p>
            <a:r>
              <a:rPr lang="en-US" b="1">
                <a:solidFill>
                  <a:schemeClr val="accent1">
                    <a:lumMod val="49000"/>
                  </a:schemeClr>
                </a:solidFill>
                <a:latin typeface="Biome"/>
                <a:cs typeface="Times New Roman"/>
              </a:rPr>
              <a:t>Stakeholders &amp; Governance </a:t>
            </a:r>
            <a:r>
              <a:rPr lang="en-US" b="1">
                <a:latin typeface="Biome"/>
                <a:cs typeface="Times New Roman"/>
              </a:rPr>
              <a:t> </a:t>
            </a:r>
          </a:p>
        </p:txBody>
      </p:sp>
      <p:graphicFrame>
        <p:nvGraphicFramePr>
          <p:cNvPr id="8" name="Table 7">
            <a:extLst>
              <a:ext uri="{FF2B5EF4-FFF2-40B4-BE49-F238E27FC236}">
                <a16:creationId xmlns:a16="http://schemas.microsoft.com/office/drawing/2014/main" id="{B176ED2B-FDCE-BD17-DB84-8C1CA89EACF9}"/>
              </a:ext>
            </a:extLst>
          </p:cNvPr>
          <p:cNvGraphicFramePr>
            <a:graphicFrameLocks noGrp="1"/>
          </p:cNvGraphicFramePr>
          <p:nvPr>
            <p:extLst>
              <p:ext uri="{D42A27DB-BD31-4B8C-83A1-F6EECF244321}">
                <p14:modId xmlns:p14="http://schemas.microsoft.com/office/powerpoint/2010/main" val="3837680009"/>
              </p:ext>
            </p:extLst>
          </p:nvPr>
        </p:nvGraphicFramePr>
        <p:xfrm>
          <a:off x="3996479" y="1309518"/>
          <a:ext cx="7691075" cy="2458028"/>
        </p:xfrm>
        <a:graphic>
          <a:graphicData uri="http://schemas.openxmlformats.org/drawingml/2006/table">
            <a:tbl>
              <a:tblPr firstRow="1" firstCol="1"/>
              <a:tblGrid>
                <a:gridCol w="2365843">
                  <a:extLst>
                    <a:ext uri="{9D8B030D-6E8A-4147-A177-3AD203B41FA5}">
                      <a16:colId xmlns:a16="http://schemas.microsoft.com/office/drawing/2014/main" val="530888063"/>
                    </a:ext>
                  </a:extLst>
                </a:gridCol>
                <a:gridCol w="690629">
                  <a:extLst>
                    <a:ext uri="{9D8B030D-6E8A-4147-A177-3AD203B41FA5}">
                      <a16:colId xmlns:a16="http://schemas.microsoft.com/office/drawing/2014/main" val="1329849537"/>
                    </a:ext>
                  </a:extLst>
                </a:gridCol>
                <a:gridCol w="4634603">
                  <a:extLst>
                    <a:ext uri="{9D8B030D-6E8A-4147-A177-3AD203B41FA5}">
                      <a16:colId xmlns:a16="http://schemas.microsoft.com/office/drawing/2014/main" val="510815401"/>
                    </a:ext>
                  </a:extLst>
                </a:gridCol>
              </a:tblGrid>
              <a:tr h="190500">
                <a:tc>
                  <a:txBody>
                    <a:bodyPr/>
                    <a:lstStyle/>
                    <a:p>
                      <a:pPr algn="ct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Stakeholder</a:t>
                      </a:r>
                      <a:endParaRPr lang="en-US" sz="1200">
                        <a:effectLst/>
                        <a:latin typeface="Aptos"/>
                        <a:ea typeface="Times New Roman" panose="02020603050405020304" pitchFamily="18" charset="0"/>
                        <a:cs typeface="Times New Roman"/>
                      </a:endParaRPr>
                    </a:p>
                  </a:txBody>
                  <a:tcPr marL="68580" marR="6858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tc>
                  <a:txBody>
                    <a:bodyPr/>
                    <a:lstStyle/>
                    <a:p>
                      <a:pPr algn="ct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Priority</a:t>
                      </a:r>
                      <a:endParaRPr lang="en-US" sz="1200">
                        <a:effectLst/>
                        <a:latin typeface="Aptos"/>
                        <a:ea typeface="Times New Roman" panose="02020603050405020304" pitchFamily="18" charset="0"/>
                        <a:cs typeface="Times New Roman"/>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tc>
                  <a:txBody>
                    <a:bodyPr/>
                    <a:lstStyle/>
                    <a:p>
                      <a:pPr algn="ct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Interest in Project</a:t>
                      </a:r>
                      <a:endParaRPr lang="en-US" sz="1200">
                        <a:effectLst/>
                        <a:latin typeface="Aptos"/>
                        <a:ea typeface="Times New Roman" panose="02020603050405020304" pitchFamily="18" charset="0"/>
                        <a:cs typeface="Times New Roman"/>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679101927"/>
                  </a:ext>
                </a:extLst>
              </a:tr>
              <a:tr h="190500">
                <a:tc>
                  <a:txBody>
                    <a:bodyPr/>
                    <a:lstStyle/>
                    <a:p>
                      <a:pP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Amazon Leadership</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tc>
                  <a:txBody>
                    <a:bodyPr/>
                    <a:lstStyle/>
                    <a:p>
                      <a:pPr algn="ct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Key</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tc>
                  <a:txBody>
                    <a:bodyPr/>
                    <a:lstStyle/>
                    <a:p>
                      <a:pP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Achieving project goals – Impact &amp; Interest </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3784031476"/>
                  </a:ext>
                </a:extLst>
              </a:tr>
              <a:tr h="190500">
                <a:tc>
                  <a:txBody>
                    <a:bodyPr/>
                    <a:lstStyle/>
                    <a:p>
                      <a:pP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AWS Data Center Operations</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tc>
                  <a:txBody>
                    <a:bodyPr/>
                    <a:lstStyle/>
                    <a:p>
                      <a:pPr algn="ct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Key</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tc>
                  <a:txBody>
                    <a:bodyPr/>
                    <a:lstStyle/>
                    <a:p>
                      <a:pP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Reliable power supply, 24/7 dispatchability – Impact &amp; Interest </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316384815"/>
                  </a:ext>
                </a:extLst>
              </a:tr>
              <a:tr h="211206">
                <a:tc>
                  <a:txBody>
                    <a:bodyPr/>
                    <a:lstStyle/>
                    <a:p>
                      <a:pP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Contractors</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tc>
                  <a:txBody>
                    <a:bodyPr/>
                    <a:lstStyle/>
                    <a:p>
                      <a:pPr algn="ct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Key</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tc>
                  <a:txBody>
                    <a:bodyPr/>
                    <a:lstStyle/>
                    <a:p>
                      <a:pP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Scope delivery, construction quality and safety Impact and Interest </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3572460353"/>
                  </a:ext>
                </a:extLst>
              </a:tr>
              <a:tr h="190500">
                <a:tc>
                  <a:txBody>
                    <a:bodyPr/>
                    <a:lstStyle/>
                    <a:p>
                      <a:pP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Utility/Grid Operator</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tc>
                  <a:txBody>
                    <a:bodyPr/>
                    <a:lstStyle/>
                    <a:p>
                      <a:pPr algn="ct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Key</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tc>
                  <a:txBody>
                    <a:bodyPr/>
                    <a:lstStyle/>
                    <a:p>
                      <a:pP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Grid interconnection success, regulatory compliance – Impact and Interest </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1857962498"/>
                  </a:ext>
                </a:extLst>
              </a:tr>
              <a:tr h="190500">
                <a:tc>
                  <a:txBody>
                    <a:bodyPr/>
                    <a:lstStyle/>
                    <a:p>
                      <a:pP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Local Government/ Regulators</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tc>
                  <a:txBody>
                    <a:bodyPr/>
                    <a:lstStyle/>
                    <a:p>
                      <a:pPr algn="ct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Key</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tc>
                  <a:txBody>
                    <a:bodyPr/>
                    <a:lstStyle/>
                    <a:p>
                      <a:pP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Tax revenue generation, legal and environmental </a:t>
                      </a:r>
                      <a:r>
                        <a:rPr lang="en-US" sz="1200" b="0" i="0" u="none" strike="noStrike" noProof="0">
                          <a:solidFill>
                            <a:srgbClr val="000000"/>
                          </a:solidFill>
                          <a:effectLst/>
                          <a:latin typeface="Aptos"/>
                        </a:rPr>
                        <a:t>compliance )Impact and Interest </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379493193"/>
                  </a:ext>
                </a:extLst>
              </a:tr>
              <a:tr h="190500">
                <a:tc>
                  <a:txBody>
                    <a:bodyPr/>
                    <a:lstStyle/>
                    <a:p>
                      <a:pP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Local Community/ Landowners</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tc>
                  <a:txBody>
                    <a:bodyPr/>
                    <a:lstStyle/>
                    <a:p>
                      <a:pPr algn="ct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Other</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tc>
                  <a:txBody>
                    <a:bodyPr/>
                    <a:lstStyle/>
                    <a:p>
                      <a:pP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Economic benefits, minimal disruption Impact and Interest </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2595166363"/>
                  </a:ext>
                </a:extLst>
              </a:tr>
              <a:tr h="190500">
                <a:tc>
                  <a:txBody>
                    <a:bodyPr/>
                    <a:lstStyle/>
                    <a:p>
                      <a:pP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Labor Unions/Trades</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tc>
                  <a:txBody>
                    <a:bodyPr/>
                    <a:lstStyle/>
                    <a:p>
                      <a:pPr algn="ct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Other</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tc>
                  <a:txBody>
                    <a:bodyPr/>
                    <a:lstStyle/>
                    <a:p>
                      <a:pP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Hiring opportunities, safe working conditions, fair wages  Impact and Interest </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125285756"/>
                  </a:ext>
                </a:extLst>
              </a:tr>
              <a:tr h="190500">
                <a:tc>
                  <a:txBody>
                    <a:bodyPr/>
                    <a:lstStyle/>
                    <a:p>
                      <a:pPr>
                        <a:lnSpc>
                          <a:spcPct val="116000"/>
                        </a:lnSpc>
                        <a:spcAft>
                          <a:spcPts val="800"/>
                        </a:spcAft>
                        <a:buNone/>
                      </a:pPr>
                      <a:r>
                        <a:rPr lang="en-US" sz="1200" b="1">
                          <a:solidFill>
                            <a:srgbClr val="FFFFFF"/>
                          </a:solidFill>
                          <a:effectLst/>
                          <a:latin typeface="Aptos"/>
                          <a:ea typeface="Times New Roman" panose="02020603050405020304" pitchFamily="18" charset="0"/>
                          <a:cs typeface="Times New Roman"/>
                        </a:rPr>
                        <a:t>Environmental NGOs</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2060"/>
                    </a:solidFill>
                  </a:tcPr>
                </a:tc>
                <a:tc>
                  <a:txBody>
                    <a:bodyPr/>
                    <a:lstStyle/>
                    <a:p>
                      <a:pPr algn="ct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Other</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tc>
                  <a:txBody>
                    <a:bodyPr/>
                    <a:lstStyle/>
                    <a:p>
                      <a:pPr>
                        <a:lnSpc>
                          <a:spcPct val="116000"/>
                        </a:lnSpc>
                        <a:spcAft>
                          <a:spcPts val="800"/>
                        </a:spcAft>
                        <a:buNone/>
                      </a:pPr>
                      <a:r>
                        <a:rPr lang="en-US" sz="1200">
                          <a:solidFill>
                            <a:srgbClr val="000000"/>
                          </a:solidFill>
                          <a:effectLst/>
                          <a:latin typeface="Aptos"/>
                          <a:ea typeface="Times New Roman" panose="02020603050405020304" pitchFamily="18" charset="0"/>
                          <a:cs typeface="Times New Roman"/>
                        </a:rPr>
                        <a:t>Biodiversity protection, habitat preservation</a:t>
                      </a:r>
                      <a:endParaRPr lang="en-US" sz="1200">
                        <a:effectLst/>
                        <a:latin typeface="Aptos"/>
                        <a:ea typeface="Times New Roman" panose="02020603050405020304" pitchFamily="18" charset="0"/>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1E4F5"/>
                    </a:solidFill>
                  </a:tcPr>
                </a:tc>
                <a:extLst>
                  <a:ext uri="{0D108BD9-81ED-4DB2-BD59-A6C34878D82A}">
                    <a16:rowId xmlns:a16="http://schemas.microsoft.com/office/drawing/2014/main" val="4143747733"/>
                  </a:ext>
                </a:extLst>
              </a:tr>
            </a:tbl>
          </a:graphicData>
        </a:graphic>
      </p:graphicFrame>
      <p:sp>
        <p:nvSpPr>
          <p:cNvPr id="18" name="Title 1">
            <a:extLst>
              <a:ext uri="{FF2B5EF4-FFF2-40B4-BE49-F238E27FC236}">
                <a16:creationId xmlns:a16="http://schemas.microsoft.com/office/drawing/2014/main" id="{1D12141C-74A4-FA88-CB0B-2B022CB259AE}"/>
              </a:ext>
            </a:extLst>
          </p:cNvPr>
          <p:cNvSpPr txBox="1">
            <a:spLocks/>
          </p:cNvSpPr>
          <p:nvPr/>
        </p:nvSpPr>
        <p:spPr>
          <a:xfrm>
            <a:off x="3980768" y="3941099"/>
            <a:ext cx="2448516" cy="396740"/>
          </a:xfrm>
          <a:prstGeom prst="rect">
            <a:avLst/>
          </a:prstGeom>
        </p:spPr>
        <p:txBody>
          <a:bodyPr vert="horz" lIns="91440" tIns="45720" rIns="91440" bIns="45720" rtlCol="0" anchor="b">
            <a:noAutofit/>
          </a:bodyPr>
          <a:lstStyle>
            <a:defPPr>
              <a:defRPr lang="en-US"/>
            </a:defPPr>
            <a:lvl1pPr marL="0" algn="l" defTabSz="914400" rtl="0" eaLnBrk="1" latinLnBrk="0" hangingPunct="1">
              <a:lnSpc>
                <a:spcPct val="90000"/>
              </a:lnSpc>
              <a:spcBef>
                <a:spcPct val="0"/>
              </a:spcBef>
              <a:buNone/>
              <a:defRPr sz="3200" b="0" kern="120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a:solidFill>
                  <a:schemeClr val="accent2"/>
                </a:solidFill>
                <a:latin typeface="Biome"/>
                <a:cs typeface="Biome"/>
              </a:rPr>
              <a:t>Governance</a:t>
            </a:r>
            <a:endParaRPr lang="en-US">
              <a:solidFill>
                <a:schemeClr val="accent2"/>
              </a:solidFill>
            </a:endParaRPr>
          </a:p>
        </p:txBody>
      </p:sp>
      <p:sp>
        <p:nvSpPr>
          <p:cNvPr id="19" name="Title 1">
            <a:extLst>
              <a:ext uri="{FF2B5EF4-FFF2-40B4-BE49-F238E27FC236}">
                <a16:creationId xmlns:a16="http://schemas.microsoft.com/office/drawing/2014/main" id="{AF6ACA3D-1A7E-14CB-E022-436DE1833017}"/>
              </a:ext>
            </a:extLst>
          </p:cNvPr>
          <p:cNvSpPr txBox="1">
            <a:spLocks/>
          </p:cNvSpPr>
          <p:nvPr/>
        </p:nvSpPr>
        <p:spPr>
          <a:xfrm>
            <a:off x="3980768" y="867646"/>
            <a:ext cx="6560668" cy="433251"/>
          </a:xfrm>
          <a:prstGeom prst="rect">
            <a:avLst/>
          </a:prstGeom>
        </p:spPr>
        <p:txBody>
          <a:bodyPr vert="horz" lIns="91440" tIns="45720" rIns="91440" bIns="45720" rtlCol="0" anchor="b">
            <a:noAutofit/>
          </a:bodyPr>
          <a:lstStyle>
            <a:defPPr>
              <a:defRPr lang="en-US"/>
            </a:defPPr>
            <a:lvl1pPr marL="0" algn="l" defTabSz="914400" rtl="0" eaLnBrk="1" latinLnBrk="0" hangingPunct="1">
              <a:lnSpc>
                <a:spcPct val="90000"/>
              </a:lnSpc>
              <a:spcBef>
                <a:spcPct val="0"/>
              </a:spcBef>
              <a:buNone/>
              <a:defRPr sz="3200" b="0" kern="120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a:solidFill>
                  <a:schemeClr val="accent4"/>
                </a:solidFill>
                <a:latin typeface="Biome"/>
                <a:cs typeface="Biome"/>
              </a:rPr>
              <a:t>Stakeholders</a:t>
            </a:r>
            <a:endParaRPr lang="en-US" sz="2400" b="1">
              <a:solidFill>
                <a:schemeClr val="accent2"/>
              </a:solidFill>
              <a:latin typeface="Biome"/>
              <a:cs typeface="Biome"/>
            </a:endParaRPr>
          </a:p>
        </p:txBody>
      </p:sp>
      <p:grpSp>
        <p:nvGrpSpPr>
          <p:cNvPr id="59" name="Group 58">
            <a:extLst>
              <a:ext uri="{FF2B5EF4-FFF2-40B4-BE49-F238E27FC236}">
                <a16:creationId xmlns:a16="http://schemas.microsoft.com/office/drawing/2014/main" id="{FBC5A3CC-8DE9-D959-E0BA-9585D1C7895B}"/>
              </a:ext>
            </a:extLst>
          </p:cNvPr>
          <p:cNvGrpSpPr/>
          <p:nvPr/>
        </p:nvGrpSpPr>
        <p:grpSpPr>
          <a:xfrm>
            <a:off x="4254575" y="4067513"/>
            <a:ext cx="7238499" cy="2413265"/>
            <a:chOff x="4128389" y="4135236"/>
            <a:chExt cx="7286587" cy="2114042"/>
          </a:xfrm>
        </p:grpSpPr>
        <p:grpSp>
          <p:nvGrpSpPr>
            <p:cNvPr id="11" name="Group 10">
              <a:extLst>
                <a:ext uri="{FF2B5EF4-FFF2-40B4-BE49-F238E27FC236}">
                  <a16:creationId xmlns:a16="http://schemas.microsoft.com/office/drawing/2014/main" id="{888FE2F7-9DA2-91CC-8924-E8F930378EE8}"/>
                </a:ext>
              </a:extLst>
            </p:cNvPr>
            <p:cNvGrpSpPr/>
            <p:nvPr/>
          </p:nvGrpSpPr>
          <p:grpSpPr>
            <a:xfrm>
              <a:off x="6727572" y="4135236"/>
              <a:ext cx="2079967" cy="555290"/>
              <a:chOff x="5656147" y="4607119"/>
              <a:chExt cx="1972235" cy="555290"/>
            </a:xfrm>
          </p:grpSpPr>
          <p:sp>
            <p:nvSpPr>
              <p:cNvPr id="9" name="Rectangle 8">
                <a:extLst>
                  <a:ext uri="{FF2B5EF4-FFF2-40B4-BE49-F238E27FC236}">
                    <a16:creationId xmlns:a16="http://schemas.microsoft.com/office/drawing/2014/main" id="{181510C2-0A4B-6A9F-B36D-DC7BAE479EBD}"/>
                  </a:ext>
                </a:extLst>
              </p:cNvPr>
              <p:cNvSpPr/>
              <p:nvPr/>
            </p:nvSpPr>
            <p:spPr>
              <a:xfrm>
                <a:off x="5656147" y="4607119"/>
                <a:ext cx="1972235" cy="304251"/>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ct val="116000"/>
                  </a:lnSpc>
                  <a:spcAft>
                    <a:spcPts val="800"/>
                  </a:spcAft>
                </a:pPr>
                <a:r>
                  <a:rPr lang="en-US" sz="1200" b="1">
                    <a:solidFill>
                      <a:schemeClr val="bg1"/>
                    </a:solidFill>
                    <a:latin typeface="Aptos" panose="020B0004020202020204" pitchFamily="34" charset="0"/>
                    <a:cs typeface="Times New Roman" panose="02020603050405020304" pitchFamily="18" charset="0"/>
                  </a:rPr>
                  <a:t>Executive Sponsor</a:t>
                </a:r>
              </a:p>
            </p:txBody>
          </p:sp>
          <p:sp>
            <p:nvSpPr>
              <p:cNvPr id="10" name="Rectangle 9">
                <a:extLst>
                  <a:ext uri="{FF2B5EF4-FFF2-40B4-BE49-F238E27FC236}">
                    <a16:creationId xmlns:a16="http://schemas.microsoft.com/office/drawing/2014/main" id="{FEBE9FDC-3864-19BE-4496-C15B329D406D}"/>
                  </a:ext>
                </a:extLst>
              </p:cNvPr>
              <p:cNvSpPr/>
              <p:nvPr/>
            </p:nvSpPr>
            <p:spPr>
              <a:xfrm>
                <a:off x="5668139" y="4909604"/>
                <a:ext cx="1960012" cy="25280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lnSpc>
                    <a:spcPct val="116000"/>
                  </a:lnSpc>
                  <a:spcAft>
                    <a:spcPts val="800"/>
                  </a:spcAft>
                </a:pPr>
                <a:r>
                  <a:rPr lang="en-US" sz="1200">
                    <a:solidFill>
                      <a:srgbClr val="000000"/>
                    </a:solidFill>
                    <a:latin typeface="Aptos" panose="020B0004020202020204" pitchFamily="34" charset="0"/>
                    <a:cs typeface="Times New Roman" panose="02020603050405020304" pitchFamily="18" charset="0"/>
                  </a:rPr>
                  <a:t>Quarterly reviews</a:t>
                </a:r>
              </a:p>
            </p:txBody>
          </p:sp>
        </p:grpSp>
        <p:grpSp>
          <p:nvGrpSpPr>
            <p:cNvPr id="20" name="Group 19">
              <a:extLst>
                <a:ext uri="{FF2B5EF4-FFF2-40B4-BE49-F238E27FC236}">
                  <a16:creationId xmlns:a16="http://schemas.microsoft.com/office/drawing/2014/main" id="{F2A26CC8-DFEC-8AED-BE55-F216FCB19188}"/>
                </a:ext>
              </a:extLst>
            </p:cNvPr>
            <p:cNvGrpSpPr/>
            <p:nvPr/>
          </p:nvGrpSpPr>
          <p:grpSpPr>
            <a:xfrm>
              <a:off x="6727327" y="4890057"/>
              <a:ext cx="2079967" cy="516764"/>
              <a:chOff x="5655915" y="4542915"/>
              <a:chExt cx="1972235" cy="516764"/>
            </a:xfrm>
          </p:grpSpPr>
          <p:sp>
            <p:nvSpPr>
              <p:cNvPr id="21" name="Rectangle 20">
                <a:extLst>
                  <a:ext uri="{FF2B5EF4-FFF2-40B4-BE49-F238E27FC236}">
                    <a16:creationId xmlns:a16="http://schemas.microsoft.com/office/drawing/2014/main" id="{BC518C90-4D31-129D-ADC3-D14EDD0A26ED}"/>
                  </a:ext>
                </a:extLst>
              </p:cNvPr>
              <p:cNvSpPr/>
              <p:nvPr/>
            </p:nvSpPr>
            <p:spPr>
              <a:xfrm>
                <a:off x="5655915" y="4542915"/>
                <a:ext cx="1972235" cy="304251"/>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ct val="116000"/>
                  </a:lnSpc>
                  <a:spcAft>
                    <a:spcPts val="800"/>
                  </a:spcAft>
                </a:pPr>
                <a:r>
                  <a:rPr lang="en-US" sz="1200" b="1">
                    <a:solidFill>
                      <a:schemeClr val="bg1"/>
                    </a:solidFill>
                    <a:latin typeface="Aptos" panose="020B0004020202020204" pitchFamily="34" charset="0"/>
                    <a:cs typeface="Times New Roman" panose="02020603050405020304" pitchFamily="18" charset="0"/>
                  </a:rPr>
                  <a:t>Steering Committee</a:t>
                </a:r>
              </a:p>
            </p:txBody>
          </p:sp>
          <p:sp>
            <p:nvSpPr>
              <p:cNvPr id="22" name="Rectangle 21">
                <a:extLst>
                  <a:ext uri="{FF2B5EF4-FFF2-40B4-BE49-F238E27FC236}">
                    <a16:creationId xmlns:a16="http://schemas.microsoft.com/office/drawing/2014/main" id="{167AE319-28D7-D433-40E3-9C91E7FEC95B}"/>
                  </a:ext>
                </a:extLst>
              </p:cNvPr>
              <p:cNvSpPr/>
              <p:nvPr/>
            </p:nvSpPr>
            <p:spPr>
              <a:xfrm>
                <a:off x="5674250" y="4846140"/>
                <a:ext cx="1947788" cy="21353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lnSpc>
                    <a:spcPct val="116000"/>
                  </a:lnSpc>
                  <a:spcAft>
                    <a:spcPts val="800"/>
                  </a:spcAft>
                </a:pPr>
                <a:r>
                  <a:rPr lang="en-US" sz="1200">
                    <a:solidFill>
                      <a:srgbClr val="000000"/>
                    </a:solidFill>
                    <a:latin typeface="Aptos" panose="020B0004020202020204" pitchFamily="34" charset="0"/>
                    <a:cs typeface="Times New Roman" panose="02020603050405020304" pitchFamily="18" charset="0"/>
                  </a:rPr>
                  <a:t>Monthly</a:t>
                </a:r>
              </a:p>
            </p:txBody>
          </p:sp>
        </p:grpSp>
        <p:grpSp>
          <p:nvGrpSpPr>
            <p:cNvPr id="23" name="Group 22">
              <a:extLst>
                <a:ext uri="{FF2B5EF4-FFF2-40B4-BE49-F238E27FC236}">
                  <a16:creationId xmlns:a16="http://schemas.microsoft.com/office/drawing/2014/main" id="{78043CAB-4051-41E1-A2F6-95E3EA4B0F69}"/>
                </a:ext>
              </a:extLst>
            </p:cNvPr>
            <p:cNvGrpSpPr/>
            <p:nvPr/>
          </p:nvGrpSpPr>
          <p:grpSpPr>
            <a:xfrm>
              <a:off x="6766004" y="5664208"/>
              <a:ext cx="2079967" cy="584075"/>
              <a:chOff x="5692588" y="4498041"/>
              <a:chExt cx="1972235" cy="584075"/>
            </a:xfrm>
          </p:grpSpPr>
          <p:sp>
            <p:nvSpPr>
              <p:cNvPr id="24" name="Rectangle 23">
                <a:extLst>
                  <a:ext uri="{FF2B5EF4-FFF2-40B4-BE49-F238E27FC236}">
                    <a16:creationId xmlns:a16="http://schemas.microsoft.com/office/drawing/2014/main" id="{420BB17C-4C91-C249-EF31-E7462AD28322}"/>
                  </a:ext>
                </a:extLst>
              </p:cNvPr>
              <p:cNvSpPr/>
              <p:nvPr/>
            </p:nvSpPr>
            <p:spPr>
              <a:xfrm>
                <a:off x="5692588" y="4498041"/>
                <a:ext cx="1972235" cy="304251"/>
              </a:xfrm>
              <a:prstGeom prst="rect">
                <a:avLst/>
              </a:prstGeom>
            </p:spPr>
            <p:style>
              <a:lnRef idx="1">
                <a:schemeClr val="accent2"/>
              </a:lnRef>
              <a:fillRef idx="3">
                <a:schemeClr val="accent2"/>
              </a:fillRef>
              <a:effectRef idx="2">
                <a:schemeClr val="accent2"/>
              </a:effectRef>
              <a:fontRef idx="minor">
                <a:schemeClr val="lt1"/>
              </a:fontRef>
            </p:style>
            <p:txBody>
              <a:bodyPr lIns="91440" tIns="45720" rIns="91440" bIns="45720" rtlCol="0" anchor="ctr"/>
              <a:lstStyle/>
              <a:p>
                <a:pPr algn="ctr">
                  <a:lnSpc>
                    <a:spcPct val="116000"/>
                  </a:lnSpc>
                  <a:spcAft>
                    <a:spcPts val="800"/>
                  </a:spcAft>
                </a:pPr>
                <a:r>
                  <a:rPr lang="en-US" sz="1150" b="1">
                    <a:solidFill>
                      <a:schemeClr val="bg1"/>
                    </a:solidFill>
                    <a:latin typeface="Aptos"/>
                    <a:cs typeface="Times New Roman"/>
                  </a:rPr>
                  <a:t>Project Management Office</a:t>
                </a:r>
              </a:p>
            </p:txBody>
          </p:sp>
          <p:sp>
            <p:nvSpPr>
              <p:cNvPr id="25" name="Rectangle 24">
                <a:extLst>
                  <a:ext uri="{FF2B5EF4-FFF2-40B4-BE49-F238E27FC236}">
                    <a16:creationId xmlns:a16="http://schemas.microsoft.com/office/drawing/2014/main" id="{57D3E58F-CC94-C1F1-49DD-B709766D7AC0}"/>
                  </a:ext>
                </a:extLst>
              </p:cNvPr>
              <p:cNvSpPr/>
              <p:nvPr/>
            </p:nvSpPr>
            <p:spPr>
              <a:xfrm>
                <a:off x="5704811" y="4806874"/>
                <a:ext cx="1960012" cy="27524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lnSpc>
                    <a:spcPct val="116000"/>
                  </a:lnSpc>
                  <a:spcAft>
                    <a:spcPts val="800"/>
                  </a:spcAft>
                </a:pPr>
                <a:r>
                  <a:rPr lang="en-US" sz="1200">
                    <a:solidFill>
                      <a:srgbClr val="000000"/>
                    </a:solidFill>
                    <a:latin typeface="Aptos" panose="020B0004020202020204" pitchFamily="34" charset="0"/>
                    <a:cs typeface="Times New Roman" panose="02020603050405020304" pitchFamily="18" charset="0"/>
                  </a:rPr>
                  <a:t>Daily</a:t>
                </a:r>
              </a:p>
            </p:txBody>
          </p:sp>
        </p:grpSp>
        <p:grpSp>
          <p:nvGrpSpPr>
            <p:cNvPr id="26" name="Group 25">
              <a:extLst>
                <a:ext uri="{FF2B5EF4-FFF2-40B4-BE49-F238E27FC236}">
                  <a16:creationId xmlns:a16="http://schemas.microsoft.com/office/drawing/2014/main" id="{8749AB4D-C1CB-DD4D-420C-CC47C495D8A6}"/>
                </a:ext>
              </a:extLst>
            </p:cNvPr>
            <p:cNvGrpSpPr/>
            <p:nvPr/>
          </p:nvGrpSpPr>
          <p:grpSpPr>
            <a:xfrm>
              <a:off x="9266648" y="5664208"/>
              <a:ext cx="2148328" cy="584075"/>
              <a:chOff x="5692587" y="4498041"/>
              <a:chExt cx="1984142" cy="584075"/>
            </a:xfrm>
          </p:grpSpPr>
          <p:sp>
            <p:nvSpPr>
              <p:cNvPr id="27" name="Rectangle 26">
                <a:extLst>
                  <a:ext uri="{FF2B5EF4-FFF2-40B4-BE49-F238E27FC236}">
                    <a16:creationId xmlns:a16="http://schemas.microsoft.com/office/drawing/2014/main" id="{0167D13D-A432-563D-F0DF-E93967C31377}"/>
                  </a:ext>
                </a:extLst>
              </p:cNvPr>
              <p:cNvSpPr/>
              <p:nvPr/>
            </p:nvSpPr>
            <p:spPr>
              <a:xfrm>
                <a:off x="5692587" y="4498041"/>
                <a:ext cx="1972235" cy="304251"/>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ct val="116000"/>
                  </a:lnSpc>
                  <a:spcAft>
                    <a:spcPts val="800"/>
                  </a:spcAft>
                </a:pPr>
                <a:r>
                  <a:rPr lang="en-US" sz="1200" b="1">
                    <a:solidFill>
                      <a:schemeClr val="bg1"/>
                    </a:solidFill>
                    <a:latin typeface="Aptos" panose="020B0004020202020204" pitchFamily="34" charset="0"/>
                    <a:cs typeface="Times New Roman" panose="02020603050405020304" pitchFamily="18" charset="0"/>
                  </a:rPr>
                  <a:t>Subject Matter Expert</a:t>
                </a:r>
              </a:p>
            </p:txBody>
          </p:sp>
          <p:sp>
            <p:nvSpPr>
              <p:cNvPr id="28" name="Rectangle 27">
                <a:extLst>
                  <a:ext uri="{FF2B5EF4-FFF2-40B4-BE49-F238E27FC236}">
                    <a16:creationId xmlns:a16="http://schemas.microsoft.com/office/drawing/2014/main" id="{85A16569-9443-0B3E-FFDC-484DAE6F7C7D}"/>
                  </a:ext>
                </a:extLst>
              </p:cNvPr>
              <p:cNvSpPr/>
              <p:nvPr/>
            </p:nvSpPr>
            <p:spPr>
              <a:xfrm>
                <a:off x="5704494" y="4806874"/>
                <a:ext cx="1972235" cy="27524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lnSpc>
                    <a:spcPct val="116000"/>
                  </a:lnSpc>
                  <a:spcAft>
                    <a:spcPts val="800"/>
                  </a:spcAft>
                </a:pPr>
                <a:r>
                  <a:rPr lang="en-US" sz="1200">
                    <a:solidFill>
                      <a:srgbClr val="000000"/>
                    </a:solidFill>
                    <a:latin typeface="Aptos"/>
                    <a:cs typeface="Times New Roman"/>
                  </a:rPr>
                  <a:t>Ad-hoc when needed</a:t>
                </a:r>
                <a:endParaRPr lang="en-US" sz="1200">
                  <a:solidFill>
                    <a:srgbClr val="000000"/>
                  </a:solidFill>
                  <a:latin typeface="Aptos" panose="020B0004020202020204" pitchFamily="34" charset="0"/>
                  <a:cs typeface="Times New Roman" panose="02020603050405020304" pitchFamily="18" charset="0"/>
                </a:endParaRPr>
              </a:p>
            </p:txBody>
          </p:sp>
        </p:grpSp>
        <p:grpSp>
          <p:nvGrpSpPr>
            <p:cNvPr id="29" name="Group 28">
              <a:extLst>
                <a:ext uri="{FF2B5EF4-FFF2-40B4-BE49-F238E27FC236}">
                  <a16:creationId xmlns:a16="http://schemas.microsoft.com/office/drawing/2014/main" id="{47480FEC-DE2D-C0F3-C246-A56A287EB1C2}"/>
                </a:ext>
              </a:extLst>
            </p:cNvPr>
            <p:cNvGrpSpPr/>
            <p:nvPr/>
          </p:nvGrpSpPr>
          <p:grpSpPr>
            <a:xfrm>
              <a:off x="4128389" y="5687640"/>
              <a:ext cx="2135435" cy="561638"/>
              <a:chOff x="5692588" y="4498041"/>
              <a:chExt cx="1972235" cy="561638"/>
            </a:xfrm>
          </p:grpSpPr>
          <p:sp>
            <p:nvSpPr>
              <p:cNvPr id="30" name="Rectangle 29">
                <a:extLst>
                  <a:ext uri="{FF2B5EF4-FFF2-40B4-BE49-F238E27FC236}">
                    <a16:creationId xmlns:a16="http://schemas.microsoft.com/office/drawing/2014/main" id="{E5657865-5B87-4773-D32F-3B61B17543F9}"/>
                  </a:ext>
                </a:extLst>
              </p:cNvPr>
              <p:cNvSpPr/>
              <p:nvPr/>
            </p:nvSpPr>
            <p:spPr>
              <a:xfrm>
                <a:off x="5692588" y="4498041"/>
                <a:ext cx="1972235" cy="304251"/>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ct val="116000"/>
                  </a:lnSpc>
                  <a:spcAft>
                    <a:spcPts val="800"/>
                  </a:spcAft>
                </a:pPr>
                <a:r>
                  <a:rPr lang="en-US" sz="1200" b="1">
                    <a:solidFill>
                      <a:schemeClr val="bg1"/>
                    </a:solidFill>
                    <a:latin typeface="Aptos" panose="020B0004020202020204" pitchFamily="34" charset="0"/>
                    <a:cs typeface="Times New Roman" panose="02020603050405020304" pitchFamily="18" charset="0"/>
                  </a:rPr>
                  <a:t>Core Working Team</a:t>
                </a:r>
              </a:p>
            </p:txBody>
          </p:sp>
          <p:sp>
            <p:nvSpPr>
              <p:cNvPr id="31" name="Rectangle 30">
                <a:extLst>
                  <a:ext uri="{FF2B5EF4-FFF2-40B4-BE49-F238E27FC236}">
                    <a16:creationId xmlns:a16="http://schemas.microsoft.com/office/drawing/2014/main" id="{AEEA6E16-B76F-8C39-9FB8-2CD3C5CEE773}"/>
                  </a:ext>
                </a:extLst>
              </p:cNvPr>
              <p:cNvSpPr/>
              <p:nvPr/>
            </p:nvSpPr>
            <p:spPr>
              <a:xfrm>
                <a:off x="5692588" y="4806874"/>
                <a:ext cx="1972235" cy="25280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lnSpc>
                    <a:spcPct val="116000"/>
                  </a:lnSpc>
                  <a:spcAft>
                    <a:spcPts val="800"/>
                  </a:spcAft>
                </a:pPr>
                <a:r>
                  <a:rPr lang="en-US" sz="1200">
                    <a:solidFill>
                      <a:srgbClr val="000000"/>
                    </a:solidFill>
                    <a:latin typeface="Aptos" panose="020B0004020202020204" pitchFamily="34" charset="0"/>
                    <a:cs typeface="Times New Roman" panose="02020603050405020304" pitchFamily="18" charset="0"/>
                  </a:rPr>
                  <a:t>Weekly</a:t>
                </a:r>
              </a:p>
            </p:txBody>
          </p:sp>
        </p:grpSp>
        <p:cxnSp>
          <p:nvCxnSpPr>
            <p:cNvPr id="34" name="Straight Connector 33">
              <a:extLst>
                <a:ext uri="{FF2B5EF4-FFF2-40B4-BE49-F238E27FC236}">
                  <a16:creationId xmlns:a16="http://schemas.microsoft.com/office/drawing/2014/main" id="{E4CD63DD-0183-FAB6-B223-C2A0D7014835}"/>
                </a:ext>
              </a:extLst>
            </p:cNvPr>
            <p:cNvCxnSpPr>
              <a:cxnSpLocks/>
            </p:cNvCxnSpPr>
            <p:nvPr/>
          </p:nvCxnSpPr>
          <p:spPr>
            <a:xfrm flipH="1">
              <a:off x="7786648" y="4690526"/>
              <a:ext cx="2" cy="193921"/>
            </a:xfrm>
            <a:prstGeom prst="line">
              <a:avLst/>
            </a:prstGeom>
          </p:spPr>
          <p:style>
            <a:lnRef idx="3">
              <a:schemeClr val="accent2"/>
            </a:lnRef>
            <a:fillRef idx="0">
              <a:schemeClr val="accent2"/>
            </a:fillRef>
            <a:effectRef idx="2">
              <a:schemeClr val="accent2"/>
            </a:effectRef>
            <a:fontRef idx="minor">
              <a:schemeClr val="tx1"/>
            </a:fontRef>
          </p:style>
        </p:cxnSp>
        <p:cxnSp>
          <p:nvCxnSpPr>
            <p:cNvPr id="36" name="Straight Connector 35">
              <a:extLst>
                <a:ext uri="{FF2B5EF4-FFF2-40B4-BE49-F238E27FC236}">
                  <a16:creationId xmlns:a16="http://schemas.microsoft.com/office/drawing/2014/main" id="{2BE3C895-3ED5-AFDC-3366-20F140CF1B61}"/>
                </a:ext>
              </a:extLst>
            </p:cNvPr>
            <p:cNvCxnSpPr/>
            <p:nvPr/>
          </p:nvCxnSpPr>
          <p:spPr>
            <a:xfrm>
              <a:off x="7787679" y="5406821"/>
              <a:ext cx="0" cy="257387"/>
            </a:xfrm>
            <a:prstGeom prst="line">
              <a:avLst/>
            </a:prstGeom>
          </p:spPr>
          <p:style>
            <a:lnRef idx="3">
              <a:schemeClr val="accent2"/>
            </a:lnRef>
            <a:fillRef idx="0">
              <a:schemeClr val="accent2"/>
            </a:fillRef>
            <a:effectRef idx="2">
              <a:schemeClr val="accent2"/>
            </a:effectRef>
            <a:fontRef idx="minor">
              <a:schemeClr val="tx1"/>
            </a:fontRef>
          </p:style>
        </p:cxnSp>
        <p:cxnSp>
          <p:nvCxnSpPr>
            <p:cNvPr id="37" name="Straight Connector 36">
              <a:extLst>
                <a:ext uri="{FF2B5EF4-FFF2-40B4-BE49-F238E27FC236}">
                  <a16:creationId xmlns:a16="http://schemas.microsoft.com/office/drawing/2014/main" id="{E6BB34BD-A7FA-4D2A-01DD-5D8772FD9FFB}"/>
                </a:ext>
              </a:extLst>
            </p:cNvPr>
            <p:cNvCxnSpPr>
              <a:cxnSpLocks/>
              <a:endCxn id="30" idx="0"/>
            </p:cNvCxnSpPr>
            <p:nvPr/>
          </p:nvCxnSpPr>
          <p:spPr>
            <a:xfrm>
              <a:off x="5196106" y="5535514"/>
              <a:ext cx="1" cy="152126"/>
            </a:xfrm>
            <a:prstGeom prst="line">
              <a:avLst/>
            </a:prstGeom>
          </p:spPr>
          <p:style>
            <a:lnRef idx="3">
              <a:schemeClr val="accent2"/>
            </a:lnRef>
            <a:fillRef idx="0">
              <a:schemeClr val="accent2"/>
            </a:fillRef>
            <a:effectRef idx="2">
              <a:schemeClr val="accent2"/>
            </a:effectRef>
            <a:fontRef idx="minor">
              <a:schemeClr val="tx1"/>
            </a:fontRef>
          </p:style>
        </p:cxnSp>
        <p:cxnSp>
          <p:nvCxnSpPr>
            <p:cNvPr id="38" name="Straight Connector 37">
              <a:extLst>
                <a:ext uri="{FF2B5EF4-FFF2-40B4-BE49-F238E27FC236}">
                  <a16:creationId xmlns:a16="http://schemas.microsoft.com/office/drawing/2014/main" id="{7CB9CDE2-DBE9-AEB4-747A-7D773F4ABDE9}"/>
                </a:ext>
              </a:extLst>
            </p:cNvPr>
            <p:cNvCxnSpPr>
              <a:cxnSpLocks/>
              <a:endCxn id="27" idx="0"/>
            </p:cNvCxnSpPr>
            <p:nvPr/>
          </p:nvCxnSpPr>
          <p:spPr>
            <a:xfrm>
              <a:off x="10334364" y="5526060"/>
              <a:ext cx="1" cy="138148"/>
            </a:xfrm>
            <a:prstGeom prst="line">
              <a:avLst/>
            </a:prstGeom>
          </p:spPr>
          <p:style>
            <a:lnRef idx="3">
              <a:schemeClr val="accent2"/>
            </a:lnRef>
            <a:fillRef idx="0">
              <a:schemeClr val="accent2"/>
            </a:fillRef>
            <a:effectRef idx="2">
              <a:schemeClr val="accent2"/>
            </a:effectRef>
            <a:fontRef idx="minor">
              <a:schemeClr val="tx1"/>
            </a:fontRef>
          </p:style>
        </p:cxnSp>
        <p:cxnSp>
          <p:nvCxnSpPr>
            <p:cNvPr id="43" name="Straight Connector 42">
              <a:extLst>
                <a:ext uri="{FF2B5EF4-FFF2-40B4-BE49-F238E27FC236}">
                  <a16:creationId xmlns:a16="http://schemas.microsoft.com/office/drawing/2014/main" id="{CAB62513-C921-8582-8F58-EBCEFC1C642B}"/>
                </a:ext>
              </a:extLst>
            </p:cNvPr>
            <p:cNvCxnSpPr>
              <a:cxnSpLocks/>
            </p:cNvCxnSpPr>
            <p:nvPr/>
          </p:nvCxnSpPr>
          <p:spPr>
            <a:xfrm flipH="1">
              <a:off x="5196106" y="5526060"/>
              <a:ext cx="5138258" cy="0"/>
            </a:xfrm>
            <a:prstGeom prst="line">
              <a:avLst/>
            </a:prstGeom>
          </p:spPr>
          <p:style>
            <a:lnRef idx="3">
              <a:schemeClr val="accent2"/>
            </a:lnRef>
            <a:fillRef idx="0">
              <a:schemeClr val="accent2"/>
            </a:fillRef>
            <a:effectRef idx="2">
              <a:schemeClr val="accent2"/>
            </a:effectRef>
            <a:fontRef idx="minor">
              <a:schemeClr val="tx1"/>
            </a:fontRef>
          </p:style>
        </p:cxnSp>
      </p:grpSp>
      <p:pic>
        <p:nvPicPr>
          <p:cNvPr id="65" name="Picture Placeholder 64">
            <a:extLst>
              <a:ext uri="{FF2B5EF4-FFF2-40B4-BE49-F238E27FC236}">
                <a16:creationId xmlns:a16="http://schemas.microsoft.com/office/drawing/2014/main" id="{75559AEA-01AC-7343-6097-E7E01A11C33E}"/>
              </a:ext>
            </a:extLst>
          </p:cNvPr>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l="30436" r="30436"/>
          <a:stretch>
            <a:fillRect/>
          </a:stretch>
        </p:blipFill>
        <p:spPr>
          <a:xfrm>
            <a:off x="0" y="1"/>
            <a:ext cx="3541876" cy="6858000"/>
          </a:xfrm>
        </p:spPr>
      </p:pic>
      <p:cxnSp>
        <p:nvCxnSpPr>
          <p:cNvPr id="3" name="Straight Connector 2">
            <a:extLst>
              <a:ext uri="{FF2B5EF4-FFF2-40B4-BE49-F238E27FC236}">
                <a16:creationId xmlns:a16="http://schemas.microsoft.com/office/drawing/2014/main" id="{3A180712-D432-A75B-B192-C3ACC72295A1}"/>
              </a:ext>
            </a:extLst>
          </p:cNvPr>
          <p:cNvCxnSpPr>
            <a:cxnSpLocks/>
          </p:cNvCxnSpPr>
          <p:nvPr/>
        </p:nvCxnSpPr>
        <p:spPr>
          <a:xfrm flipH="1">
            <a:off x="6344911" y="6016894"/>
            <a:ext cx="537879" cy="768"/>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37CDEACB-A08A-A890-E2EF-CA6BF33E540E}"/>
              </a:ext>
            </a:extLst>
          </p:cNvPr>
          <p:cNvCxnSpPr>
            <a:cxnSpLocks/>
          </p:cNvCxnSpPr>
          <p:nvPr/>
        </p:nvCxnSpPr>
        <p:spPr>
          <a:xfrm flipH="1">
            <a:off x="8944674" y="6016893"/>
            <a:ext cx="429023" cy="768"/>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8244954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2EEC9-F7EC-0B53-AD8F-CD9E216A88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9881FD-DEE7-E16D-E167-098E2C1F3B9F}"/>
              </a:ext>
            </a:extLst>
          </p:cNvPr>
          <p:cNvSpPr>
            <a:spLocks noGrp="1"/>
          </p:cNvSpPr>
          <p:nvPr>
            <p:ph sz="quarter" idx="14"/>
          </p:nvPr>
        </p:nvSpPr>
        <p:spPr>
          <a:xfrm>
            <a:off x="4541264" y="1869441"/>
            <a:ext cx="7330869" cy="3302676"/>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chorCtr="0">
            <a:normAutofit/>
          </a:bodyPr>
          <a:lstStyle/>
          <a:p>
            <a:r>
              <a:rPr lang="en-US" sz="1600" b="1">
                <a:latin typeface="Aptos"/>
                <a:ea typeface="+mn-lt"/>
                <a:cs typeface="+mn-lt"/>
              </a:rPr>
              <a:t>Site selection is critical</a:t>
            </a:r>
            <a:r>
              <a:rPr lang="en-US" sz="1600">
                <a:latin typeface="Aptos"/>
                <a:ea typeface="+mn-lt"/>
                <a:cs typeface="+mn-lt"/>
              </a:rPr>
              <a:t>: Repurpose contaminated sites accelerates permitting, saves costs and promotes positive PR</a:t>
            </a:r>
          </a:p>
          <a:p>
            <a:r>
              <a:rPr lang="en-US" sz="1600" b="1">
                <a:latin typeface="Aptos"/>
                <a:ea typeface="+mn-lt"/>
                <a:cs typeface="+mn-lt"/>
              </a:rPr>
              <a:t>Parallel permitting saves time: </a:t>
            </a:r>
            <a:r>
              <a:rPr lang="en-US" sz="1600">
                <a:latin typeface="Aptos"/>
                <a:ea typeface="+mn-lt"/>
                <a:cs typeface="+mn-lt"/>
              </a:rPr>
              <a:t>Run environmental, zoning, and interconnection studies simultaneously</a:t>
            </a:r>
          </a:p>
          <a:p>
            <a:r>
              <a:rPr lang="en-US" sz="1600" b="1">
                <a:latin typeface="Aptos"/>
                <a:ea typeface="+mn-lt"/>
                <a:cs typeface="+mn-lt"/>
              </a:rPr>
              <a:t>Community benefits upfront: </a:t>
            </a:r>
            <a:r>
              <a:rPr lang="en-US" sz="1600">
                <a:latin typeface="Aptos"/>
                <a:ea typeface="+mn-lt"/>
                <a:cs typeface="+mn-lt"/>
              </a:rPr>
              <a:t>Projects with proactive local hiring and community contributions achieved faster permit approval and avoid backlash</a:t>
            </a:r>
          </a:p>
          <a:p>
            <a:r>
              <a:rPr lang="en-US" sz="1600" b="1">
                <a:latin typeface="Aptos"/>
                <a:ea typeface="+mn-lt"/>
                <a:cs typeface="+mn-lt"/>
              </a:rPr>
              <a:t>Dual land use: </a:t>
            </a:r>
            <a:r>
              <a:rPr lang="en-US" sz="1600">
                <a:latin typeface="Aptos"/>
                <a:ea typeface="+mn-lt"/>
                <a:cs typeface="+mn-lt"/>
              </a:rPr>
              <a:t>A North Carolina solar farm that incorporated sheep grazing beneath the panels increased local support and generated an additional revenue stream. </a:t>
            </a:r>
          </a:p>
        </p:txBody>
      </p:sp>
      <p:sp>
        <p:nvSpPr>
          <p:cNvPr id="4" name="Title 1">
            <a:extLst>
              <a:ext uri="{FF2B5EF4-FFF2-40B4-BE49-F238E27FC236}">
                <a16:creationId xmlns:a16="http://schemas.microsoft.com/office/drawing/2014/main" id="{CE41BB04-109F-F617-D897-1A8E7814A2D8}"/>
              </a:ext>
            </a:extLst>
          </p:cNvPr>
          <p:cNvSpPr txBox="1">
            <a:spLocks/>
          </p:cNvSpPr>
          <p:nvPr/>
        </p:nvSpPr>
        <p:spPr>
          <a:xfrm>
            <a:off x="4541264" y="487004"/>
            <a:ext cx="7084142" cy="65023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a:lstStyle>
          <a:p>
            <a:r>
              <a:rPr lang="en-US" b="1">
                <a:solidFill>
                  <a:schemeClr val="accent1">
                    <a:lumMod val="49000"/>
                  </a:schemeClr>
                </a:solidFill>
                <a:latin typeface="Biome"/>
                <a:cs typeface="Times New Roman"/>
              </a:rPr>
              <a:t>Lesson Learned</a:t>
            </a:r>
            <a:endParaRPr lang="en-US" b="1">
              <a:latin typeface="Biome"/>
              <a:cs typeface="Times New Roman"/>
            </a:endParaRPr>
          </a:p>
        </p:txBody>
      </p:sp>
      <p:pic>
        <p:nvPicPr>
          <p:cNvPr id="25" name="Picture Placeholder 24">
            <a:extLst>
              <a:ext uri="{FF2B5EF4-FFF2-40B4-BE49-F238E27FC236}">
                <a16:creationId xmlns:a16="http://schemas.microsoft.com/office/drawing/2014/main" id="{8E254B5E-EA4D-89A0-C34A-653CEFF4706D}"/>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0463" r="30463"/>
          <a:stretch>
            <a:fillRect/>
          </a:stretch>
        </p:blipFill>
        <p:spPr/>
      </p:pic>
    </p:spTree>
    <p:extLst>
      <p:ext uri="{BB962C8B-B14F-4D97-AF65-F5344CB8AC3E}">
        <p14:creationId xmlns:p14="http://schemas.microsoft.com/office/powerpoint/2010/main" val="242711406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63DD6-F539-3C83-AEE6-EAF671C372D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24822DA-FCF1-15D7-688C-38941173C01C}"/>
              </a:ext>
            </a:extLst>
          </p:cNvPr>
          <p:cNvSpPr txBox="1">
            <a:spLocks/>
          </p:cNvSpPr>
          <p:nvPr/>
        </p:nvSpPr>
        <p:spPr>
          <a:xfrm>
            <a:off x="4541264" y="487004"/>
            <a:ext cx="7084142" cy="65023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a:lstStyle>
          <a:p>
            <a:r>
              <a:rPr lang="en-US" b="1">
                <a:solidFill>
                  <a:schemeClr val="accent1">
                    <a:lumMod val="49000"/>
                  </a:schemeClr>
                </a:solidFill>
                <a:latin typeface="Biome"/>
                <a:cs typeface="Times New Roman"/>
              </a:rPr>
              <a:t>Signatures</a:t>
            </a:r>
          </a:p>
        </p:txBody>
      </p:sp>
      <p:sp>
        <p:nvSpPr>
          <p:cNvPr id="5" name="Content Placeholder 4">
            <a:extLst>
              <a:ext uri="{FF2B5EF4-FFF2-40B4-BE49-F238E27FC236}">
                <a16:creationId xmlns:a16="http://schemas.microsoft.com/office/drawing/2014/main" id="{E5F2AE13-BAE8-FDC5-2583-5036EC88E0B1}"/>
              </a:ext>
            </a:extLst>
          </p:cNvPr>
          <p:cNvSpPr>
            <a:spLocks noGrp="1"/>
          </p:cNvSpPr>
          <p:nvPr>
            <p:ph sz="quarter" idx="14"/>
          </p:nvPr>
        </p:nvSpPr>
        <p:spPr>
          <a:xfrm>
            <a:off x="4541264" y="1595300"/>
            <a:ext cx="7070168" cy="3014014"/>
          </a:xfrm>
        </p:spPr>
        <p:txBody>
          <a:bodyPr vert="horz" lIns="91440" tIns="45720" rIns="91440" bIns="45720" rtlCol="0" anchor="t">
            <a:noAutofit/>
          </a:bodyPr>
          <a:lstStyle/>
          <a:p>
            <a:pPr marL="0" indent="0">
              <a:buNone/>
            </a:pPr>
            <a:r>
              <a:rPr lang="en-US" sz="1300">
                <a:latin typeface="Aptos"/>
              </a:rPr>
              <a:t>……………………………, Sponsor                                  _______________________________________________</a:t>
            </a:r>
          </a:p>
          <a:p>
            <a:pPr marL="0" indent="0">
              <a:buNone/>
            </a:pPr>
            <a:r>
              <a:rPr lang="en-US" sz="1300">
                <a:latin typeface="Aptos"/>
              </a:rPr>
              <a:t>                                                                                                                              Signature                                                  Date</a:t>
            </a:r>
          </a:p>
          <a:p>
            <a:pPr marL="0" indent="0">
              <a:buNone/>
            </a:pPr>
            <a:r>
              <a:rPr lang="en-US" sz="1300">
                <a:latin typeface="Aptos"/>
              </a:rPr>
              <a:t>……………………………, Project Manager                  ______________________________________________</a:t>
            </a:r>
          </a:p>
          <a:p>
            <a:pPr marL="0" indent="0">
              <a:buNone/>
            </a:pPr>
            <a:r>
              <a:rPr lang="en-US" sz="1300">
                <a:latin typeface="Aptos"/>
              </a:rPr>
              <a:t>                                                                                                                              Signature                                                  Date</a:t>
            </a:r>
          </a:p>
          <a:p>
            <a:pPr marL="0" indent="0">
              <a:buNone/>
            </a:pPr>
            <a:r>
              <a:rPr lang="en-US" sz="1300">
                <a:latin typeface="Aptos"/>
              </a:rPr>
              <a:t>……………………………, Functional Manager          ______________________________________________</a:t>
            </a:r>
            <a:endParaRPr lang="en-US" sz="1300">
              <a:solidFill>
                <a:srgbClr val="000000"/>
              </a:solidFill>
              <a:latin typeface="Aptos"/>
            </a:endParaRPr>
          </a:p>
          <a:p>
            <a:pPr marL="0" indent="0">
              <a:buNone/>
            </a:pPr>
            <a:r>
              <a:rPr lang="en-US" sz="1300">
                <a:latin typeface="Aptos"/>
              </a:rPr>
              <a:t>                                                                                                                              Signature                                                  Date</a:t>
            </a:r>
          </a:p>
          <a:p>
            <a:pPr marL="0" indent="0">
              <a:buNone/>
            </a:pPr>
            <a:r>
              <a:rPr lang="en-US" sz="1300">
                <a:latin typeface="Aptos"/>
              </a:rPr>
              <a:t>……………………………, Team Member                      ______________________________________________</a:t>
            </a:r>
          </a:p>
          <a:p>
            <a:pPr marL="0" indent="0">
              <a:buNone/>
            </a:pPr>
            <a:r>
              <a:rPr lang="en-US" sz="1300">
                <a:latin typeface="Aptos"/>
              </a:rPr>
              <a:t>                                                                                                                              Signature                                                  Date</a:t>
            </a:r>
          </a:p>
          <a:p>
            <a:pPr marL="0" indent="0">
              <a:buNone/>
            </a:pPr>
            <a:endParaRPr lang="en-US" sz="1300">
              <a:latin typeface="Aptos"/>
            </a:endParaRPr>
          </a:p>
        </p:txBody>
      </p:sp>
      <p:sp>
        <p:nvSpPr>
          <p:cNvPr id="3" name="Content Placeholder 3">
            <a:extLst>
              <a:ext uri="{FF2B5EF4-FFF2-40B4-BE49-F238E27FC236}">
                <a16:creationId xmlns:a16="http://schemas.microsoft.com/office/drawing/2014/main" id="{55B13389-3AA7-0D46-3E0A-7609203CE19F}"/>
              </a:ext>
            </a:extLst>
          </p:cNvPr>
          <p:cNvSpPr txBox="1">
            <a:spLocks/>
          </p:cNvSpPr>
          <p:nvPr/>
        </p:nvSpPr>
        <p:spPr>
          <a:xfrm>
            <a:off x="4539690" y="4747296"/>
            <a:ext cx="7238081" cy="1480329"/>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a:solidFill>
                  <a:schemeClr val="accent2">
                    <a:lumMod val="76000"/>
                  </a:schemeClr>
                </a:solidFill>
                <a:latin typeface="Aptos"/>
                <a:cs typeface="Biome"/>
              </a:rPr>
              <a:t>Commitment: </a:t>
            </a:r>
            <a:endParaRPr lang="en-US" sz="1600">
              <a:solidFill>
                <a:schemeClr val="accent2">
                  <a:lumMod val="76000"/>
                </a:schemeClr>
              </a:solidFill>
              <a:latin typeface="Aptos"/>
            </a:endParaRPr>
          </a:p>
          <a:p>
            <a:pPr marL="0" indent="0">
              <a:buNone/>
            </a:pPr>
            <a:r>
              <a:rPr lang="en-US" sz="1600">
                <a:latin typeface="Aptos"/>
                <a:ea typeface="+mn-lt"/>
                <a:cs typeface="+mn-lt"/>
              </a:rPr>
              <a:t>We understand and accept the responsibilities and conditions described in this document and jointly agree to abide by all applicable policies and requirements.</a:t>
            </a:r>
          </a:p>
          <a:p>
            <a:endParaRPr lang="en-US" sz="1400">
              <a:latin typeface="Aptos"/>
              <a:cs typeface="Times New Roman"/>
            </a:endParaRPr>
          </a:p>
        </p:txBody>
      </p:sp>
      <p:pic>
        <p:nvPicPr>
          <p:cNvPr id="8" name="Picture Placeholder 7" descr="A group of people holding hands together&#10;&#10;AI-generated content may be incorrect.">
            <a:extLst>
              <a:ext uri="{FF2B5EF4-FFF2-40B4-BE49-F238E27FC236}">
                <a16:creationId xmlns:a16="http://schemas.microsoft.com/office/drawing/2014/main" id="{638245E5-A11D-EFEB-ED7B-6CB36939F2E6}"/>
              </a:ext>
            </a:extLst>
          </p:cNvPr>
          <p:cNvPicPr>
            <a:picLocks noGrp="1" noChangeAspect="1"/>
          </p:cNvPicPr>
          <p:nvPr>
            <p:ph type="pic" sz="quarter" idx="13"/>
          </p:nvPr>
        </p:nvPicPr>
        <p:blipFill>
          <a:blip r:embed="rId2"/>
          <a:srcRect l="6050" r="6050"/>
          <a:stretch/>
        </p:blipFill>
        <p:spPr>
          <a:prstGeom prst="rect">
            <a:avLst/>
          </a:prstGeom>
          <a:blipFill>
            <a:blip r:embed="rId3" cstate="screen">
              <a:alphaModFix amt="70000"/>
              <a:extLst>
                <a:ext uri="{28A0092B-C50C-407E-A947-70E740481C1C}">
                  <a14:useLocalDpi xmlns:a14="http://schemas.microsoft.com/office/drawing/2010/main"/>
                </a:ext>
              </a:extLst>
            </a:blip>
            <a:stretch>
              <a:fillRect/>
            </a:stretch>
          </a:blipFill>
        </p:spPr>
      </p:pic>
    </p:spTree>
    <p:extLst>
      <p:ext uri="{BB962C8B-B14F-4D97-AF65-F5344CB8AC3E}">
        <p14:creationId xmlns:p14="http://schemas.microsoft.com/office/powerpoint/2010/main" val="29489840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DA166-3505-4A01-02BD-A01657FF706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8C5E836-A0BD-04B7-21CE-83EF050BD9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417" y="0"/>
            <a:ext cx="9044355" cy="6858001"/>
          </a:xfrm>
          <a:prstGeom prst="rect">
            <a:avLst/>
          </a:prstGeom>
        </p:spPr>
      </p:pic>
      <p:sp>
        <p:nvSpPr>
          <p:cNvPr id="32" name="Rectangle 31">
            <a:extLst>
              <a:ext uri="{FF2B5EF4-FFF2-40B4-BE49-F238E27FC236}">
                <a16:creationId xmlns:a16="http://schemas.microsoft.com/office/drawing/2014/main" id="{27527F95-7BF5-D702-363E-AFC380A18A37}"/>
              </a:ext>
            </a:extLst>
          </p:cNvPr>
          <p:cNvSpPr/>
          <p:nvPr/>
        </p:nvSpPr>
        <p:spPr>
          <a:xfrm>
            <a:off x="3541876" y="-1"/>
            <a:ext cx="8650124" cy="6858000"/>
          </a:xfrm>
          <a:prstGeom prst="rect">
            <a:avLst/>
          </a:prstGeom>
          <a:solidFill>
            <a:srgbClr val="F9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B35D6981-59FD-81C2-B218-5A2C4A0A5615}"/>
              </a:ext>
            </a:extLst>
          </p:cNvPr>
          <p:cNvSpPr txBox="1">
            <a:spLocks/>
          </p:cNvSpPr>
          <p:nvPr/>
        </p:nvSpPr>
        <p:spPr>
          <a:xfrm>
            <a:off x="3886972" y="212207"/>
            <a:ext cx="7084142" cy="650239"/>
          </a:xfrm>
          <a:prstGeom prst="rect">
            <a:avLst/>
          </a:prstGeom>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a:lstStyle>
          <a:p>
            <a:r>
              <a:rPr lang="en-US" b="1">
                <a:solidFill>
                  <a:schemeClr val="accent1">
                    <a:lumMod val="49000"/>
                  </a:schemeClr>
                </a:solidFill>
                <a:latin typeface="Biome"/>
                <a:cs typeface="Times New Roman"/>
              </a:rPr>
              <a:t>Project organization structures:  Matrix </a:t>
            </a:r>
          </a:p>
        </p:txBody>
      </p:sp>
      <p:sp>
        <p:nvSpPr>
          <p:cNvPr id="19" name="Title 1">
            <a:extLst>
              <a:ext uri="{FF2B5EF4-FFF2-40B4-BE49-F238E27FC236}">
                <a16:creationId xmlns:a16="http://schemas.microsoft.com/office/drawing/2014/main" id="{53844509-1427-8266-3640-81EC83FE4D4D}"/>
              </a:ext>
            </a:extLst>
          </p:cNvPr>
          <p:cNvSpPr txBox="1">
            <a:spLocks/>
          </p:cNvSpPr>
          <p:nvPr/>
        </p:nvSpPr>
        <p:spPr>
          <a:xfrm>
            <a:off x="4340768" y="1225069"/>
            <a:ext cx="6626668" cy="3949251"/>
          </a:xfrm>
          <a:prstGeom prst="rect">
            <a:avLst/>
          </a:prstGeom>
        </p:spPr>
        <p:txBody>
          <a:bodyPr vert="horz" lIns="91440" tIns="45720" rIns="91440" bIns="45720" rtlCol="0" anchor="b">
            <a:noAutofit/>
          </a:bodyPr>
          <a:lstStyle>
            <a:defPPr>
              <a:defRPr lang="en-US"/>
            </a:defPPr>
            <a:lvl1pPr marL="0" algn="l" defTabSz="914400" rtl="0" eaLnBrk="1" latinLnBrk="0" hangingPunct="1">
              <a:lnSpc>
                <a:spcPct val="90000"/>
              </a:lnSpc>
              <a:spcBef>
                <a:spcPct val="0"/>
              </a:spcBef>
              <a:buNone/>
              <a:defRPr sz="3200" b="0" kern="120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2000">
                <a:latin typeface="Aptos"/>
                <a:ea typeface="+mj-lt"/>
                <a:cs typeface="+mj-lt"/>
              </a:rPr>
              <a:t>Team members split time between project and functional roles</a:t>
            </a:r>
            <a:endParaRPr lang="en-US" sz="2000">
              <a:latin typeface="Aptos"/>
            </a:endParaRPr>
          </a:p>
          <a:p>
            <a:pPr marL="285750" indent="-285750">
              <a:buFont typeface="Arial"/>
              <a:buChar char="•"/>
            </a:pPr>
            <a:r>
              <a:rPr lang="en-US" sz="2000">
                <a:latin typeface="Aptos"/>
                <a:ea typeface="+mj-lt"/>
                <a:cs typeface="+mj-lt"/>
              </a:rPr>
              <a:t>Dedicated full-time Project Manager with significant authority</a:t>
            </a:r>
            <a:endParaRPr lang="en-US" sz="2000">
              <a:latin typeface="Aptos"/>
            </a:endParaRPr>
          </a:p>
          <a:p>
            <a:pPr marL="285750" indent="-285750">
              <a:buFont typeface="Arial"/>
              <a:buChar char="•"/>
            </a:pPr>
            <a:r>
              <a:rPr lang="en-US" sz="2000">
                <a:latin typeface="Aptos"/>
                <a:ea typeface="+mj-lt"/>
                <a:cs typeface="+mj-lt"/>
              </a:rPr>
              <a:t>Resources borrowed from Engineering, Finance, Legal, Environmental departments</a:t>
            </a:r>
            <a:endParaRPr lang="en-US" sz="2000">
              <a:latin typeface="Aptos"/>
            </a:endParaRPr>
          </a:p>
          <a:p>
            <a:endParaRPr lang="en-US" sz="2000">
              <a:latin typeface="Aptos"/>
              <a:ea typeface="+mj-lt"/>
              <a:cs typeface="+mj-lt"/>
            </a:endParaRPr>
          </a:p>
          <a:p>
            <a:pPr marL="285750" indent="-285750">
              <a:buFont typeface="Arial"/>
              <a:buChar char="•"/>
            </a:pPr>
            <a:r>
              <a:rPr lang="en-US" sz="2000" b="1">
                <a:solidFill>
                  <a:schemeClr val="accent2"/>
                </a:solidFill>
                <a:latin typeface="Aptos"/>
                <a:ea typeface="+mj-lt"/>
                <a:cs typeface="+mj-lt"/>
              </a:rPr>
              <a:t>Why Matrix?</a:t>
            </a:r>
            <a:r>
              <a:rPr lang="en-US" sz="2000" b="1">
                <a:latin typeface="Aptos"/>
                <a:ea typeface="+mj-lt"/>
                <a:cs typeface="+mj-lt"/>
              </a:rPr>
              <a:t> </a:t>
            </a:r>
            <a:r>
              <a:rPr lang="en-US" sz="2000">
                <a:latin typeface="Aptos"/>
                <a:ea typeface="+mj-lt"/>
                <a:cs typeface="+mj-lt"/>
              </a:rPr>
              <a:t>Balances project focus with functional expertise</a:t>
            </a:r>
            <a:endParaRPr lang="en-US" sz="2000">
              <a:latin typeface="Aptos"/>
            </a:endParaRPr>
          </a:p>
          <a:p>
            <a:pPr marL="285750" indent="-285750">
              <a:buFont typeface="Arial"/>
              <a:buChar char="•"/>
            </a:pPr>
            <a:r>
              <a:rPr lang="en-US" sz="2000">
                <a:latin typeface="Aptos"/>
                <a:ea typeface="+mj-lt"/>
                <a:cs typeface="+mj-lt"/>
              </a:rPr>
              <a:t>PM controls day-to-day decisions</a:t>
            </a:r>
            <a:endParaRPr lang="en-US" sz="2000">
              <a:latin typeface="Aptos"/>
            </a:endParaRPr>
          </a:p>
          <a:p>
            <a:pPr marL="285750" indent="-285750">
              <a:buFont typeface="Arial"/>
              <a:buChar char="•"/>
            </a:pPr>
            <a:r>
              <a:rPr lang="en-US" sz="2000">
                <a:latin typeface="Aptos"/>
                <a:ea typeface="+mj-lt"/>
                <a:cs typeface="+mj-lt"/>
              </a:rPr>
              <a:t>After project completion, team returns to functional departments in AWS </a:t>
            </a:r>
            <a:endParaRPr lang="en-US" sz="2000">
              <a:latin typeface="Aptos"/>
            </a:endParaRPr>
          </a:p>
          <a:p>
            <a:endParaRPr lang="en-US" sz="1800" b="1">
              <a:solidFill>
                <a:schemeClr val="accent4"/>
              </a:solidFill>
              <a:latin typeface="Biome"/>
              <a:cs typeface="Biome"/>
            </a:endParaRPr>
          </a:p>
        </p:txBody>
      </p:sp>
    </p:spTree>
    <p:extLst>
      <p:ext uri="{BB962C8B-B14F-4D97-AF65-F5344CB8AC3E}">
        <p14:creationId xmlns:p14="http://schemas.microsoft.com/office/powerpoint/2010/main" val="14815413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7C72AC7C-F738-925D-2FE0-C88D23FA96CE}"/>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C92394B-3E71-706F-7514-7C7B2961A26C}"/>
              </a:ext>
            </a:extLst>
          </p:cNvPr>
          <p:cNvSpPr>
            <a:spLocks noGrp="1"/>
          </p:cNvSpPr>
          <p:nvPr>
            <p:ph type="dt" sz="half" idx="10"/>
          </p:nvPr>
        </p:nvSpPr>
        <p:spPr>
          <a:xfrm>
            <a:off x="457199" y="6397586"/>
            <a:ext cx="4043855" cy="365125"/>
          </a:xfrm>
        </p:spPr>
        <p:txBody>
          <a:bodyPr anchor="ctr">
            <a:normAutofit/>
          </a:bodyPr>
          <a:lstStyle/>
          <a:p>
            <a:pPr>
              <a:spcAft>
                <a:spcPts val="600"/>
              </a:spcAft>
            </a:pPr>
            <a:fld id="{0A2676FB-3D7D-40C8-BF49-5420830A3578}" type="datetime1">
              <a:rPr lang="en-US" smtClean="0"/>
              <a:pPr>
                <a:spcAft>
                  <a:spcPts val="600"/>
                </a:spcAft>
              </a:pPr>
              <a:t>9/18/2026</a:t>
            </a:fld>
            <a:endParaRPr lang="en-US"/>
          </a:p>
        </p:txBody>
      </p:sp>
      <p:pic>
        <p:nvPicPr>
          <p:cNvPr id="2" name="Picture 1" descr="Amazon Solar Farm Virginia - Southampton - Community Energy">
            <a:extLst>
              <a:ext uri="{FF2B5EF4-FFF2-40B4-BE49-F238E27FC236}">
                <a16:creationId xmlns:a16="http://schemas.microsoft.com/office/drawing/2014/main" id="{AD3A3337-ACA5-79D5-3824-55BC763DF533}"/>
              </a:ext>
            </a:extLst>
          </p:cNvPr>
          <p:cNvPicPr>
            <a:picLocks noChangeAspect="1"/>
          </p:cNvPicPr>
          <p:nvPr/>
        </p:nvPicPr>
        <p:blipFill>
          <a:blip r:embed="rId3"/>
          <a:srcRect t="10411" r="101" b="8082"/>
          <a:stretch>
            <a:fillRect/>
          </a:stretch>
        </p:blipFill>
        <p:spPr>
          <a:xfrm>
            <a:off x="162963" y="170536"/>
            <a:ext cx="5646269" cy="2928418"/>
          </a:xfrm>
          <a:prstGeom prst="rect">
            <a:avLst/>
          </a:prstGeom>
        </p:spPr>
      </p:pic>
      <p:sp>
        <p:nvSpPr>
          <p:cNvPr id="6" name="TextBox 5">
            <a:extLst>
              <a:ext uri="{FF2B5EF4-FFF2-40B4-BE49-F238E27FC236}">
                <a16:creationId xmlns:a16="http://schemas.microsoft.com/office/drawing/2014/main" id="{741FFF28-420A-5924-CC75-301AA5CF1B30}"/>
              </a:ext>
            </a:extLst>
          </p:cNvPr>
          <p:cNvSpPr txBox="1"/>
          <p:nvPr/>
        </p:nvSpPr>
        <p:spPr>
          <a:xfrm>
            <a:off x="5943711" y="171408"/>
            <a:ext cx="6111711" cy="1600438"/>
          </a:xfrm>
          <a:prstGeom prst="rect">
            <a:avLst/>
          </a:prstGeom>
          <a:solidFill>
            <a:schemeClr val="accent4">
              <a:lumMod val="20000"/>
              <a:lumOff val="80000"/>
            </a:schemeClr>
          </a:solid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b="1">
                <a:latin typeface="Aptos"/>
              </a:rPr>
              <a:t>Project Name: </a:t>
            </a:r>
            <a:r>
              <a:rPr lang="en-US" sz="1400">
                <a:latin typeface="Aptos"/>
              </a:rPr>
              <a:t>Project Helios  </a:t>
            </a:r>
          </a:p>
          <a:p>
            <a:pPr marL="285750" indent="-285750">
              <a:buFont typeface="Arial"/>
              <a:buChar char="•"/>
            </a:pPr>
            <a:r>
              <a:rPr lang="en-US" sz="1400" b="1">
                <a:latin typeface="Aptos"/>
              </a:rPr>
              <a:t>Objective: </a:t>
            </a:r>
            <a:r>
              <a:rPr lang="en-US" sz="1400">
                <a:solidFill>
                  <a:srgbClr val="090909"/>
                </a:solidFill>
                <a:latin typeface="Aptos"/>
                <a:cs typeface="Biome"/>
              </a:rPr>
              <a:t>Amazon's 150 MW Utility Scale Solar Farm </a:t>
            </a:r>
            <a:endParaRPr lang="en-US" sz="1400">
              <a:latin typeface="Aptos"/>
            </a:endParaRPr>
          </a:p>
          <a:p>
            <a:pPr marL="285750" indent="-285750">
              <a:buFont typeface="Arial"/>
              <a:buChar char="•"/>
            </a:pPr>
            <a:r>
              <a:rPr lang="en-US" sz="1400" b="1">
                <a:latin typeface="Aptos"/>
              </a:rPr>
              <a:t>Place:</a:t>
            </a:r>
            <a:r>
              <a:rPr lang="en-US" sz="1400">
                <a:latin typeface="Aptos"/>
              </a:rPr>
              <a:t> Virginia, </a:t>
            </a:r>
            <a:r>
              <a:rPr lang="en-US" sz="1400">
                <a:solidFill>
                  <a:srgbClr val="090909"/>
                </a:solidFill>
                <a:latin typeface="Aptos"/>
              </a:rPr>
              <a:t>Spotsylvania County</a:t>
            </a:r>
            <a:r>
              <a:rPr lang="en-US" sz="1400" b="1">
                <a:solidFill>
                  <a:srgbClr val="090909"/>
                </a:solidFill>
                <a:latin typeface="Aptos"/>
              </a:rPr>
              <a:t> </a:t>
            </a:r>
          </a:p>
          <a:p>
            <a:pPr marL="285750" indent="-285750">
              <a:buFont typeface="Arial"/>
              <a:buChar char="•"/>
            </a:pPr>
            <a:r>
              <a:rPr lang="en-US" sz="1400" b="1">
                <a:latin typeface="Aptos"/>
              </a:rPr>
              <a:t>Start Date: </a:t>
            </a:r>
            <a:r>
              <a:rPr lang="en-US" sz="1400">
                <a:latin typeface="Aptos"/>
              </a:rPr>
              <a:t>November 2026 </a:t>
            </a:r>
          </a:p>
          <a:p>
            <a:pPr marL="285750" indent="-285750">
              <a:buFont typeface="Arial"/>
              <a:buChar char="•"/>
            </a:pPr>
            <a:r>
              <a:rPr lang="en-US" sz="1400" b="1">
                <a:latin typeface="Aptos"/>
              </a:rPr>
              <a:t>Budget:</a:t>
            </a:r>
            <a:r>
              <a:rPr lang="en-US" sz="1400">
                <a:latin typeface="Aptos"/>
              </a:rPr>
              <a:t> $500 Millions </a:t>
            </a:r>
          </a:p>
          <a:p>
            <a:pPr marL="285750" indent="-285750">
              <a:buFont typeface="Arial"/>
              <a:buChar char="•"/>
            </a:pPr>
            <a:r>
              <a:rPr lang="en-US" sz="1400" b="1">
                <a:latin typeface="Aptos"/>
              </a:rPr>
              <a:t>NPV: </a:t>
            </a:r>
            <a:r>
              <a:rPr lang="en-US" sz="1400">
                <a:latin typeface="Aptos"/>
              </a:rPr>
              <a:t>$174 Million Revised </a:t>
            </a:r>
          </a:p>
          <a:p>
            <a:pPr marL="285750" indent="-285750">
              <a:buFont typeface="Arial"/>
              <a:buChar char="•"/>
            </a:pPr>
            <a:r>
              <a:rPr lang="en-US" sz="1400" b="1">
                <a:latin typeface="Aptos"/>
              </a:rPr>
              <a:t>Sponsor: </a:t>
            </a:r>
            <a:r>
              <a:rPr lang="en-US" sz="1400">
                <a:solidFill>
                  <a:srgbClr val="090909"/>
                </a:solidFill>
                <a:latin typeface="Aptos"/>
                <a:cs typeface="Biome"/>
              </a:rPr>
              <a:t>Amazon Web Services (AWS) </a:t>
            </a:r>
            <a:endParaRPr lang="en-US"/>
          </a:p>
        </p:txBody>
      </p:sp>
      <p:sp>
        <p:nvSpPr>
          <p:cNvPr id="7" name="TextBox 6">
            <a:extLst>
              <a:ext uri="{FF2B5EF4-FFF2-40B4-BE49-F238E27FC236}">
                <a16:creationId xmlns:a16="http://schemas.microsoft.com/office/drawing/2014/main" id="{EF86DBDE-172C-B562-476A-3C123192BB65}"/>
              </a:ext>
            </a:extLst>
          </p:cNvPr>
          <p:cNvSpPr txBox="1"/>
          <p:nvPr/>
        </p:nvSpPr>
        <p:spPr>
          <a:xfrm>
            <a:off x="5925754" y="1930601"/>
            <a:ext cx="6111806" cy="1169551"/>
          </a:xfrm>
          <a:prstGeom prst="rect">
            <a:avLst/>
          </a:prstGeom>
          <a:solidFill>
            <a:schemeClr val="accent4">
              <a:lumMod val="20000"/>
              <a:lumOff val="80000"/>
            </a:schemeClr>
          </a:solid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b="1">
                <a:latin typeface="Aptos"/>
              </a:rPr>
              <a:t>Value Proposition: </a:t>
            </a:r>
            <a:r>
              <a:rPr lang="en-US" sz="1400">
                <a:ea typeface="+mn-lt"/>
                <a:cs typeface="+mn-lt"/>
              </a:rPr>
              <a:t>We generate 150 megawatts of clean power for AWS data centers. We lock in fixed-cost energy for 20 years. We fulfill Amazon's Climate Pledge commitment with a measurable, permanent physical asset. And we create a structural competitive moat in Virginia's energy market that no competitor can replicate.</a:t>
            </a:r>
            <a:endParaRPr lang="en-US" sz="1400" b="1">
              <a:latin typeface="Aptos"/>
              <a:ea typeface="+mn-lt"/>
              <a:cs typeface="+mn-lt"/>
            </a:endParaRPr>
          </a:p>
        </p:txBody>
      </p:sp>
      <p:sp>
        <p:nvSpPr>
          <p:cNvPr id="8" name="TextBox 7">
            <a:extLst>
              <a:ext uri="{FF2B5EF4-FFF2-40B4-BE49-F238E27FC236}">
                <a16:creationId xmlns:a16="http://schemas.microsoft.com/office/drawing/2014/main" id="{1E0BDF38-B080-BAE0-BC9A-FD2B444409A7}"/>
              </a:ext>
            </a:extLst>
          </p:cNvPr>
          <p:cNvSpPr txBox="1"/>
          <p:nvPr/>
        </p:nvSpPr>
        <p:spPr>
          <a:xfrm>
            <a:off x="161678" y="3251272"/>
            <a:ext cx="11890596" cy="523220"/>
          </a:xfrm>
          <a:prstGeom prst="rect">
            <a:avLst/>
          </a:prstGeom>
          <a:solidFill>
            <a:schemeClr val="accent4">
              <a:lumMod val="20000"/>
              <a:lumOff val="80000"/>
            </a:schemeClr>
          </a:solid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b="1">
                <a:latin typeface="Aptos"/>
              </a:rPr>
              <a:t>Scope: </a:t>
            </a:r>
            <a:r>
              <a:rPr lang="en-US" sz="1400">
                <a:solidFill>
                  <a:srgbClr val="000000"/>
                </a:solidFill>
                <a:latin typeface="Aptos"/>
              </a:rPr>
              <a:t>Design and construct a </a:t>
            </a:r>
            <a:r>
              <a:rPr lang="en-US" sz="1400" b="1">
                <a:solidFill>
                  <a:srgbClr val="000000"/>
                </a:solidFill>
                <a:latin typeface="Aptos"/>
              </a:rPr>
              <a:t>150 MW utility-scale solar farm</a:t>
            </a:r>
            <a:r>
              <a:rPr lang="en-US" sz="1400">
                <a:solidFill>
                  <a:srgbClr val="000000"/>
                </a:solidFill>
                <a:latin typeface="Aptos"/>
              </a:rPr>
              <a:t> with battery storage and grid interconnection to support Amazon’s renewable energy needs.</a:t>
            </a:r>
            <a:endParaRPr lang="en-US" sz="1400">
              <a:latin typeface="Bierstadt"/>
            </a:endParaRPr>
          </a:p>
        </p:txBody>
      </p:sp>
      <p:sp>
        <p:nvSpPr>
          <p:cNvPr id="9" name="TextBox 8">
            <a:extLst>
              <a:ext uri="{FF2B5EF4-FFF2-40B4-BE49-F238E27FC236}">
                <a16:creationId xmlns:a16="http://schemas.microsoft.com/office/drawing/2014/main" id="{D6B0954C-0B30-5B1E-5343-B638AAE8ED7A}"/>
              </a:ext>
            </a:extLst>
          </p:cNvPr>
          <p:cNvSpPr txBox="1"/>
          <p:nvPr/>
        </p:nvSpPr>
        <p:spPr>
          <a:xfrm>
            <a:off x="4070047" y="4635827"/>
            <a:ext cx="7961372" cy="954107"/>
          </a:xfrm>
          <a:prstGeom prst="rect">
            <a:avLst/>
          </a:prstGeom>
          <a:solidFill>
            <a:schemeClr val="accent4">
              <a:lumMod val="20000"/>
              <a:lumOff val="80000"/>
            </a:schemeClr>
          </a:solid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Project Manager:</a:t>
            </a:r>
            <a:br>
              <a:rPr lang="en-US" sz="1400" b="1">
                <a:latin typeface="Aptos"/>
                <a:ea typeface="+mn-lt"/>
                <a:cs typeface="+mn-lt"/>
              </a:rPr>
            </a:br>
            <a:r>
              <a:rPr lang="en-US" sz="1400" b="1">
                <a:latin typeface="Aptos"/>
              </a:rPr>
              <a:t> __________________________________</a:t>
            </a:r>
            <a:br>
              <a:rPr lang="en-US" sz="1400" b="1">
                <a:latin typeface="Aptos"/>
                <a:ea typeface="+mn-lt"/>
                <a:cs typeface="+mn-lt"/>
              </a:rPr>
            </a:br>
            <a:r>
              <a:rPr lang="en-US" sz="1400" b="1">
                <a:latin typeface="Aptos"/>
              </a:rPr>
              <a:t> Daniela Gutierrez, Thanh Tung Le, Lee Worrel, Namira Rupani</a:t>
            </a:r>
            <a:br>
              <a:rPr lang="en-US" sz="1400" b="1">
                <a:latin typeface="Aptos"/>
                <a:ea typeface="+mn-lt"/>
                <a:cs typeface="+mn-lt"/>
              </a:rPr>
            </a:br>
            <a:r>
              <a:rPr lang="en-US" sz="1400" b="1">
                <a:latin typeface="Aptos"/>
              </a:rPr>
              <a:t> Date: ____________</a:t>
            </a:r>
            <a:endParaRPr lang="en-US" sz="1400">
              <a:latin typeface="Aptos"/>
            </a:endParaRPr>
          </a:p>
        </p:txBody>
      </p:sp>
      <p:sp>
        <p:nvSpPr>
          <p:cNvPr id="11" name="Title 3">
            <a:extLst>
              <a:ext uri="{FF2B5EF4-FFF2-40B4-BE49-F238E27FC236}">
                <a16:creationId xmlns:a16="http://schemas.microsoft.com/office/drawing/2014/main" id="{E21DD0A7-6D0C-2D49-0FB1-1F57BEA02FCF}"/>
              </a:ext>
            </a:extLst>
          </p:cNvPr>
          <p:cNvSpPr txBox="1">
            <a:spLocks/>
          </p:cNvSpPr>
          <p:nvPr/>
        </p:nvSpPr>
        <p:spPr>
          <a:xfrm>
            <a:off x="166983" y="2311422"/>
            <a:ext cx="2561640" cy="78638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400" b="0" kern="1200">
                <a:solidFill>
                  <a:schemeClr val="tx2"/>
                </a:solidFill>
                <a:latin typeface="+mj-lt"/>
                <a:ea typeface="+mj-ea"/>
                <a:cs typeface="+mj-cs"/>
              </a:defRPr>
            </a:lvl1pPr>
          </a:lstStyle>
          <a:p>
            <a:pPr algn="ctr"/>
            <a:r>
              <a:rPr lang="en-US" b="1">
                <a:solidFill>
                  <a:schemeClr val="bg1"/>
                </a:solidFill>
                <a:latin typeface="Biome"/>
                <a:cs typeface="Biome"/>
              </a:rPr>
              <a:t>Project Helios</a:t>
            </a:r>
            <a:r>
              <a:rPr lang="en-US" b="1">
                <a:solidFill>
                  <a:schemeClr val="tx1"/>
                </a:solidFill>
                <a:latin typeface="Biome"/>
                <a:cs typeface="Biome"/>
              </a:rPr>
              <a:t> </a:t>
            </a:r>
            <a:r>
              <a:rPr lang="en-US" b="1">
                <a:solidFill>
                  <a:schemeClr val="accent4">
                    <a:lumMod val="49000"/>
                  </a:schemeClr>
                </a:solidFill>
                <a:latin typeface="Biome"/>
                <a:cs typeface="Biome"/>
              </a:rPr>
              <a:t> </a:t>
            </a:r>
            <a:endParaRPr lang="en-US">
              <a:solidFill>
                <a:schemeClr val="accent4">
                  <a:lumMod val="49000"/>
                </a:schemeClr>
              </a:solidFill>
            </a:endParaRPr>
          </a:p>
        </p:txBody>
      </p:sp>
      <p:sp>
        <p:nvSpPr>
          <p:cNvPr id="12" name="TextBox 11">
            <a:extLst>
              <a:ext uri="{FF2B5EF4-FFF2-40B4-BE49-F238E27FC236}">
                <a16:creationId xmlns:a16="http://schemas.microsoft.com/office/drawing/2014/main" id="{696FEFDC-0269-4AF4-F446-07EAE70C24E4}"/>
              </a:ext>
            </a:extLst>
          </p:cNvPr>
          <p:cNvSpPr txBox="1"/>
          <p:nvPr/>
        </p:nvSpPr>
        <p:spPr>
          <a:xfrm>
            <a:off x="162048" y="3824956"/>
            <a:ext cx="11890597" cy="738664"/>
          </a:xfrm>
          <a:prstGeom prst="rect">
            <a:avLst/>
          </a:prstGeom>
          <a:solidFill>
            <a:schemeClr val="accent4">
              <a:lumMod val="20000"/>
              <a:lumOff val="80000"/>
            </a:schemeClr>
          </a:solid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b="1">
                <a:solidFill>
                  <a:srgbClr val="090909"/>
                </a:solidFill>
                <a:latin typeface="Aptos"/>
              </a:rPr>
              <a:t>Milestones:</a:t>
            </a:r>
            <a:r>
              <a:rPr lang="en-US" sz="1400" b="1">
                <a:latin typeface="Aptos"/>
                <a:ea typeface="+mn-lt"/>
                <a:cs typeface="+mn-lt"/>
              </a:rPr>
              <a:t> Month 8:</a:t>
            </a:r>
            <a:r>
              <a:rPr lang="en-US" sz="1400">
                <a:latin typeface="Aptos"/>
                <a:ea typeface="+mn-lt"/>
                <a:cs typeface="+mn-lt"/>
              </a:rPr>
              <a:t> Site acquisition and feasibility study complete, </a:t>
            </a:r>
            <a:r>
              <a:rPr lang="en-US" sz="1400" b="1">
                <a:latin typeface="Aptos"/>
                <a:ea typeface="+mn-lt"/>
                <a:cs typeface="+mn-lt"/>
              </a:rPr>
              <a:t>Month 12:</a:t>
            </a:r>
            <a:r>
              <a:rPr lang="en-US" sz="1400">
                <a:latin typeface="Aptos"/>
                <a:ea typeface="+mn-lt"/>
                <a:cs typeface="+mn-lt"/>
              </a:rPr>
              <a:t> All permits and interconnection approvals secured, </a:t>
            </a:r>
            <a:r>
              <a:rPr lang="en-US" sz="1400" b="1">
                <a:latin typeface="Aptos"/>
                <a:ea typeface="+mn-lt"/>
                <a:cs typeface="+mn-lt"/>
              </a:rPr>
              <a:t>Month 18:</a:t>
            </a:r>
            <a:r>
              <a:rPr lang="en-US" sz="1400">
                <a:latin typeface="Aptos"/>
                <a:ea typeface="+mn-lt"/>
                <a:cs typeface="+mn-lt"/>
              </a:rPr>
              <a:t> Engineering design finalized, </a:t>
            </a:r>
            <a:r>
              <a:rPr lang="en-US" sz="1400" b="1">
                <a:latin typeface="Aptos"/>
                <a:ea typeface="+mn-lt"/>
                <a:cs typeface="+mn-lt"/>
              </a:rPr>
              <a:t>Month 34:</a:t>
            </a:r>
            <a:r>
              <a:rPr lang="en-US" sz="1400">
                <a:latin typeface="Aptos"/>
                <a:ea typeface="+mn-lt"/>
                <a:cs typeface="+mn-lt"/>
              </a:rPr>
              <a:t> Equipment procurement complete, </a:t>
            </a:r>
            <a:r>
              <a:rPr lang="en-US" sz="1400" b="1">
                <a:latin typeface="Aptos"/>
                <a:ea typeface="+mn-lt"/>
                <a:cs typeface="+mn-lt"/>
              </a:rPr>
              <a:t>Month 45:</a:t>
            </a:r>
            <a:r>
              <a:rPr lang="en-US" sz="1400">
                <a:latin typeface="Aptos"/>
                <a:ea typeface="+mn-lt"/>
                <a:cs typeface="+mn-lt"/>
              </a:rPr>
              <a:t> Construction complete, </a:t>
            </a:r>
            <a:r>
              <a:rPr lang="en-US" sz="1400" b="1">
                <a:latin typeface="Aptos"/>
                <a:ea typeface="+mn-lt"/>
                <a:cs typeface="+mn-lt"/>
              </a:rPr>
              <a:t>Month 48:</a:t>
            </a:r>
            <a:r>
              <a:rPr lang="en-US" sz="1400">
                <a:latin typeface="Aptos"/>
                <a:ea typeface="+mn-lt"/>
                <a:cs typeface="+mn-lt"/>
              </a:rPr>
              <a:t> Testing and commissioning successful, </a:t>
            </a:r>
            <a:r>
              <a:rPr lang="en-US" sz="1400" b="1">
                <a:latin typeface="Aptos"/>
                <a:ea typeface="+mn-lt"/>
                <a:cs typeface="+mn-lt"/>
              </a:rPr>
              <a:t>Month 50:</a:t>
            </a:r>
            <a:r>
              <a:rPr lang="en-US" sz="1400">
                <a:latin typeface="Aptos"/>
                <a:ea typeface="+mn-lt"/>
                <a:cs typeface="+mn-lt"/>
              </a:rPr>
              <a:t> Commercial operation begins - (4 Years 2 months) </a:t>
            </a:r>
            <a:endParaRPr lang="en-US" sz="1400">
              <a:latin typeface="Aptos"/>
            </a:endParaRPr>
          </a:p>
        </p:txBody>
      </p:sp>
      <p:sp>
        <p:nvSpPr>
          <p:cNvPr id="14" name="TextBox 13">
            <a:extLst>
              <a:ext uri="{FF2B5EF4-FFF2-40B4-BE49-F238E27FC236}">
                <a16:creationId xmlns:a16="http://schemas.microsoft.com/office/drawing/2014/main" id="{3B6B653B-7BBA-9F86-BEE3-10E4589F434E}"/>
              </a:ext>
            </a:extLst>
          </p:cNvPr>
          <p:cNvSpPr txBox="1"/>
          <p:nvPr/>
        </p:nvSpPr>
        <p:spPr>
          <a:xfrm>
            <a:off x="166262" y="4635826"/>
            <a:ext cx="3659004" cy="954107"/>
          </a:xfrm>
          <a:prstGeom prst="rect">
            <a:avLst/>
          </a:prstGeom>
          <a:solidFill>
            <a:schemeClr val="accent4">
              <a:lumMod val="20000"/>
              <a:lumOff val="80000"/>
            </a:schemeClr>
          </a:solid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ea typeface="+mn-lt"/>
                <a:cs typeface="+mn-lt"/>
              </a:rPr>
              <a:t>Project Sponsor:</a:t>
            </a:r>
            <a:br>
              <a:rPr lang="en-US" sz="1400" b="1">
                <a:latin typeface="Aptos"/>
                <a:ea typeface="+mn-lt"/>
                <a:cs typeface="+mn-lt"/>
              </a:rPr>
            </a:br>
            <a:r>
              <a:rPr lang="en-US" sz="1400" b="1">
                <a:latin typeface="Aptos"/>
                <a:ea typeface="+mn-lt"/>
                <a:cs typeface="+mn-lt"/>
              </a:rPr>
              <a:t> __________________________________</a:t>
            </a:r>
            <a:br>
              <a:rPr lang="en-US" sz="1400" b="1">
                <a:latin typeface="Aptos"/>
                <a:ea typeface="+mn-lt"/>
                <a:cs typeface="+mn-lt"/>
              </a:rPr>
            </a:br>
            <a:r>
              <a:rPr lang="en-US" sz="1400" b="1">
                <a:latin typeface="Aptos"/>
                <a:ea typeface="+mn-lt"/>
                <a:cs typeface="+mn-lt"/>
              </a:rPr>
              <a:t> Director of Energy &amp; Infrastructure, AWS</a:t>
            </a:r>
            <a:br>
              <a:rPr lang="en-US" sz="1400" b="1">
                <a:latin typeface="Aptos"/>
                <a:ea typeface="+mn-lt"/>
                <a:cs typeface="+mn-lt"/>
              </a:rPr>
            </a:br>
            <a:r>
              <a:rPr lang="en-US" sz="1400" b="1">
                <a:latin typeface="Aptos"/>
                <a:ea typeface="+mn-lt"/>
                <a:cs typeface="+mn-lt"/>
              </a:rPr>
              <a:t> Date: ____________</a:t>
            </a:r>
            <a:endParaRPr lang="en-US" sz="1400">
              <a:latin typeface="Aptos"/>
              <a:ea typeface="+mn-lt"/>
              <a:cs typeface="+mn-lt"/>
            </a:endParaRPr>
          </a:p>
        </p:txBody>
      </p:sp>
      <p:sp>
        <p:nvSpPr>
          <p:cNvPr id="16" name="TextBox 15">
            <a:extLst>
              <a:ext uri="{FF2B5EF4-FFF2-40B4-BE49-F238E27FC236}">
                <a16:creationId xmlns:a16="http://schemas.microsoft.com/office/drawing/2014/main" id="{82A76BF2-D8C6-B937-AD40-8DF47A1A7747}"/>
              </a:ext>
            </a:extLst>
          </p:cNvPr>
          <p:cNvSpPr txBox="1"/>
          <p:nvPr/>
        </p:nvSpPr>
        <p:spPr>
          <a:xfrm>
            <a:off x="164124" y="5691555"/>
            <a:ext cx="3657600" cy="954107"/>
          </a:xfrm>
          <a:prstGeom prst="rect">
            <a:avLst/>
          </a:prstGeom>
          <a:solidFill>
            <a:schemeClr val="accent4">
              <a:lumMod val="20000"/>
              <a:lumOff val="80000"/>
            </a:schemeClr>
          </a:solid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Steering Committee:</a:t>
            </a:r>
            <a:br>
              <a:rPr lang="en-US" sz="1400">
                <a:latin typeface="Aptos"/>
              </a:rPr>
            </a:br>
            <a:r>
              <a:rPr lang="en-US" sz="1400">
                <a:latin typeface="Aptos"/>
              </a:rPr>
              <a:t>__________________________________</a:t>
            </a:r>
            <a:br>
              <a:rPr lang="en-US" sz="1400">
                <a:latin typeface="Aptos"/>
              </a:rPr>
            </a:br>
            <a:r>
              <a:rPr lang="en-US" sz="1400">
                <a:latin typeface="Aptos"/>
              </a:rPr>
              <a:t>AWS VP of Infrastructure</a:t>
            </a:r>
            <a:br>
              <a:rPr lang="en-US" sz="1400">
                <a:latin typeface="Aptos"/>
              </a:rPr>
            </a:br>
            <a:r>
              <a:rPr lang="en-US" sz="1400">
                <a:latin typeface="Aptos"/>
              </a:rPr>
              <a:t>Date: ____________</a:t>
            </a:r>
          </a:p>
        </p:txBody>
      </p:sp>
      <p:sp>
        <p:nvSpPr>
          <p:cNvPr id="17" name="TextBox 16">
            <a:extLst>
              <a:ext uri="{FF2B5EF4-FFF2-40B4-BE49-F238E27FC236}">
                <a16:creationId xmlns:a16="http://schemas.microsoft.com/office/drawing/2014/main" id="{C2A48A45-0F7F-DE6C-3B9C-C5E0A7E5E599}"/>
              </a:ext>
            </a:extLst>
          </p:cNvPr>
          <p:cNvSpPr txBox="1"/>
          <p:nvPr/>
        </p:nvSpPr>
        <p:spPr>
          <a:xfrm>
            <a:off x="4067908" y="5691555"/>
            <a:ext cx="6424246" cy="954107"/>
          </a:xfrm>
          <a:prstGeom prst="rect">
            <a:avLst/>
          </a:prstGeom>
          <a:solidFill>
            <a:schemeClr val="accent4">
              <a:lumMod val="20000"/>
              <a:lumOff val="80000"/>
            </a:schemeClr>
          </a:solid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Steering Committee:</a:t>
            </a:r>
            <a:br>
              <a:rPr lang="en-US" sz="1400">
                <a:latin typeface="Aptos"/>
              </a:rPr>
            </a:br>
            <a:r>
              <a:rPr lang="en-US" sz="1400">
                <a:latin typeface="Aptos"/>
              </a:rPr>
              <a:t>_______________</a:t>
            </a:r>
            <a:br>
              <a:rPr lang="en-US" sz="1400">
                <a:latin typeface="Aptos"/>
              </a:rPr>
            </a:br>
            <a:r>
              <a:rPr lang="en-US" sz="1400">
                <a:latin typeface="Aptos"/>
              </a:rPr>
              <a:t>Amazon Director of Sustainability</a:t>
            </a:r>
            <a:br>
              <a:rPr lang="en-US" sz="1400">
                <a:latin typeface="Aptos"/>
              </a:rPr>
            </a:br>
            <a:r>
              <a:rPr lang="en-US" sz="1400">
                <a:latin typeface="Aptos"/>
              </a:rPr>
              <a:t>Date: ____________</a:t>
            </a:r>
            <a:endParaRPr lang="en-US" sz="1400"/>
          </a:p>
        </p:txBody>
      </p:sp>
      <p:pic>
        <p:nvPicPr>
          <p:cNvPr id="10" name="Picture 9" descr="AWS Announces Four New Capabilities That Make It Easier to Build IoT ...">
            <a:extLst>
              <a:ext uri="{FF2B5EF4-FFF2-40B4-BE49-F238E27FC236}">
                <a16:creationId xmlns:a16="http://schemas.microsoft.com/office/drawing/2014/main" id="{62002B8A-EE2F-B67E-F448-50F94A91C083}"/>
              </a:ext>
            </a:extLst>
          </p:cNvPr>
          <p:cNvPicPr>
            <a:picLocks noChangeAspect="1"/>
          </p:cNvPicPr>
          <p:nvPr/>
        </p:nvPicPr>
        <p:blipFill>
          <a:blip r:embed="rId4"/>
          <a:stretch>
            <a:fillRect/>
          </a:stretch>
        </p:blipFill>
        <p:spPr>
          <a:xfrm>
            <a:off x="10699881" y="5820775"/>
            <a:ext cx="1182122" cy="693132"/>
          </a:xfrm>
          <a:prstGeom prst="rect">
            <a:avLst/>
          </a:prstGeom>
        </p:spPr>
      </p:pic>
    </p:spTree>
    <p:extLst>
      <p:ext uri="{BB962C8B-B14F-4D97-AF65-F5344CB8AC3E}">
        <p14:creationId xmlns:p14="http://schemas.microsoft.com/office/powerpoint/2010/main" val="46642289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A567669F-3925-E4FB-FBC0-0D49EE341CDC}"/>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64B5B0AA-53BA-5B2C-00B7-1CAB6BA9729A}"/>
              </a:ext>
            </a:extLst>
          </p:cNvPr>
          <p:cNvSpPr>
            <a:spLocks noGrp="1"/>
          </p:cNvSpPr>
          <p:nvPr>
            <p:ph type="dt" sz="half" idx="10"/>
          </p:nvPr>
        </p:nvSpPr>
        <p:spPr>
          <a:xfrm>
            <a:off x="457199" y="6397586"/>
            <a:ext cx="4043855" cy="365125"/>
          </a:xfrm>
        </p:spPr>
        <p:txBody>
          <a:bodyPr anchor="ctr">
            <a:normAutofit/>
          </a:bodyPr>
          <a:lstStyle/>
          <a:p>
            <a:pPr>
              <a:spcAft>
                <a:spcPts val="600"/>
              </a:spcAft>
            </a:pPr>
            <a:fld id="{0A2676FB-3D7D-40C8-BF49-5420830A3578}" type="datetime1">
              <a:rPr lang="en-US" smtClean="0"/>
              <a:pPr>
                <a:spcAft>
                  <a:spcPts val="600"/>
                </a:spcAft>
              </a:pPr>
              <a:t>9/18/2026</a:t>
            </a:fld>
            <a:endParaRPr lang="en-US"/>
          </a:p>
        </p:txBody>
      </p:sp>
      <p:sp>
        <p:nvSpPr>
          <p:cNvPr id="11" name="Title 1">
            <a:extLst>
              <a:ext uri="{FF2B5EF4-FFF2-40B4-BE49-F238E27FC236}">
                <a16:creationId xmlns:a16="http://schemas.microsoft.com/office/drawing/2014/main" id="{FF872ED3-1723-DA75-D289-0F29E67B0BBE}"/>
              </a:ext>
            </a:extLst>
          </p:cNvPr>
          <p:cNvSpPr>
            <a:spLocks noGrp="1"/>
          </p:cNvSpPr>
          <p:nvPr>
            <p:ph type="title"/>
          </p:nvPr>
        </p:nvSpPr>
        <p:spPr>
          <a:xfrm>
            <a:off x="542630" y="90724"/>
            <a:ext cx="2899423" cy="557080"/>
          </a:xfrm>
        </p:spPr>
        <p:txBody>
          <a:bodyPr>
            <a:noAutofit/>
          </a:bodyPr>
          <a:lstStyle/>
          <a:p>
            <a:r>
              <a:rPr lang="en-US" sz="2000" b="1">
                <a:solidFill>
                  <a:schemeClr val="accent4">
                    <a:lumMod val="49000"/>
                  </a:schemeClr>
                </a:solidFill>
                <a:latin typeface="Biome"/>
                <a:cs typeface="Biome"/>
              </a:rPr>
              <a:t>Stakeholder Map </a:t>
            </a:r>
          </a:p>
        </p:txBody>
      </p:sp>
      <p:cxnSp>
        <p:nvCxnSpPr>
          <p:cNvPr id="4" name="Straight Arrow Connector 3">
            <a:extLst>
              <a:ext uri="{FF2B5EF4-FFF2-40B4-BE49-F238E27FC236}">
                <a16:creationId xmlns:a16="http://schemas.microsoft.com/office/drawing/2014/main" id="{4737D647-9C95-5268-5154-9827246D21D8}"/>
              </a:ext>
            </a:extLst>
          </p:cNvPr>
          <p:cNvCxnSpPr/>
          <p:nvPr/>
        </p:nvCxnSpPr>
        <p:spPr>
          <a:xfrm flipH="1">
            <a:off x="1000779" y="660101"/>
            <a:ext cx="306" cy="5546847"/>
          </a:xfrm>
          <a:prstGeom prst="straightConnector1">
            <a:avLst/>
          </a:prstGeom>
          <a:ln w="28575"/>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01C06EE-6963-A243-4806-924894B4235A}"/>
              </a:ext>
            </a:extLst>
          </p:cNvPr>
          <p:cNvCxnSpPr>
            <a:cxnSpLocks/>
          </p:cNvCxnSpPr>
          <p:nvPr/>
        </p:nvCxnSpPr>
        <p:spPr>
          <a:xfrm flipH="1" flipV="1">
            <a:off x="988779" y="6218947"/>
            <a:ext cx="10314306" cy="9153"/>
          </a:xfrm>
          <a:prstGeom prst="straightConnector1">
            <a:avLst/>
          </a:prstGeom>
          <a:ln w="28575"/>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FB746C5-5053-95AA-EAA6-C9546BC40C05}"/>
              </a:ext>
            </a:extLst>
          </p:cNvPr>
          <p:cNvCxnSpPr>
            <a:cxnSpLocks/>
          </p:cNvCxnSpPr>
          <p:nvPr/>
        </p:nvCxnSpPr>
        <p:spPr>
          <a:xfrm flipH="1">
            <a:off x="6010779" y="648100"/>
            <a:ext cx="18306" cy="5576847"/>
          </a:xfrm>
          <a:prstGeom prst="straightConnector1">
            <a:avLst/>
          </a:prstGeom>
          <a:ln w="28575"/>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278A55E-576C-799B-F0DB-40B801E830C0}"/>
              </a:ext>
            </a:extLst>
          </p:cNvPr>
          <p:cNvCxnSpPr>
            <a:cxnSpLocks/>
          </p:cNvCxnSpPr>
          <p:nvPr/>
        </p:nvCxnSpPr>
        <p:spPr>
          <a:xfrm flipV="1">
            <a:off x="971085" y="3584947"/>
            <a:ext cx="10331694" cy="15153"/>
          </a:xfrm>
          <a:prstGeom prst="straightConnector1">
            <a:avLst/>
          </a:prstGeom>
          <a:ln w="28575"/>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DE9BA3A-F476-8E9E-9397-02712B48FB4C}"/>
              </a:ext>
            </a:extLst>
          </p:cNvPr>
          <p:cNvSpPr txBox="1"/>
          <p:nvPr/>
        </p:nvSpPr>
        <p:spPr>
          <a:xfrm rot="16200000">
            <a:off x="-297628" y="2317395"/>
            <a:ext cx="20733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High Interest </a:t>
            </a:r>
          </a:p>
        </p:txBody>
      </p:sp>
      <p:sp>
        <p:nvSpPr>
          <p:cNvPr id="13" name="TextBox 12">
            <a:extLst>
              <a:ext uri="{FF2B5EF4-FFF2-40B4-BE49-F238E27FC236}">
                <a16:creationId xmlns:a16="http://schemas.microsoft.com/office/drawing/2014/main" id="{CCE5767C-A6C7-4BC8-5C8B-2B99AA1F2685}"/>
              </a:ext>
            </a:extLst>
          </p:cNvPr>
          <p:cNvSpPr txBox="1"/>
          <p:nvPr/>
        </p:nvSpPr>
        <p:spPr>
          <a:xfrm rot="16200000">
            <a:off x="-297628" y="4657395"/>
            <a:ext cx="20733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Low Interest</a:t>
            </a:r>
          </a:p>
        </p:txBody>
      </p:sp>
      <p:sp>
        <p:nvSpPr>
          <p:cNvPr id="14" name="TextBox 13">
            <a:extLst>
              <a:ext uri="{FF2B5EF4-FFF2-40B4-BE49-F238E27FC236}">
                <a16:creationId xmlns:a16="http://schemas.microsoft.com/office/drawing/2014/main" id="{5E747B16-3B5E-FF67-E330-A15A0047C396}"/>
              </a:ext>
            </a:extLst>
          </p:cNvPr>
          <p:cNvSpPr txBox="1"/>
          <p:nvPr/>
        </p:nvSpPr>
        <p:spPr>
          <a:xfrm>
            <a:off x="7706372" y="6223395"/>
            <a:ext cx="20733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High Impact</a:t>
            </a:r>
          </a:p>
        </p:txBody>
      </p:sp>
      <p:sp>
        <p:nvSpPr>
          <p:cNvPr id="15" name="TextBox 14">
            <a:extLst>
              <a:ext uri="{FF2B5EF4-FFF2-40B4-BE49-F238E27FC236}">
                <a16:creationId xmlns:a16="http://schemas.microsoft.com/office/drawing/2014/main" id="{05CD0D96-568B-BC95-FD58-24FE3C613BD6}"/>
              </a:ext>
            </a:extLst>
          </p:cNvPr>
          <p:cNvSpPr txBox="1"/>
          <p:nvPr/>
        </p:nvSpPr>
        <p:spPr>
          <a:xfrm>
            <a:off x="2276371" y="6223395"/>
            <a:ext cx="20733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Low Impact</a:t>
            </a:r>
          </a:p>
        </p:txBody>
      </p:sp>
      <p:graphicFrame>
        <p:nvGraphicFramePr>
          <p:cNvPr id="12" name="Table 11">
            <a:extLst>
              <a:ext uri="{FF2B5EF4-FFF2-40B4-BE49-F238E27FC236}">
                <a16:creationId xmlns:a16="http://schemas.microsoft.com/office/drawing/2014/main" id="{2588AA78-B370-EFCB-EDF9-26E5A82D91AC}"/>
              </a:ext>
            </a:extLst>
          </p:cNvPr>
          <p:cNvGraphicFramePr>
            <a:graphicFrameLocks noGrp="1"/>
          </p:cNvGraphicFramePr>
          <p:nvPr>
            <p:extLst>
              <p:ext uri="{D42A27DB-BD31-4B8C-83A1-F6EECF244321}">
                <p14:modId xmlns:p14="http://schemas.microsoft.com/office/powerpoint/2010/main" val="444863585"/>
              </p:ext>
            </p:extLst>
          </p:nvPr>
        </p:nvGraphicFramePr>
        <p:xfrm>
          <a:off x="1157374" y="1005330"/>
          <a:ext cx="4723468" cy="822960"/>
        </p:xfrm>
        <a:graphic>
          <a:graphicData uri="http://schemas.openxmlformats.org/drawingml/2006/table">
            <a:tbl>
              <a:tblPr bandRow="1"/>
              <a:tblGrid>
                <a:gridCol w="4046012">
                  <a:extLst>
                    <a:ext uri="{9D8B030D-6E8A-4147-A177-3AD203B41FA5}">
                      <a16:colId xmlns:a16="http://schemas.microsoft.com/office/drawing/2014/main" val="2459554163"/>
                    </a:ext>
                  </a:extLst>
                </a:gridCol>
                <a:gridCol w="677456">
                  <a:extLst>
                    <a:ext uri="{9D8B030D-6E8A-4147-A177-3AD203B41FA5}">
                      <a16:colId xmlns:a16="http://schemas.microsoft.com/office/drawing/2014/main" val="817361803"/>
                    </a:ext>
                  </a:extLst>
                </a:gridCol>
              </a:tblGrid>
              <a:tr h="180975">
                <a:tc>
                  <a:txBody>
                    <a:bodyPr/>
                    <a:lstStyle/>
                    <a:p>
                      <a:pPr algn="l" fontAlgn="b">
                        <a:buNone/>
                      </a:pPr>
                      <a:r>
                        <a:rPr lang="en-US" sz="1200">
                          <a:effectLst/>
                        </a:rPr>
                        <a:t>Amazon Worldwide Communications</a:t>
                      </a:r>
                    </a:p>
                  </a:txBody>
                  <a:tcPr anchor="ctr"/>
                </a:tc>
                <a:tc>
                  <a:txBody>
                    <a:bodyPr/>
                    <a:lstStyle/>
                    <a:p>
                      <a:pPr algn="ctr" fontAlgn="b">
                        <a:buNone/>
                      </a:pPr>
                      <a:r>
                        <a:rPr lang="en-US" sz="1200">
                          <a:effectLst/>
                        </a:rPr>
                        <a:t>😑</a:t>
                      </a:r>
                    </a:p>
                  </a:txBody>
                  <a:tcPr marL="9525" marR="9525" marT="9525" anchor="ctr">
                    <a:solidFill>
                      <a:srgbClr val="FFFF00"/>
                    </a:solidFill>
                  </a:tcPr>
                </a:tc>
                <a:extLst>
                  <a:ext uri="{0D108BD9-81ED-4DB2-BD59-A6C34878D82A}">
                    <a16:rowId xmlns:a16="http://schemas.microsoft.com/office/drawing/2014/main" val="2317191706"/>
                  </a:ext>
                </a:extLst>
              </a:tr>
              <a:tr h="180975">
                <a:tc>
                  <a:txBody>
                    <a:bodyPr/>
                    <a:lstStyle/>
                    <a:p>
                      <a:pPr algn="l" fontAlgn="b">
                        <a:buNone/>
                      </a:pPr>
                      <a:r>
                        <a:rPr lang="en-US" sz="1200">
                          <a:effectLst/>
                        </a:rPr>
                        <a:t>Insurance Providers</a:t>
                      </a:r>
                    </a:p>
                  </a:txBody>
                  <a:tcPr anchor="ctr"/>
                </a:tc>
                <a:tc>
                  <a:txBody>
                    <a:bodyPr/>
                    <a:lstStyle/>
                    <a:p>
                      <a:pPr algn="ctr" fontAlgn="b">
                        <a:buNone/>
                      </a:pPr>
                      <a:r>
                        <a:rPr lang="en-US" sz="1200">
                          <a:effectLst/>
                        </a:rPr>
                        <a:t>😊</a:t>
                      </a:r>
                    </a:p>
                  </a:txBody>
                  <a:tcPr marL="9525" marR="9525" marT="9525" anchor="ctr">
                    <a:solidFill>
                      <a:srgbClr val="92D050"/>
                    </a:solidFill>
                  </a:tcPr>
                </a:tc>
                <a:extLst>
                  <a:ext uri="{0D108BD9-81ED-4DB2-BD59-A6C34878D82A}">
                    <a16:rowId xmlns:a16="http://schemas.microsoft.com/office/drawing/2014/main" val="2658873959"/>
                  </a:ext>
                </a:extLst>
              </a:tr>
              <a:tr h="180975">
                <a:tc>
                  <a:txBody>
                    <a:bodyPr/>
                    <a:lstStyle/>
                    <a:p>
                      <a:pPr algn="l" fontAlgn="b">
                        <a:buNone/>
                      </a:pPr>
                      <a:r>
                        <a:rPr lang="en-US" sz="1200">
                          <a:effectLst/>
                        </a:rPr>
                        <a:t>Competitors</a:t>
                      </a:r>
                    </a:p>
                  </a:txBody>
                  <a:tcPr anchor="ctr"/>
                </a:tc>
                <a:tc>
                  <a:txBody>
                    <a:bodyPr/>
                    <a:lstStyle/>
                    <a:p>
                      <a:pPr algn="ctr" fontAlgn="b">
                        <a:buNone/>
                      </a:pPr>
                      <a:r>
                        <a:rPr lang="en-US" sz="1200">
                          <a:effectLst/>
                        </a:rPr>
                        <a:t>🙁</a:t>
                      </a:r>
                    </a:p>
                  </a:txBody>
                  <a:tcPr marL="9525" marR="9525" marT="9525" anchor="ctr">
                    <a:solidFill>
                      <a:srgbClr val="FF0000"/>
                    </a:solidFill>
                  </a:tcPr>
                </a:tc>
                <a:extLst>
                  <a:ext uri="{0D108BD9-81ED-4DB2-BD59-A6C34878D82A}">
                    <a16:rowId xmlns:a16="http://schemas.microsoft.com/office/drawing/2014/main" val="3690713526"/>
                  </a:ext>
                </a:extLst>
              </a:tr>
            </a:tbl>
          </a:graphicData>
        </a:graphic>
      </p:graphicFrame>
      <p:graphicFrame>
        <p:nvGraphicFramePr>
          <p:cNvPr id="17" name="Table 16">
            <a:extLst>
              <a:ext uri="{FF2B5EF4-FFF2-40B4-BE49-F238E27FC236}">
                <a16:creationId xmlns:a16="http://schemas.microsoft.com/office/drawing/2014/main" id="{62E9BE35-985A-B351-6595-3733E189624B}"/>
              </a:ext>
            </a:extLst>
          </p:cNvPr>
          <p:cNvGraphicFramePr>
            <a:graphicFrameLocks noGrp="1"/>
          </p:cNvGraphicFramePr>
          <p:nvPr>
            <p:extLst>
              <p:ext uri="{D42A27DB-BD31-4B8C-83A1-F6EECF244321}">
                <p14:modId xmlns:p14="http://schemas.microsoft.com/office/powerpoint/2010/main" val="2348590897"/>
              </p:ext>
            </p:extLst>
          </p:nvPr>
        </p:nvGraphicFramePr>
        <p:xfrm>
          <a:off x="1167400" y="4017884"/>
          <a:ext cx="4711228" cy="822960"/>
        </p:xfrm>
        <a:graphic>
          <a:graphicData uri="http://schemas.openxmlformats.org/drawingml/2006/table">
            <a:tbl>
              <a:tblPr bandRow="1">
                <a:tableStyleId>{5940675A-B579-460E-94D1-54222C63F5DA}</a:tableStyleId>
              </a:tblPr>
              <a:tblGrid>
                <a:gridCol w="4055389">
                  <a:extLst>
                    <a:ext uri="{9D8B030D-6E8A-4147-A177-3AD203B41FA5}">
                      <a16:colId xmlns:a16="http://schemas.microsoft.com/office/drawing/2014/main" val="3818161929"/>
                    </a:ext>
                  </a:extLst>
                </a:gridCol>
                <a:gridCol w="655839">
                  <a:extLst>
                    <a:ext uri="{9D8B030D-6E8A-4147-A177-3AD203B41FA5}">
                      <a16:colId xmlns:a16="http://schemas.microsoft.com/office/drawing/2014/main" val="2048946010"/>
                    </a:ext>
                  </a:extLst>
                </a:gridCol>
              </a:tblGrid>
              <a:tr h="180975">
                <a:tc>
                  <a:txBody>
                    <a:bodyPr/>
                    <a:lstStyle/>
                    <a:p>
                      <a:pPr algn="l">
                        <a:buNone/>
                      </a:pPr>
                      <a:r>
                        <a:rPr lang="en-US" sz="1200">
                          <a:effectLst/>
                        </a:rPr>
                        <a:t>Environmental/Conservation Groups</a:t>
                      </a:r>
                    </a:p>
                  </a:txBody>
                  <a:tcPr anchor="ctr"/>
                </a:tc>
                <a:tc>
                  <a:txBody>
                    <a:bodyPr/>
                    <a:lstStyle/>
                    <a:p>
                      <a:pPr algn="ctr">
                        <a:buNone/>
                      </a:pPr>
                      <a:r>
                        <a:rPr lang="en-US" sz="1200">
                          <a:effectLst/>
                        </a:rPr>
                        <a:t>🙁</a:t>
                      </a:r>
                    </a:p>
                  </a:txBody>
                  <a:tcPr anchor="ctr">
                    <a:solidFill>
                      <a:srgbClr val="FF0000"/>
                    </a:solidFill>
                  </a:tcPr>
                </a:tc>
                <a:extLst>
                  <a:ext uri="{0D108BD9-81ED-4DB2-BD59-A6C34878D82A}">
                    <a16:rowId xmlns:a16="http://schemas.microsoft.com/office/drawing/2014/main" val="21397400"/>
                  </a:ext>
                </a:extLst>
              </a:tr>
              <a:tr h="180975">
                <a:tc>
                  <a:txBody>
                    <a:bodyPr/>
                    <a:lstStyle/>
                    <a:p>
                      <a:pPr algn="l">
                        <a:buNone/>
                      </a:pPr>
                      <a:r>
                        <a:rPr lang="en-US" sz="1200">
                          <a:effectLst/>
                        </a:rPr>
                        <a:t>Local Community Organizations</a:t>
                      </a:r>
                    </a:p>
                  </a:txBody>
                  <a:tcPr anchor="ctr"/>
                </a:tc>
                <a:tc>
                  <a:txBody>
                    <a:bodyPr/>
                    <a:lstStyle/>
                    <a:p>
                      <a:pPr algn="ctr">
                        <a:buNone/>
                      </a:pPr>
                      <a:r>
                        <a:rPr lang="en-US" sz="1200"/>
                        <a:t>😑</a:t>
                      </a:r>
                    </a:p>
                  </a:txBody>
                  <a:tcPr anchor="ctr">
                    <a:solidFill>
                      <a:srgbClr val="FFFF00"/>
                    </a:solidFill>
                  </a:tcPr>
                </a:tc>
                <a:extLst>
                  <a:ext uri="{0D108BD9-81ED-4DB2-BD59-A6C34878D82A}">
                    <a16:rowId xmlns:a16="http://schemas.microsoft.com/office/drawing/2014/main" val="4245429697"/>
                  </a:ext>
                </a:extLst>
              </a:tr>
              <a:tr h="180975">
                <a:tc>
                  <a:txBody>
                    <a:bodyPr/>
                    <a:lstStyle/>
                    <a:p>
                      <a:pPr algn="l">
                        <a:buNone/>
                      </a:pPr>
                      <a:r>
                        <a:rPr lang="en-US" sz="1200">
                          <a:effectLst/>
                        </a:rPr>
                        <a:t>Amazon Shareholders</a:t>
                      </a:r>
                    </a:p>
                  </a:txBody>
                  <a:tcPr anchor="ctr"/>
                </a:tc>
                <a:tc>
                  <a:txBody>
                    <a:bodyPr/>
                    <a:lstStyle/>
                    <a:p>
                      <a:pPr algn="ctr">
                        <a:buNone/>
                      </a:pPr>
                      <a:r>
                        <a:rPr lang="en-US" sz="1200"/>
                        <a:t>😑</a:t>
                      </a:r>
                    </a:p>
                  </a:txBody>
                  <a:tcPr anchor="ctr">
                    <a:solidFill>
                      <a:srgbClr val="FFFF00"/>
                    </a:solidFill>
                  </a:tcPr>
                </a:tc>
                <a:extLst>
                  <a:ext uri="{0D108BD9-81ED-4DB2-BD59-A6C34878D82A}">
                    <a16:rowId xmlns:a16="http://schemas.microsoft.com/office/drawing/2014/main" val="1826738733"/>
                  </a:ext>
                </a:extLst>
              </a:tr>
            </a:tbl>
          </a:graphicData>
        </a:graphic>
      </p:graphicFrame>
      <p:graphicFrame>
        <p:nvGraphicFramePr>
          <p:cNvPr id="19" name="Table 18">
            <a:extLst>
              <a:ext uri="{FF2B5EF4-FFF2-40B4-BE49-F238E27FC236}">
                <a16:creationId xmlns:a16="http://schemas.microsoft.com/office/drawing/2014/main" id="{61452368-3E4E-5C3E-FD64-34051139D4FB}"/>
              </a:ext>
            </a:extLst>
          </p:cNvPr>
          <p:cNvGraphicFramePr>
            <a:graphicFrameLocks noGrp="1"/>
          </p:cNvGraphicFramePr>
          <p:nvPr>
            <p:extLst>
              <p:ext uri="{D42A27DB-BD31-4B8C-83A1-F6EECF244321}">
                <p14:modId xmlns:p14="http://schemas.microsoft.com/office/powerpoint/2010/main" val="2062756217"/>
              </p:ext>
            </p:extLst>
          </p:nvPr>
        </p:nvGraphicFramePr>
        <p:xfrm>
          <a:off x="6192245" y="991737"/>
          <a:ext cx="5223117" cy="2377440"/>
        </p:xfrm>
        <a:graphic>
          <a:graphicData uri="http://schemas.openxmlformats.org/drawingml/2006/table">
            <a:tbl>
              <a:tblPr bandRow="1">
                <a:tableStyleId>{5940675A-B579-460E-94D1-54222C63F5DA}</a:tableStyleId>
              </a:tblPr>
              <a:tblGrid>
                <a:gridCol w="4370373">
                  <a:extLst>
                    <a:ext uri="{9D8B030D-6E8A-4147-A177-3AD203B41FA5}">
                      <a16:colId xmlns:a16="http://schemas.microsoft.com/office/drawing/2014/main" val="146309062"/>
                    </a:ext>
                  </a:extLst>
                </a:gridCol>
                <a:gridCol w="852744">
                  <a:extLst>
                    <a:ext uri="{9D8B030D-6E8A-4147-A177-3AD203B41FA5}">
                      <a16:colId xmlns:a16="http://schemas.microsoft.com/office/drawing/2014/main" val="2920302227"/>
                    </a:ext>
                  </a:extLst>
                </a:gridCol>
              </a:tblGrid>
              <a:tr h="249092">
                <a:tc>
                  <a:txBody>
                    <a:bodyPr/>
                    <a:lstStyle/>
                    <a:p>
                      <a:pPr lvl="0" algn="l">
                        <a:buNone/>
                      </a:pPr>
                      <a:r>
                        <a:rPr lang="en-US" sz="1200">
                          <a:effectLst/>
                        </a:rPr>
                        <a:t>AWS (Infra / DC Ops)</a:t>
                      </a:r>
                    </a:p>
                  </a:txBody>
                  <a:tcPr anchor="ctr"/>
                </a:tc>
                <a:tc>
                  <a:txBody>
                    <a:bodyPr/>
                    <a:lstStyle/>
                    <a:p>
                      <a:pPr algn="ctr">
                        <a:buNone/>
                      </a:pPr>
                      <a:r>
                        <a:rPr lang="en-US" sz="1200">
                          <a:effectLst/>
                        </a:rPr>
                        <a:t>😊</a:t>
                      </a:r>
                    </a:p>
                  </a:txBody>
                  <a:tcPr anchor="ctr">
                    <a:solidFill>
                      <a:srgbClr val="92D050"/>
                    </a:solidFill>
                  </a:tcPr>
                </a:tc>
                <a:extLst>
                  <a:ext uri="{0D108BD9-81ED-4DB2-BD59-A6C34878D82A}">
                    <a16:rowId xmlns:a16="http://schemas.microsoft.com/office/drawing/2014/main" val="4193731165"/>
                  </a:ext>
                </a:extLst>
              </a:tr>
              <a:tr h="249092">
                <a:tc>
                  <a:txBody>
                    <a:bodyPr/>
                    <a:lstStyle/>
                    <a:p>
                      <a:pPr lvl="0" algn="l">
                        <a:buNone/>
                      </a:pPr>
                      <a:r>
                        <a:rPr lang="en-US" sz="1200">
                          <a:effectLst/>
                        </a:rPr>
                        <a:t>Amazon Energy &amp; Sustainability</a:t>
                      </a:r>
                    </a:p>
                  </a:txBody>
                  <a:tcPr anchor="ctr"/>
                </a:tc>
                <a:tc>
                  <a:txBody>
                    <a:bodyPr/>
                    <a:lstStyle/>
                    <a:p>
                      <a:pPr algn="ctr">
                        <a:buNone/>
                      </a:pPr>
                      <a:r>
                        <a:rPr lang="en-US" sz="1200"/>
                        <a:t>😊</a:t>
                      </a:r>
                    </a:p>
                  </a:txBody>
                  <a:tcPr anchor="ctr">
                    <a:solidFill>
                      <a:srgbClr val="92D050"/>
                    </a:solidFill>
                  </a:tcPr>
                </a:tc>
                <a:extLst>
                  <a:ext uri="{0D108BD9-81ED-4DB2-BD59-A6C34878D82A}">
                    <a16:rowId xmlns:a16="http://schemas.microsoft.com/office/drawing/2014/main" val="1720355010"/>
                  </a:ext>
                </a:extLst>
              </a:tr>
              <a:tr h="249092">
                <a:tc>
                  <a:txBody>
                    <a:bodyPr/>
                    <a:lstStyle/>
                    <a:p>
                      <a:pPr lvl="0" algn="l">
                        <a:buNone/>
                      </a:pPr>
                      <a:r>
                        <a:rPr lang="en-US" sz="1200">
                          <a:effectLst/>
                        </a:rPr>
                        <a:t>Amazon Supporting Departments </a:t>
                      </a:r>
                    </a:p>
                  </a:txBody>
                  <a:tcPr anchor="ctr"/>
                </a:tc>
                <a:tc>
                  <a:txBody>
                    <a:bodyPr/>
                    <a:lstStyle/>
                    <a:p>
                      <a:pPr algn="ctr">
                        <a:buNone/>
                      </a:pPr>
                      <a:r>
                        <a:rPr lang="en-US" sz="1200"/>
                        <a:t>😑</a:t>
                      </a:r>
                    </a:p>
                  </a:txBody>
                  <a:tcPr anchor="ctr">
                    <a:solidFill>
                      <a:srgbClr val="FFFF00"/>
                    </a:solidFill>
                  </a:tcPr>
                </a:tc>
                <a:extLst>
                  <a:ext uri="{0D108BD9-81ED-4DB2-BD59-A6C34878D82A}">
                    <a16:rowId xmlns:a16="http://schemas.microsoft.com/office/drawing/2014/main" val="4286627245"/>
                  </a:ext>
                </a:extLst>
              </a:tr>
              <a:tr h="249092">
                <a:tc>
                  <a:txBody>
                    <a:bodyPr/>
                    <a:lstStyle/>
                    <a:p>
                      <a:pPr lvl="0" algn="l">
                        <a:buNone/>
                      </a:pPr>
                      <a:r>
                        <a:rPr lang="en-US" sz="1200" b="1">
                          <a:effectLst/>
                        </a:rPr>
                        <a:t>EPC Contractor (Engineering, Procurement, and Construction) -Review </a:t>
                      </a:r>
                    </a:p>
                  </a:txBody>
                  <a:tcPr anchor="ctr"/>
                </a:tc>
                <a:tc>
                  <a:txBody>
                    <a:bodyPr/>
                    <a:lstStyle/>
                    <a:p>
                      <a:pPr algn="ctr">
                        <a:buNone/>
                      </a:pPr>
                      <a:r>
                        <a:rPr lang="en-US" sz="1200" b="1"/>
                        <a:t>😊</a:t>
                      </a:r>
                    </a:p>
                  </a:txBody>
                  <a:tcPr anchor="ctr">
                    <a:solidFill>
                      <a:srgbClr val="92D050"/>
                    </a:solidFill>
                  </a:tcPr>
                </a:tc>
                <a:extLst>
                  <a:ext uri="{0D108BD9-81ED-4DB2-BD59-A6C34878D82A}">
                    <a16:rowId xmlns:a16="http://schemas.microsoft.com/office/drawing/2014/main" val="829341074"/>
                  </a:ext>
                </a:extLst>
              </a:tr>
              <a:tr h="249092">
                <a:tc>
                  <a:txBody>
                    <a:bodyPr/>
                    <a:lstStyle/>
                    <a:p>
                      <a:pPr lvl="0" algn="l">
                        <a:buNone/>
                      </a:pPr>
                      <a:r>
                        <a:rPr lang="en-US" sz="1200">
                          <a:effectLst/>
                        </a:rPr>
                        <a:t>Vendors or Suppliers </a:t>
                      </a:r>
                    </a:p>
                  </a:txBody>
                  <a:tcPr anchor="ctr"/>
                </a:tc>
                <a:tc>
                  <a:txBody>
                    <a:bodyPr/>
                    <a:lstStyle/>
                    <a:p>
                      <a:pPr algn="ctr">
                        <a:buNone/>
                      </a:pPr>
                      <a:r>
                        <a:rPr lang="en-US" sz="1200"/>
                        <a:t>😊</a:t>
                      </a:r>
                    </a:p>
                  </a:txBody>
                  <a:tcPr anchor="ctr">
                    <a:solidFill>
                      <a:srgbClr val="92D050"/>
                    </a:solidFill>
                  </a:tcPr>
                </a:tc>
                <a:extLst>
                  <a:ext uri="{0D108BD9-81ED-4DB2-BD59-A6C34878D82A}">
                    <a16:rowId xmlns:a16="http://schemas.microsoft.com/office/drawing/2014/main" val="232794520"/>
                  </a:ext>
                </a:extLst>
              </a:tr>
              <a:tr h="249092">
                <a:tc>
                  <a:txBody>
                    <a:bodyPr/>
                    <a:lstStyle/>
                    <a:p>
                      <a:pPr lvl="0" algn="l">
                        <a:buNone/>
                      </a:pPr>
                      <a:r>
                        <a:rPr lang="en-US" sz="1200">
                          <a:effectLst/>
                        </a:rPr>
                        <a:t>Tax Equity Investors (Bank) </a:t>
                      </a:r>
                    </a:p>
                  </a:txBody>
                  <a:tcPr anchor="ctr"/>
                </a:tc>
                <a:tc>
                  <a:txBody>
                    <a:bodyPr/>
                    <a:lstStyle/>
                    <a:p>
                      <a:pPr algn="ctr">
                        <a:buNone/>
                      </a:pPr>
                      <a:r>
                        <a:rPr lang="en-US" sz="1200"/>
                        <a:t>😊</a:t>
                      </a:r>
                    </a:p>
                  </a:txBody>
                  <a:tcPr anchor="ctr">
                    <a:solidFill>
                      <a:srgbClr val="92D050"/>
                    </a:solidFill>
                  </a:tcPr>
                </a:tc>
                <a:extLst>
                  <a:ext uri="{0D108BD9-81ED-4DB2-BD59-A6C34878D82A}">
                    <a16:rowId xmlns:a16="http://schemas.microsoft.com/office/drawing/2014/main" val="4127477567"/>
                  </a:ext>
                </a:extLst>
              </a:tr>
              <a:tr h="249092">
                <a:tc>
                  <a:txBody>
                    <a:bodyPr/>
                    <a:lstStyle/>
                    <a:p>
                      <a:pPr lvl="0" algn="l">
                        <a:buNone/>
                      </a:pPr>
                      <a:r>
                        <a:rPr lang="en-US" sz="1200">
                          <a:effectLst/>
                        </a:rPr>
                        <a:t>Local Landowners/Lessees</a:t>
                      </a:r>
                    </a:p>
                  </a:txBody>
                  <a:tcPr anchor="ctr"/>
                </a:tc>
                <a:tc>
                  <a:txBody>
                    <a:bodyPr/>
                    <a:lstStyle/>
                    <a:p>
                      <a:pPr algn="ctr">
                        <a:buNone/>
                      </a:pPr>
                      <a:r>
                        <a:rPr lang="en-US" sz="1200"/>
                        <a:t>😊</a:t>
                      </a:r>
                    </a:p>
                  </a:txBody>
                  <a:tcPr anchor="ctr">
                    <a:solidFill>
                      <a:srgbClr val="92D050"/>
                    </a:solidFill>
                  </a:tcPr>
                </a:tc>
                <a:extLst>
                  <a:ext uri="{0D108BD9-81ED-4DB2-BD59-A6C34878D82A}">
                    <a16:rowId xmlns:a16="http://schemas.microsoft.com/office/drawing/2014/main" val="647687610"/>
                  </a:ext>
                </a:extLst>
              </a:tr>
              <a:tr h="249092">
                <a:tc>
                  <a:txBody>
                    <a:bodyPr/>
                    <a:lstStyle/>
                    <a:p>
                      <a:pPr lvl="0" algn="l">
                        <a:buNone/>
                      </a:pPr>
                      <a:r>
                        <a:rPr lang="en-US" sz="1200">
                          <a:effectLst/>
                        </a:rPr>
                        <a:t>Labor Unions</a:t>
                      </a:r>
                    </a:p>
                  </a:txBody>
                  <a:tcPr anchor="ctr"/>
                </a:tc>
                <a:tc>
                  <a:txBody>
                    <a:bodyPr/>
                    <a:lstStyle/>
                    <a:p>
                      <a:pPr algn="ctr">
                        <a:buNone/>
                      </a:pPr>
                      <a:r>
                        <a:rPr lang="en-US" sz="1200"/>
                        <a:t>😊</a:t>
                      </a:r>
                    </a:p>
                  </a:txBody>
                  <a:tcPr anchor="ctr">
                    <a:solidFill>
                      <a:srgbClr val="92D050"/>
                    </a:solidFill>
                  </a:tcPr>
                </a:tc>
                <a:extLst>
                  <a:ext uri="{0D108BD9-81ED-4DB2-BD59-A6C34878D82A}">
                    <a16:rowId xmlns:a16="http://schemas.microsoft.com/office/drawing/2014/main" val="4203188324"/>
                  </a:ext>
                </a:extLst>
              </a:tr>
            </a:tbl>
          </a:graphicData>
        </a:graphic>
      </p:graphicFrame>
      <p:graphicFrame>
        <p:nvGraphicFramePr>
          <p:cNvPr id="21" name="Table 20">
            <a:extLst>
              <a:ext uri="{FF2B5EF4-FFF2-40B4-BE49-F238E27FC236}">
                <a16:creationId xmlns:a16="http://schemas.microsoft.com/office/drawing/2014/main" id="{52A348B0-BB78-F40B-E151-ECF0C48E86FE}"/>
              </a:ext>
            </a:extLst>
          </p:cNvPr>
          <p:cNvGraphicFramePr>
            <a:graphicFrameLocks noGrp="1"/>
          </p:cNvGraphicFramePr>
          <p:nvPr>
            <p:extLst>
              <p:ext uri="{D42A27DB-BD31-4B8C-83A1-F6EECF244321}">
                <p14:modId xmlns:p14="http://schemas.microsoft.com/office/powerpoint/2010/main" val="4102255180"/>
              </p:ext>
            </p:extLst>
          </p:nvPr>
        </p:nvGraphicFramePr>
        <p:xfrm>
          <a:off x="6147400" y="4014345"/>
          <a:ext cx="5269653" cy="1645920"/>
        </p:xfrm>
        <a:graphic>
          <a:graphicData uri="http://schemas.openxmlformats.org/drawingml/2006/table">
            <a:tbl>
              <a:tblPr bandRow="1">
                <a:tableStyleId>{5940675A-B579-460E-94D1-54222C63F5DA}</a:tableStyleId>
              </a:tblPr>
              <a:tblGrid>
                <a:gridCol w="4404101">
                  <a:extLst>
                    <a:ext uri="{9D8B030D-6E8A-4147-A177-3AD203B41FA5}">
                      <a16:colId xmlns:a16="http://schemas.microsoft.com/office/drawing/2014/main" val="2004030710"/>
                    </a:ext>
                  </a:extLst>
                </a:gridCol>
                <a:gridCol w="865552">
                  <a:extLst>
                    <a:ext uri="{9D8B030D-6E8A-4147-A177-3AD203B41FA5}">
                      <a16:colId xmlns:a16="http://schemas.microsoft.com/office/drawing/2014/main" val="2111738045"/>
                    </a:ext>
                  </a:extLst>
                </a:gridCol>
              </a:tblGrid>
              <a:tr h="180975">
                <a:tc>
                  <a:txBody>
                    <a:bodyPr/>
                    <a:lstStyle/>
                    <a:p>
                      <a:pPr lvl="0" algn="l">
                        <a:buNone/>
                      </a:pPr>
                      <a:r>
                        <a:rPr lang="en-US" sz="1200" kern="1200" noProof="0">
                          <a:solidFill>
                            <a:schemeClr val="tx1"/>
                          </a:solidFill>
                          <a:latin typeface="+mn-lt"/>
                          <a:ea typeface="+mn-ea"/>
                          <a:cs typeface="+mn-cs"/>
                        </a:rPr>
                        <a:t>Federal</a:t>
                      </a:r>
                      <a:r>
                        <a:rPr lang="en-US" sz="1200" b="0" i="0" u="none" strike="noStrike" noProof="0">
                          <a:solidFill>
                            <a:srgbClr val="090909"/>
                          </a:solidFill>
                          <a:effectLst/>
                          <a:latin typeface="Bierstadt"/>
                        </a:rPr>
                        <a:t> Energy Regulatory Commission </a:t>
                      </a:r>
                      <a:endParaRPr lang="en-US" sz="1200">
                        <a:effectLst/>
                      </a:endParaRPr>
                    </a:p>
                  </a:txBody>
                  <a:tcPr anchor="ctr"/>
                </a:tc>
                <a:tc>
                  <a:txBody>
                    <a:bodyPr/>
                    <a:lstStyle/>
                    <a:p>
                      <a:pPr algn="ctr" fontAlgn="b">
                        <a:buNone/>
                      </a:pPr>
                      <a:r>
                        <a:rPr lang="en-US" sz="1200">
                          <a:effectLst/>
                        </a:rPr>
                        <a:t>😑</a:t>
                      </a:r>
                    </a:p>
                  </a:txBody>
                  <a:tcPr marL="9525" marR="9525" marT="9525" anchor="ctr">
                    <a:solidFill>
                      <a:srgbClr val="FFFF00"/>
                    </a:solidFill>
                  </a:tcPr>
                </a:tc>
                <a:extLst>
                  <a:ext uri="{0D108BD9-81ED-4DB2-BD59-A6C34878D82A}">
                    <a16:rowId xmlns:a16="http://schemas.microsoft.com/office/drawing/2014/main" val="1687782266"/>
                  </a:ext>
                </a:extLst>
              </a:tr>
              <a:tr h="180975">
                <a:tc>
                  <a:txBody>
                    <a:bodyPr/>
                    <a:lstStyle/>
                    <a:p>
                      <a:pPr lvl="0" algn="l">
                        <a:buNone/>
                      </a:pPr>
                      <a:r>
                        <a:rPr lang="en-US" sz="1200" b="0" i="0" u="none" strike="noStrike" noProof="0">
                          <a:solidFill>
                            <a:srgbClr val="090909"/>
                          </a:solidFill>
                          <a:effectLst/>
                          <a:latin typeface="Bierstadt"/>
                        </a:rPr>
                        <a:t>State Energy Commission </a:t>
                      </a:r>
                      <a:endParaRPr lang="en-US" sz="1200">
                        <a:effectLst/>
                      </a:endParaRPr>
                    </a:p>
                  </a:txBody>
                  <a:tcPr anchor="ctr"/>
                </a:tc>
                <a:tc>
                  <a:txBody>
                    <a:bodyPr/>
                    <a:lstStyle/>
                    <a:p>
                      <a:pPr algn="ctr" fontAlgn="b">
                        <a:buNone/>
                      </a:pPr>
                      <a:r>
                        <a:rPr lang="en-US" sz="1200">
                          <a:effectLst/>
                        </a:rPr>
                        <a:t>😑</a:t>
                      </a:r>
                    </a:p>
                  </a:txBody>
                  <a:tcPr marL="9525" marR="9525" marT="9525" anchor="ctr">
                    <a:solidFill>
                      <a:srgbClr val="FFFF00"/>
                    </a:solidFill>
                  </a:tcPr>
                </a:tc>
                <a:extLst>
                  <a:ext uri="{0D108BD9-81ED-4DB2-BD59-A6C34878D82A}">
                    <a16:rowId xmlns:a16="http://schemas.microsoft.com/office/drawing/2014/main" val="1060711835"/>
                  </a:ext>
                </a:extLst>
              </a:tr>
              <a:tr h="180975">
                <a:tc>
                  <a:txBody>
                    <a:bodyPr/>
                    <a:lstStyle/>
                    <a:p>
                      <a:pPr lvl="0" algn="l">
                        <a:lnSpc>
                          <a:spcPct val="100000"/>
                        </a:lnSpc>
                        <a:spcBef>
                          <a:spcPts val="0"/>
                        </a:spcBef>
                        <a:spcAft>
                          <a:spcPts val="0"/>
                        </a:spcAft>
                        <a:buNone/>
                      </a:pPr>
                      <a:r>
                        <a:rPr lang="en-US" sz="1200" b="0" i="0" u="none" strike="noStrike" noProof="0">
                          <a:solidFill>
                            <a:srgbClr val="090909"/>
                          </a:solidFill>
                          <a:effectLst/>
                          <a:latin typeface="Bierstadt"/>
                        </a:rPr>
                        <a:t>Regional transmission organization - PJM </a:t>
                      </a:r>
                    </a:p>
                  </a:txBody>
                  <a:tcPr anchor="ctr"/>
                </a:tc>
                <a:tc>
                  <a:txBody>
                    <a:bodyPr/>
                    <a:lstStyle/>
                    <a:p>
                      <a:pPr algn="ctr" fontAlgn="b">
                        <a:buNone/>
                      </a:pPr>
                      <a:r>
                        <a:rPr lang="en-US" sz="1200">
                          <a:effectLst/>
                        </a:rPr>
                        <a:t>😑</a:t>
                      </a:r>
                    </a:p>
                  </a:txBody>
                  <a:tcPr marL="9525" marR="9525" marT="9525" anchor="ctr">
                    <a:solidFill>
                      <a:srgbClr val="FFFF00"/>
                    </a:solidFill>
                  </a:tcPr>
                </a:tc>
                <a:extLst>
                  <a:ext uri="{0D108BD9-81ED-4DB2-BD59-A6C34878D82A}">
                    <a16:rowId xmlns:a16="http://schemas.microsoft.com/office/drawing/2014/main" val="3568319331"/>
                  </a:ext>
                </a:extLst>
              </a:tr>
              <a:tr h="180975">
                <a:tc>
                  <a:txBody>
                    <a:bodyPr/>
                    <a:lstStyle/>
                    <a:p>
                      <a:pPr lvl="0" algn="l">
                        <a:buNone/>
                      </a:pPr>
                      <a:r>
                        <a:rPr lang="en-US" sz="1200" b="0" i="0" u="none" strike="noStrike" noProof="0">
                          <a:solidFill>
                            <a:srgbClr val="090909"/>
                          </a:solidFill>
                          <a:effectLst/>
                          <a:latin typeface="Bierstadt"/>
                        </a:rPr>
                        <a:t>Utility/Grid Operator</a:t>
                      </a:r>
                      <a:endParaRPr lang="en-US"/>
                    </a:p>
                  </a:txBody>
                  <a:tcPr anchor="ctr"/>
                </a:tc>
                <a:tc>
                  <a:txBody>
                    <a:bodyPr/>
                    <a:lstStyle/>
                    <a:p>
                      <a:pPr algn="ctr" fontAlgn="b">
                        <a:buNone/>
                      </a:pPr>
                      <a:r>
                        <a:rPr lang="en-US" sz="1200">
                          <a:effectLst/>
                        </a:rPr>
                        <a:t>😑</a:t>
                      </a:r>
                    </a:p>
                  </a:txBody>
                  <a:tcPr marL="9525" marR="9525" marT="9525" anchor="ctr">
                    <a:solidFill>
                      <a:srgbClr val="FFFF00"/>
                    </a:solidFill>
                  </a:tcPr>
                </a:tc>
                <a:extLst>
                  <a:ext uri="{0D108BD9-81ED-4DB2-BD59-A6C34878D82A}">
                    <a16:rowId xmlns:a16="http://schemas.microsoft.com/office/drawing/2014/main" val="838388657"/>
                  </a:ext>
                </a:extLst>
              </a:tr>
              <a:tr h="180975">
                <a:tc>
                  <a:txBody>
                    <a:bodyPr/>
                    <a:lstStyle/>
                    <a:p>
                      <a:pPr lvl="0" algn="l" fontAlgn="b">
                        <a:buNone/>
                      </a:pPr>
                      <a:r>
                        <a:rPr lang="en-US" sz="1200">
                          <a:effectLst/>
                        </a:rPr>
                        <a:t>Local/County Zoning Board</a:t>
                      </a:r>
                    </a:p>
                  </a:txBody>
                  <a:tcPr anchor="ctr"/>
                </a:tc>
                <a:tc>
                  <a:txBody>
                    <a:bodyPr/>
                    <a:lstStyle/>
                    <a:p>
                      <a:pPr algn="ctr" fontAlgn="b">
                        <a:buNone/>
                      </a:pPr>
                      <a:r>
                        <a:rPr lang="en-US" sz="1200">
                          <a:effectLst/>
                        </a:rPr>
                        <a:t>😑</a:t>
                      </a:r>
                    </a:p>
                  </a:txBody>
                  <a:tcPr marL="9525" marR="9525" marT="9525" anchor="ctr">
                    <a:solidFill>
                      <a:srgbClr val="FFFF00"/>
                    </a:solidFill>
                  </a:tcPr>
                </a:tc>
                <a:extLst>
                  <a:ext uri="{0D108BD9-81ED-4DB2-BD59-A6C34878D82A}">
                    <a16:rowId xmlns:a16="http://schemas.microsoft.com/office/drawing/2014/main" val="2158671372"/>
                  </a:ext>
                </a:extLst>
              </a:tr>
              <a:tr h="180974">
                <a:tc>
                  <a:txBody>
                    <a:bodyPr/>
                    <a:lstStyle/>
                    <a:p>
                      <a:pPr lvl="0" algn="l">
                        <a:buNone/>
                      </a:pPr>
                      <a:r>
                        <a:rPr lang="en-US" sz="1200" b="0" i="0" u="none" strike="noStrike" noProof="0">
                          <a:solidFill>
                            <a:srgbClr val="090909"/>
                          </a:solidFill>
                          <a:effectLst/>
                          <a:latin typeface="Bierstadt"/>
                        </a:rPr>
                        <a:t>Environmental Protection Agency </a:t>
                      </a:r>
                      <a:endParaRPr lang="en-US"/>
                    </a:p>
                  </a:txBody>
                  <a:tcPr anchor="ctr"/>
                </a:tc>
                <a:tc>
                  <a:txBody>
                    <a:bodyPr/>
                    <a:lstStyle/>
                    <a:p>
                      <a:pPr algn="ctr" fontAlgn="b">
                        <a:buNone/>
                      </a:pPr>
                      <a:r>
                        <a:rPr lang="en-US" sz="1200">
                          <a:effectLst/>
                        </a:rPr>
                        <a:t>😑</a:t>
                      </a:r>
                    </a:p>
                  </a:txBody>
                  <a:tcPr marL="9525" marR="9525" marT="9525" anchor="ctr">
                    <a:solidFill>
                      <a:srgbClr val="FFFF00"/>
                    </a:solidFill>
                  </a:tcPr>
                </a:tc>
                <a:extLst>
                  <a:ext uri="{0D108BD9-81ED-4DB2-BD59-A6C34878D82A}">
                    <a16:rowId xmlns:a16="http://schemas.microsoft.com/office/drawing/2014/main" val="2034595786"/>
                  </a:ext>
                </a:extLst>
              </a:tr>
            </a:tbl>
          </a:graphicData>
        </a:graphic>
      </p:graphicFrame>
    </p:spTree>
    <p:extLst>
      <p:ext uri="{BB962C8B-B14F-4D97-AF65-F5344CB8AC3E}">
        <p14:creationId xmlns:p14="http://schemas.microsoft.com/office/powerpoint/2010/main" val="41631326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19E0A9CE-8745-A23E-CE59-CE4B3D695D5D}"/>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759A45D0-EFF2-2105-ED04-439622571574}"/>
              </a:ext>
            </a:extLst>
          </p:cNvPr>
          <p:cNvSpPr>
            <a:spLocks noGrp="1"/>
          </p:cNvSpPr>
          <p:nvPr>
            <p:ph type="dt" sz="half" idx="10"/>
          </p:nvPr>
        </p:nvSpPr>
        <p:spPr>
          <a:xfrm>
            <a:off x="457199" y="6397586"/>
            <a:ext cx="4043855" cy="365125"/>
          </a:xfrm>
        </p:spPr>
        <p:txBody>
          <a:bodyPr anchor="ctr">
            <a:normAutofit/>
          </a:bodyPr>
          <a:lstStyle/>
          <a:p>
            <a:pPr>
              <a:spcAft>
                <a:spcPts val="600"/>
              </a:spcAft>
            </a:pPr>
            <a:fld id="{0A2676FB-3D7D-40C8-BF49-5420830A3578}" type="datetime1">
              <a:rPr lang="en-US" smtClean="0"/>
              <a:pPr>
                <a:spcAft>
                  <a:spcPts val="600"/>
                </a:spcAft>
              </a:pPr>
              <a:t>9/18/2026</a:t>
            </a:fld>
            <a:endParaRPr lang="en-US"/>
          </a:p>
        </p:txBody>
      </p:sp>
      <p:sp>
        <p:nvSpPr>
          <p:cNvPr id="11" name="Title 1">
            <a:extLst>
              <a:ext uri="{FF2B5EF4-FFF2-40B4-BE49-F238E27FC236}">
                <a16:creationId xmlns:a16="http://schemas.microsoft.com/office/drawing/2014/main" id="{04230250-AEA8-1B3B-9CD4-849B47399F33}"/>
              </a:ext>
            </a:extLst>
          </p:cNvPr>
          <p:cNvSpPr>
            <a:spLocks noGrp="1"/>
          </p:cNvSpPr>
          <p:nvPr>
            <p:ph type="title"/>
          </p:nvPr>
        </p:nvSpPr>
        <p:spPr>
          <a:xfrm rot="16200000">
            <a:off x="22197" y="2759963"/>
            <a:ext cx="3703423" cy="557080"/>
          </a:xfrm>
        </p:spPr>
        <p:txBody>
          <a:bodyPr>
            <a:noAutofit/>
          </a:bodyPr>
          <a:lstStyle/>
          <a:p>
            <a:r>
              <a:rPr lang="en-US" b="1">
                <a:solidFill>
                  <a:schemeClr val="accent4">
                    <a:lumMod val="49000"/>
                  </a:schemeClr>
                </a:solidFill>
                <a:latin typeface="Biome"/>
                <a:cs typeface="Biome"/>
              </a:rPr>
              <a:t>Stakeholder List  </a:t>
            </a:r>
          </a:p>
        </p:txBody>
      </p:sp>
      <p:graphicFrame>
        <p:nvGraphicFramePr>
          <p:cNvPr id="7" name="Table 6">
            <a:extLst>
              <a:ext uri="{FF2B5EF4-FFF2-40B4-BE49-F238E27FC236}">
                <a16:creationId xmlns:a16="http://schemas.microsoft.com/office/drawing/2014/main" id="{C2C176A4-9A9F-7913-F145-B7473AC7298E}"/>
              </a:ext>
            </a:extLst>
          </p:cNvPr>
          <p:cNvGraphicFramePr>
            <a:graphicFrameLocks noGrp="1"/>
          </p:cNvGraphicFramePr>
          <p:nvPr>
            <p:extLst>
              <p:ext uri="{D42A27DB-BD31-4B8C-83A1-F6EECF244321}">
                <p14:modId xmlns:p14="http://schemas.microsoft.com/office/powerpoint/2010/main" val="3927307916"/>
              </p:ext>
            </p:extLst>
          </p:nvPr>
        </p:nvGraphicFramePr>
        <p:xfrm>
          <a:off x="2339898" y="278295"/>
          <a:ext cx="7508635" cy="6360949"/>
        </p:xfrm>
        <a:graphic>
          <a:graphicData uri="http://schemas.openxmlformats.org/drawingml/2006/table">
            <a:tbl>
              <a:tblPr bandRow="1">
                <a:tableStyleId>{E8B1032C-EA38-4F05-BA0D-38AFFFC7BED3}</a:tableStyleId>
              </a:tblPr>
              <a:tblGrid>
                <a:gridCol w="6224384">
                  <a:extLst>
                    <a:ext uri="{9D8B030D-6E8A-4147-A177-3AD203B41FA5}">
                      <a16:colId xmlns:a16="http://schemas.microsoft.com/office/drawing/2014/main" val="1947698464"/>
                    </a:ext>
                  </a:extLst>
                </a:gridCol>
                <a:gridCol w="1284251">
                  <a:extLst>
                    <a:ext uri="{9D8B030D-6E8A-4147-A177-3AD203B41FA5}">
                      <a16:colId xmlns:a16="http://schemas.microsoft.com/office/drawing/2014/main" val="457517918"/>
                    </a:ext>
                  </a:extLst>
                </a:gridCol>
              </a:tblGrid>
              <a:tr h="271591">
                <a:tc>
                  <a:txBody>
                    <a:bodyPr/>
                    <a:lstStyle/>
                    <a:p>
                      <a:pPr>
                        <a:buNone/>
                      </a:pPr>
                      <a:r>
                        <a:rPr lang="en-US" sz="1200" b="1">
                          <a:effectLst/>
                        </a:rPr>
                        <a:t>Amazon Worldwide Communications</a:t>
                      </a:r>
                    </a:p>
                  </a:txBody>
                  <a:tcPr anchor="ctr"/>
                </a:tc>
                <a:tc>
                  <a:txBody>
                    <a:bodyPr/>
                    <a:lstStyle/>
                    <a:p>
                      <a:pPr algn="ctr">
                        <a:buNone/>
                      </a:pPr>
                      <a:r>
                        <a:rPr lang="en-US" sz="1200" b="1">
                          <a:effectLst/>
                        </a:rPr>
                        <a:t>😑</a:t>
                      </a:r>
                    </a:p>
                  </a:txBody>
                  <a:tcPr anchor="ctr">
                    <a:solidFill>
                      <a:srgbClr val="FFFF00"/>
                    </a:solidFill>
                  </a:tcPr>
                </a:tc>
                <a:extLst>
                  <a:ext uri="{0D108BD9-81ED-4DB2-BD59-A6C34878D82A}">
                    <a16:rowId xmlns:a16="http://schemas.microsoft.com/office/drawing/2014/main" val="4111930155"/>
                  </a:ext>
                </a:extLst>
              </a:tr>
              <a:tr h="271591">
                <a:tc>
                  <a:txBody>
                    <a:bodyPr/>
                    <a:lstStyle/>
                    <a:p>
                      <a:pPr>
                        <a:buNone/>
                      </a:pPr>
                      <a:r>
                        <a:rPr lang="en-US" sz="1200" b="1">
                          <a:effectLst/>
                        </a:rPr>
                        <a:t>Insurance Providers</a:t>
                      </a:r>
                    </a:p>
                  </a:txBody>
                  <a:tcPr anchor="ctr"/>
                </a:tc>
                <a:tc>
                  <a:txBody>
                    <a:bodyPr/>
                    <a:lstStyle/>
                    <a:p>
                      <a:pPr algn="ctr">
                        <a:buNone/>
                      </a:pPr>
                      <a:r>
                        <a:rPr lang="en-US" sz="1200" b="1"/>
                        <a:t>😊</a:t>
                      </a:r>
                    </a:p>
                  </a:txBody>
                  <a:tcPr anchor="ctr">
                    <a:solidFill>
                      <a:srgbClr val="92D050"/>
                    </a:solidFill>
                  </a:tcPr>
                </a:tc>
                <a:extLst>
                  <a:ext uri="{0D108BD9-81ED-4DB2-BD59-A6C34878D82A}">
                    <a16:rowId xmlns:a16="http://schemas.microsoft.com/office/drawing/2014/main" val="1626239990"/>
                  </a:ext>
                </a:extLst>
              </a:tr>
              <a:tr h="271591">
                <a:tc>
                  <a:txBody>
                    <a:bodyPr/>
                    <a:lstStyle/>
                    <a:p>
                      <a:pPr>
                        <a:buNone/>
                      </a:pPr>
                      <a:r>
                        <a:rPr lang="en-US" sz="1200" b="1">
                          <a:effectLst/>
                        </a:rPr>
                        <a:t>Competitors</a:t>
                      </a:r>
                    </a:p>
                  </a:txBody>
                  <a:tcPr anchor="ctr"/>
                </a:tc>
                <a:tc>
                  <a:txBody>
                    <a:bodyPr/>
                    <a:lstStyle/>
                    <a:p>
                      <a:pPr algn="ctr">
                        <a:buNone/>
                      </a:pPr>
                      <a:r>
                        <a:rPr lang="en-US" sz="1200" b="1"/>
                        <a:t>🙁</a:t>
                      </a:r>
                    </a:p>
                  </a:txBody>
                  <a:tcPr anchor="ctr">
                    <a:solidFill>
                      <a:srgbClr val="FF0000"/>
                    </a:solidFill>
                  </a:tcPr>
                </a:tc>
                <a:extLst>
                  <a:ext uri="{0D108BD9-81ED-4DB2-BD59-A6C34878D82A}">
                    <a16:rowId xmlns:a16="http://schemas.microsoft.com/office/drawing/2014/main" val="1748822759"/>
                  </a:ext>
                </a:extLst>
              </a:tr>
              <a:tr h="271591">
                <a:tc>
                  <a:txBody>
                    <a:bodyPr/>
                    <a:lstStyle/>
                    <a:p>
                      <a:pPr>
                        <a:buNone/>
                      </a:pPr>
                      <a:r>
                        <a:rPr lang="en-US" sz="1200" b="1">
                          <a:effectLst/>
                        </a:rPr>
                        <a:t>Environmental/Conservation Groups</a:t>
                      </a:r>
                    </a:p>
                  </a:txBody>
                  <a:tcPr anchor="ctr"/>
                </a:tc>
                <a:tc>
                  <a:txBody>
                    <a:bodyPr/>
                    <a:lstStyle/>
                    <a:p>
                      <a:pPr algn="ctr">
                        <a:buNone/>
                      </a:pPr>
                      <a:r>
                        <a:rPr lang="en-US" sz="1200" b="1"/>
                        <a:t>🙁</a:t>
                      </a:r>
                    </a:p>
                  </a:txBody>
                  <a:tcPr anchor="ctr">
                    <a:solidFill>
                      <a:srgbClr val="FF0000"/>
                    </a:solidFill>
                  </a:tcPr>
                </a:tc>
                <a:extLst>
                  <a:ext uri="{0D108BD9-81ED-4DB2-BD59-A6C34878D82A}">
                    <a16:rowId xmlns:a16="http://schemas.microsoft.com/office/drawing/2014/main" val="4070328536"/>
                  </a:ext>
                </a:extLst>
              </a:tr>
              <a:tr h="271591">
                <a:tc>
                  <a:txBody>
                    <a:bodyPr/>
                    <a:lstStyle/>
                    <a:p>
                      <a:pPr>
                        <a:buNone/>
                      </a:pPr>
                      <a:r>
                        <a:rPr lang="en-US" sz="1200" b="1">
                          <a:effectLst/>
                        </a:rPr>
                        <a:t>Local Community Organizations</a:t>
                      </a:r>
                    </a:p>
                  </a:txBody>
                  <a:tcPr anchor="ctr"/>
                </a:tc>
                <a:tc>
                  <a:txBody>
                    <a:bodyPr/>
                    <a:lstStyle/>
                    <a:p>
                      <a:pPr algn="ctr">
                        <a:buNone/>
                      </a:pPr>
                      <a:r>
                        <a:rPr lang="en-US" sz="1200" b="1"/>
                        <a:t>😑</a:t>
                      </a:r>
                    </a:p>
                  </a:txBody>
                  <a:tcPr anchor="ctr">
                    <a:solidFill>
                      <a:srgbClr val="FFFF00"/>
                    </a:solidFill>
                  </a:tcPr>
                </a:tc>
                <a:extLst>
                  <a:ext uri="{0D108BD9-81ED-4DB2-BD59-A6C34878D82A}">
                    <a16:rowId xmlns:a16="http://schemas.microsoft.com/office/drawing/2014/main" val="2741372810"/>
                  </a:ext>
                </a:extLst>
              </a:tr>
              <a:tr h="271591">
                <a:tc>
                  <a:txBody>
                    <a:bodyPr/>
                    <a:lstStyle/>
                    <a:p>
                      <a:pPr>
                        <a:buNone/>
                      </a:pPr>
                      <a:r>
                        <a:rPr lang="en-US" sz="1200" b="1">
                          <a:effectLst/>
                        </a:rPr>
                        <a:t>Amazon Shareholders</a:t>
                      </a:r>
                    </a:p>
                  </a:txBody>
                  <a:tcPr anchor="ctr"/>
                </a:tc>
                <a:tc>
                  <a:txBody>
                    <a:bodyPr/>
                    <a:lstStyle/>
                    <a:p>
                      <a:pPr algn="ctr">
                        <a:buNone/>
                      </a:pPr>
                      <a:r>
                        <a:rPr lang="en-US" sz="1200" b="1"/>
                        <a:t>😑</a:t>
                      </a:r>
                    </a:p>
                  </a:txBody>
                  <a:tcPr anchor="ctr">
                    <a:solidFill>
                      <a:srgbClr val="FFFF00"/>
                    </a:solidFill>
                  </a:tcPr>
                </a:tc>
                <a:extLst>
                  <a:ext uri="{0D108BD9-81ED-4DB2-BD59-A6C34878D82A}">
                    <a16:rowId xmlns:a16="http://schemas.microsoft.com/office/drawing/2014/main" val="3372884342"/>
                  </a:ext>
                </a:extLst>
              </a:tr>
              <a:tr h="271591">
                <a:tc>
                  <a:txBody>
                    <a:bodyPr/>
                    <a:lstStyle/>
                    <a:p>
                      <a:pPr>
                        <a:buNone/>
                      </a:pPr>
                      <a:r>
                        <a:rPr lang="en-US" sz="1200" b="1">
                          <a:effectLst/>
                        </a:rPr>
                        <a:t>AWS (Infra / DC Ops)</a:t>
                      </a:r>
                    </a:p>
                  </a:txBody>
                  <a:tcPr anchor="ctr"/>
                </a:tc>
                <a:tc>
                  <a:txBody>
                    <a:bodyPr/>
                    <a:lstStyle/>
                    <a:p>
                      <a:pPr algn="ctr">
                        <a:buNone/>
                      </a:pPr>
                      <a:r>
                        <a:rPr lang="en-US" sz="1200" b="1"/>
                        <a:t>😊</a:t>
                      </a:r>
                    </a:p>
                  </a:txBody>
                  <a:tcPr anchor="ctr">
                    <a:solidFill>
                      <a:srgbClr val="92D050"/>
                    </a:solidFill>
                  </a:tcPr>
                </a:tc>
                <a:extLst>
                  <a:ext uri="{0D108BD9-81ED-4DB2-BD59-A6C34878D82A}">
                    <a16:rowId xmlns:a16="http://schemas.microsoft.com/office/drawing/2014/main" val="2799014301"/>
                  </a:ext>
                </a:extLst>
              </a:tr>
              <a:tr h="271591">
                <a:tc>
                  <a:txBody>
                    <a:bodyPr/>
                    <a:lstStyle/>
                    <a:p>
                      <a:pPr>
                        <a:buNone/>
                      </a:pPr>
                      <a:r>
                        <a:rPr lang="en-US" sz="1200" b="1">
                          <a:effectLst/>
                        </a:rPr>
                        <a:t>Amazon Energy &amp; Sustainability</a:t>
                      </a:r>
                    </a:p>
                  </a:txBody>
                  <a:tcPr anchor="ctr"/>
                </a:tc>
                <a:tc>
                  <a:txBody>
                    <a:bodyPr/>
                    <a:lstStyle/>
                    <a:p>
                      <a:pPr algn="ctr">
                        <a:buNone/>
                      </a:pPr>
                      <a:r>
                        <a:rPr lang="en-US" sz="1200" b="1"/>
                        <a:t>😊</a:t>
                      </a:r>
                    </a:p>
                  </a:txBody>
                  <a:tcPr anchor="ctr">
                    <a:solidFill>
                      <a:srgbClr val="92D050"/>
                    </a:solidFill>
                  </a:tcPr>
                </a:tc>
                <a:extLst>
                  <a:ext uri="{0D108BD9-81ED-4DB2-BD59-A6C34878D82A}">
                    <a16:rowId xmlns:a16="http://schemas.microsoft.com/office/drawing/2014/main" val="1646224107"/>
                  </a:ext>
                </a:extLst>
              </a:tr>
              <a:tr h="271591">
                <a:tc>
                  <a:txBody>
                    <a:bodyPr/>
                    <a:lstStyle/>
                    <a:p>
                      <a:pPr>
                        <a:buNone/>
                      </a:pPr>
                      <a:r>
                        <a:rPr lang="en-US" sz="1200" b="1">
                          <a:effectLst/>
                        </a:rPr>
                        <a:t>Amazon Finance</a:t>
                      </a:r>
                    </a:p>
                  </a:txBody>
                  <a:tcPr anchor="ctr"/>
                </a:tc>
                <a:tc>
                  <a:txBody>
                    <a:bodyPr/>
                    <a:lstStyle/>
                    <a:p>
                      <a:pPr algn="ctr">
                        <a:buNone/>
                      </a:pPr>
                      <a:r>
                        <a:rPr lang="en-US" sz="1200" b="1"/>
                        <a:t>😑</a:t>
                      </a:r>
                    </a:p>
                  </a:txBody>
                  <a:tcPr anchor="ctr">
                    <a:solidFill>
                      <a:srgbClr val="FFFF00"/>
                    </a:solidFill>
                  </a:tcPr>
                </a:tc>
                <a:extLst>
                  <a:ext uri="{0D108BD9-81ED-4DB2-BD59-A6C34878D82A}">
                    <a16:rowId xmlns:a16="http://schemas.microsoft.com/office/drawing/2014/main" val="2136675378"/>
                  </a:ext>
                </a:extLst>
              </a:tr>
              <a:tr h="271591">
                <a:tc>
                  <a:txBody>
                    <a:bodyPr/>
                    <a:lstStyle/>
                    <a:p>
                      <a:pPr>
                        <a:buNone/>
                      </a:pPr>
                      <a:r>
                        <a:rPr lang="en-US" sz="1200" b="1">
                          <a:effectLst/>
                        </a:rPr>
                        <a:t>Amazon General Counsel &amp; </a:t>
                      </a:r>
                      <a:r>
                        <a:rPr lang="en-US" sz="1200" b="1" err="1">
                          <a:effectLst/>
                        </a:rPr>
                        <a:t>Secrectary</a:t>
                      </a:r>
                      <a:endParaRPr lang="en-US" sz="1200" b="1">
                        <a:effectLst/>
                      </a:endParaRPr>
                    </a:p>
                  </a:txBody>
                  <a:tcPr anchor="ctr"/>
                </a:tc>
                <a:tc>
                  <a:txBody>
                    <a:bodyPr/>
                    <a:lstStyle/>
                    <a:p>
                      <a:pPr algn="ctr">
                        <a:buNone/>
                      </a:pPr>
                      <a:r>
                        <a:rPr lang="en-US" sz="1200" b="1"/>
                        <a:t>😑</a:t>
                      </a:r>
                    </a:p>
                  </a:txBody>
                  <a:tcPr anchor="ctr">
                    <a:solidFill>
                      <a:srgbClr val="FFFF00"/>
                    </a:solidFill>
                  </a:tcPr>
                </a:tc>
                <a:extLst>
                  <a:ext uri="{0D108BD9-81ED-4DB2-BD59-A6C34878D82A}">
                    <a16:rowId xmlns:a16="http://schemas.microsoft.com/office/drawing/2014/main" val="2190758813"/>
                  </a:ext>
                </a:extLst>
              </a:tr>
              <a:tr h="271591">
                <a:tc>
                  <a:txBody>
                    <a:bodyPr/>
                    <a:lstStyle/>
                    <a:p>
                      <a:pPr>
                        <a:buNone/>
                      </a:pPr>
                      <a:r>
                        <a:rPr lang="en-US" sz="1200" b="1">
                          <a:effectLst/>
                        </a:rPr>
                        <a:t>EPC Contractor (Engineering, Procurement, and Construction)</a:t>
                      </a:r>
                    </a:p>
                  </a:txBody>
                  <a:tcPr anchor="ctr"/>
                </a:tc>
                <a:tc>
                  <a:txBody>
                    <a:bodyPr/>
                    <a:lstStyle/>
                    <a:p>
                      <a:pPr algn="ctr">
                        <a:buNone/>
                      </a:pPr>
                      <a:r>
                        <a:rPr lang="en-US" sz="1200" b="1"/>
                        <a:t>😊</a:t>
                      </a:r>
                    </a:p>
                  </a:txBody>
                  <a:tcPr anchor="ctr">
                    <a:solidFill>
                      <a:srgbClr val="92D050"/>
                    </a:solidFill>
                  </a:tcPr>
                </a:tc>
                <a:extLst>
                  <a:ext uri="{0D108BD9-81ED-4DB2-BD59-A6C34878D82A}">
                    <a16:rowId xmlns:a16="http://schemas.microsoft.com/office/drawing/2014/main" val="386753956"/>
                  </a:ext>
                </a:extLst>
              </a:tr>
              <a:tr h="271591">
                <a:tc>
                  <a:txBody>
                    <a:bodyPr/>
                    <a:lstStyle/>
                    <a:p>
                      <a:pPr lvl="0">
                        <a:buNone/>
                      </a:pPr>
                      <a:r>
                        <a:rPr lang="en-US" sz="1200" b="1">
                          <a:effectLst/>
                        </a:rPr>
                        <a:t>Battery Storage Vendor (BESS supplier)</a:t>
                      </a:r>
                    </a:p>
                  </a:txBody>
                  <a:tcPr anchor="ctr"/>
                </a:tc>
                <a:tc>
                  <a:txBody>
                    <a:bodyPr/>
                    <a:lstStyle/>
                    <a:p>
                      <a:pPr lvl="0" algn="ctr">
                        <a:buNone/>
                      </a:pPr>
                      <a:r>
                        <a:rPr lang="en-US" sz="1200" b="1"/>
                        <a:t>😊</a:t>
                      </a:r>
                    </a:p>
                  </a:txBody>
                  <a:tcPr anchor="ctr">
                    <a:solidFill>
                      <a:srgbClr val="92D050"/>
                    </a:solidFill>
                  </a:tcPr>
                </a:tc>
                <a:extLst>
                  <a:ext uri="{0D108BD9-81ED-4DB2-BD59-A6C34878D82A}">
                    <a16:rowId xmlns:a16="http://schemas.microsoft.com/office/drawing/2014/main" val="2671390926"/>
                  </a:ext>
                </a:extLst>
              </a:tr>
              <a:tr h="271591">
                <a:tc>
                  <a:txBody>
                    <a:bodyPr/>
                    <a:lstStyle/>
                    <a:p>
                      <a:pPr lvl="0">
                        <a:buNone/>
                      </a:pPr>
                      <a:r>
                        <a:rPr lang="en-US" sz="1200" b="1">
                          <a:effectLst/>
                        </a:rPr>
                        <a:t>Solar Panel/Module Suppliers</a:t>
                      </a:r>
                      <a:endParaRPr lang="en-US" sz="1200" b="1"/>
                    </a:p>
                  </a:txBody>
                  <a:tcPr anchor="ctr"/>
                </a:tc>
                <a:tc>
                  <a:txBody>
                    <a:bodyPr/>
                    <a:lstStyle/>
                    <a:p>
                      <a:pPr lvl="0" algn="ctr">
                        <a:buNone/>
                      </a:pPr>
                      <a:r>
                        <a:rPr lang="en-US" sz="1200" b="1"/>
                        <a:t>😊</a:t>
                      </a:r>
                    </a:p>
                  </a:txBody>
                  <a:tcPr anchor="ctr">
                    <a:solidFill>
                      <a:srgbClr val="92D050"/>
                    </a:solidFill>
                  </a:tcPr>
                </a:tc>
                <a:extLst>
                  <a:ext uri="{0D108BD9-81ED-4DB2-BD59-A6C34878D82A}">
                    <a16:rowId xmlns:a16="http://schemas.microsoft.com/office/drawing/2014/main" val="2816390368"/>
                  </a:ext>
                </a:extLst>
              </a:tr>
              <a:tr h="271591">
                <a:tc>
                  <a:txBody>
                    <a:bodyPr/>
                    <a:lstStyle/>
                    <a:p>
                      <a:pPr lvl="0" algn="ctr">
                        <a:buNone/>
                      </a:pPr>
                      <a:r>
                        <a:rPr lang="en-US" sz="1200" b="1">
                          <a:effectLst/>
                        </a:rPr>
                        <a:t>Inverter/Power Electronics Vendors</a:t>
                      </a:r>
                      <a:endParaRPr lang="en-US" sz="1200" b="1"/>
                    </a:p>
                  </a:txBody>
                  <a:tcPr anchor="ctr"/>
                </a:tc>
                <a:tc>
                  <a:txBody>
                    <a:bodyPr/>
                    <a:lstStyle/>
                    <a:p>
                      <a:pPr lvl="0" algn="ctr">
                        <a:buNone/>
                      </a:pPr>
                      <a:r>
                        <a:rPr lang="en-US" sz="1200" b="1"/>
                        <a:t>😊</a:t>
                      </a:r>
                    </a:p>
                  </a:txBody>
                  <a:tcPr anchor="ctr">
                    <a:solidFill>
                      <a:srgbClr val="92D050"/>
                    </a:solidFill>
                  </a:tcPr>
                </a:tc>
                <a:extLst>
                  <a:ext uri="{0D108BD9-81ED-4DB2-BD59-A6C34878D82A}">
                    <a16:rowId xmlns:a16="http://schemas.microsoft.com/office/drawing/2014/main" val="1730096017"/>
                  </a:ext>
                </a:extLst>
              </a:tr>
              <a:tr h="271591">
                <a:tc>
                  <a:txBody>
                    <a:bodyPr/>
                    <a:lstStyle/>
                    <a:p>
                      <a:pPr lvl="0">
                        <a:buNone/>
                      </a:pPr>
                      <a:r>
                        <a:rPr lang="en-US" sz="1200" b="1">
                          <a:effectLst/>
                        </a:rPr>
                        <a:t>Tax Equity Investors</a:t>
                      </a:r>
                      <a:endParaRPr lang="en-US" sz="1200" b="1"/>
                    </a:p>
                  </a:txBody>
                  <a:tcPr anchor="ctr"/>
                </a:tc>
                <a:tc>
                  <a:txBody>
                    <a:bodyPr/>
                    <a:lstStyle/>
                    <a:p>
                      <a:pPr lvl="0" algn="ctr">
                        <a:buNone/>
                      </a:pPr>
                      <a:r>
                        <a:rPr lang="en-US" sz="1200" b="1"/>
                        <a:t>😊</a:t>
                      </a:r>
                    </a:p>
                  </a:txBody>
                  <a:tcPr anchor="ctr">
                    <a:solidFill>
                      <a:srgbClr val="92D050"/>
                    </a:solidFill>
                  </a:tcPr>
                </a:tc>
                <a:extLst>
                  <a:ext uri="{0D108BD9-81ED-4DB2-BD59-A6C34878D82A}">
                    <a16:rowId xmlns:a16="http://schemas.microsoft.com/office/drawing/2014/main" val="3213031948"/>
                  </a:ext>
                </a:extLst>
              </a:tr>
              <a:tr h="271591">
                <a:tc>
                  <a:txBody>
                    <a:bodyPr/>
                    <a:lstStyle/>
                    <a:p>
                      <a:pPr lvl="0">
                        <a:buNone/>
                      </a:pPr>
                      <a:r>
                        <a:rPr lang="en-US" sz="1200" b="1">
                          <a:effectLst/>
                        </a:rPr>
                        <a:t>Local Landowners/Lessees</a:t>
                      </a:r>
                      <a:endParaRPr lang="en-US" sz="1200" b="1"/>
                    </a:p>
                  </a:txBody>
                  <a:tcPr anchor="ctr"/>
                </a:tc>
                <a:tc>
                  <a:txBody>
                    <a:bodyPr/>
                    <a:lstStyle/>
                    <a:p>
                      <a:pPr lvl="0" algn="ctr">
                        <a:buNone/>
                      </a:pPr>
                      <a:r>
                        <a:rPr lang="en-US" sz="1200" b="1"/>
                        <a:t>😊</a:t>
                      </a:r>
                    </a:p>
                  </a:txBody>
                  <a:tcPr anchor="ctr">
                    <a:solidFill>
                      <a:srgbClr val="92D050"/>
                    </a:solidFill>
                  </a:tcPr>
                </a:tc>
                <a:extLst>
                  <a:ext uri="{0D108BD9-81ED-4DB2-BD59-A6C34878D82A}">
                    <a16:rowId xmlns:a16="http://schemas.microsoft.com/office/drawing/2014/main" val="1685912757"/>
                  </a:ext>
                </a:extLst>
              </a:tr>
              <a:tr h="271591">
                <a:tc>
                  <a:txBody>
                    <a:bodyPr/>
                    <a:lstStyle/>
                    <a:p>
                      <a:pPr lvl="0">
                        <a:buNone/>
                      </a:pPr>
                      <a:r>
                        <a:rPr lang="en-US" sz="1200" b="1">
                          <a:effectLst/>
                        </a:rPr>
                        <a:t>Labor Unions</a:t>
                      </a:r>
                      <a:endParaRPr lang="en-US" sz="1200" b="1"/>
                    </a:p>
                  </a:txBody>
                  <a:tcPr anchor="ctr"/>
                </a:tc>
                <a:tc>
                  <a:txBody>
                    <a:bodyPr/>
                    <a:lstStyle/>
                    <a:p>
                      <a:pPr lvl="0" algn="ctr">
                        <a:buNone/>
                      </a:pPr>
                      <a:r>
                        <a:rPr lang="en-US" sz="1200" b="1"/>
                        <a:t>😊</a:t>
                      </a:r>
                    </a:p>
                  </a:txBody>
                  <a:tcPr anchor="ctr">
                    <a:solidFill>
                      <a:srgbClr val="92D050"/>
                    </a:solidFill>
                  </a:tcPr>
                </a:tc>
                <a:extLst>
                  <a:ext uri="{0D108BD9-81ED-4DB2-BD59-A6C34878D82A}">
                    <a16:rowId xmlns:a16="http://schemas.microsoft.com/office/drawing/2014/main" val="4062445773"/>
                  </a:ext>
                </a:extLst>
              </a:tr>
              <a:tr h="271591">
                <a:tc>
                  <a:txBody>
                    <a:bodyPr/>
                    <a:lstStyle/>
                    <a:p>
                      <a:pPr lvl="0">
                        <a:buNone/>
                      </a:pPr>
                      <a:r>
                        <a:rPr lang="en-US" sz="1200" b="1">
                          <a:effectLst/>
                        </a:rPr>
                        <a:t>Utility/Grid Operator</a:t>
                      </a:r>
                      <a:endParaRPr lang="en-US" sz="1200" b="1"/>
                    </a:p>
                  </a:txBody>
                  <a:tcPr anchor="ctr"/>
                </a:tc>
                <a:tc>
                  <a:txBody>
                    <a:bodyPr/>
                    <a:lstStyle/>
                    <a:p>
                      <a:pPr lvl="0" algn="ctr">
                        <a:buNone/>
                      </a:pPr>
                      <a:r>
                        <a:rPr lang="en-US" sz="1200" b="1"/>
                        <a:t>😑</a:t>
                      </a:r>
                    </a:p>
                  </a:txBody>
                  <a:tcPr anchor="ctr">
                    <a:solidFill>
                      <a:srgbClr val="FFFF00"/>
                    </a:solidFill>
                  </a:tcPr>
                </a:tc>
                <a:extLst>
                  <a:ext uri="{0D108BD9-81ED-4DB2-BD59-A6C34878D82A}">
                    <a16:rowId xmlns:a16="http://schemas.microsoft.com/office/drawing/2014/main" val="554446758"/>
                  </a:ext>
                </a:extLst>
              </a:tr>
              <a:tr h="271591">
                <a:tc>
                  <a:txBody>
                    <a:bodyPr/>
                    <a:lstStyle/>
                    <a:p>
                      <a:pPr lvl="0">
                        <a:buNone/>
                      </a:pPr>
                      <a:r>
                        <a:rPr lang="en-US" sz="1200" b="1">
                          <a:effectLst/>
                        </a:rPr>
                        <a:t>Regional transmission organization - PJM </a:t>
                      </a:r>
                    </a:p>
                  </a:txBody>
                  <a:tcPr anchor="ctr"/>
                </a:tc>
                <a:tc>
                  <a:txBody>
                    <a:bodyPr/>
                    <a:lstStyle/>
                    <a:p>
                      <a:pPr lvl="0" algn="ctr">
                        <a:buNone/>
                      </a:pPr>
                      <a:r>
                        <a:rPr lang="en-US" sz="1200" b="1"/>
                        <a:t>😑</a:t>
                      </a:r>
                    </a:p>
                  </a:txBody>
                  <a:tcPr anchor="ctr">
                    <a:solidFill>
                      <a:srgbClr val="FFFF00"/>
                    </a:solidFill>
                  </a:tcPr>
                </a:tc>
                <a:extLst>
                  <a:ext uri="{0D108BD9-81ED-4DB2-BD59-A6C34878D82A}">
                    <a16:rowId xmlns:a16="http://schemas.microsoft.com/office/drawing/2014/main" val="650386504"/>
                  </a:ext>
                </a:extLst>
              </a:tr>
              <a:tr h="271591">
                <a:tc>
                  <a:txBody>
                    <a:bodyPr/>
                    <a:lstStyle/>
                    <a:p>
                      <a:pPr lvl="0">
                        <a:buNone/>
                      </a:pPr>
                      <a:r>
                        <a:rPr lang="en-US" sz="1200" b="1">
                          <a:effectLst/>
                        </a:rPr>
                        <a:t>State Energy Commission</a:t>
                      </a:r>
                      <a:endParaRPr lang="en-US" sz="1200" b="1"/>
                    </a:p>
                  </a:txBody>
                  <a:tcPr anchor="ctr"/>
                </a:tc>
                <a:tc>
                  <a:txBody>
                    <a:bodyPr/>
                    <a:lstStyle/>
                    <a:p>
                      <a:pPr lvl="0" algn="ctr">
                        <a:buNone/>
                      </a:pPr>
                      <a:r>
                        <a:rPr lang="en-US" sz="1200" b="1"/>
                        <a:t>😑</a:t>
                      </a:r>
                    </a:p>
                  </a:txBody>
                  <a:tcPr anchor="ctr">
                    <a:solidFill>
                      <a:srgbClr val="FFFF00"/>
                    </a:solidFill>
                  </a:tcPr>
                </a:tc>
                <a:extLst>
                  <a:ext uri="{0D108BD9-81ED-4DB2-BD59-A6C34878D82A}">
                    <a16:rowId xmlns:a16="http://schemas.microsoft.com/office/drawing/2014/main" val="2851473022"/>
                  </a:ext>
                </a:extLst>
              </a:tr>
              <a:tr h="271591">
                <a:tc>
                  <a:txBody>
                    <a:bodyPr/>
                    <a:lstStyle/>
                    <a:p>
                      <a:pPr lvl="0">
                        <a:buNone/>
                      </a:pPr>
                      <a:r>
                        <a:rPr lang="en-US" sz="1200" b="1">
                          <a:effectLst/>
                        </a:rPr>
                        <a:t>Environmental Protection Agency </a:t>
                      </a:r>
                      <a:endParaRPr lang="en-US" sz="1200" b="1"/>
                    </a:p>
                  </a:txBody>
                  <a:tcPr anchor="ctr"/>
                </a:tc>
                <a:tc>
                  <a:txBody>
                    <a:bodyPr/>
                    <a:lstStyle/>
                    <a:p>
                      <a:pPr lvl="0" algn="ctr">
                        <a:buNone/>
                      </a:pPr>
                      <a:r>
                        <a:rPr lang="en-US" sz="1200" b="1"/>
                        <a:t>😑</a:t>
                      </a:r>
                    </a:p>
                  </a:txBody>
                  <a:tcPr anchor="ctr">
                    <a:solidFill>
                      <a:srgbClr val="FFFF00"/>
                    </a:solidFill>
                  </a:tcPr>
                </a:tc>
                <a:extLst>
                  <a:ext uri="{0D108BD9-81ED-4DB2-BD59-A6C34878D82A}">
                    <a16:rowId xmlns:a16="http://schemas.microsoft.com/office/drawing/2014/main" val="2373089449"/>
                  </a:ext>
                </a:extLst>
              </a:tr>
              <a:tr h="271591">
                <a:tc>
                  <a:txBody>
                    <a:bodyPr/>
                    <a:lstStyle/>
                    <a:p>
                      <a:pPr lvl="0">
                        <a:buNone/>
                      </a:pPr>
                      <a:r>
                        <a:rPr lang="en-US" sz="1200" b="1">
                          <a:effectLst/>
                        </a:rPr>
                        <a:t>Local/County Zoning Board</a:t>
                      </a:r>
                      <a:endParaRPr lang="en-US" sz="1200" b="1"/>
                    </a:p>
                  </a:txBody>
                  <a:tcPr anchor="ctr"/>
                </a:tc>
                <a:tc>
                  <a:txBody>
                    <a:bodyPr/>
                    <a:lstStyle/>
                    <a:p>
                      <a:pPr lvl="0" algn="ctr">
                        <a:buNone/>
                      </a:pPr>
                      <a:r>
                        <a:rPr lang="en-US" sz="1200" b="1"/>
                        <a:t>😑</a:t>
                      </a:r>
                    </a:p>
                  </a:txBody>
                  <a:tcPr anchor="ctr">
                    <a:solidFill>
                      <a:srgbClr val="FFFF00"/>
                    </a:solidFill>
                  </a:tcPr>
                </a:tc>
                <a:extLst>
                  <a:ext uri="{0D108BD9-81ED-4DB2-BD59-A6C34878D82A}">
                    <a16:rowId xmlns:a16="http://schemas.microsoft.com/office/drawing/2014/main" val="653189647"/>
                  </a:ext>
                </a:extLst>
              </a:tr>
              <a:tr h="325909">
                <a:tc>
                  <a:txBody>
                    <a:bodyPr/>
                    <a:lstStyle/>
                    <a:p>
                      <a:pPr lvl="0">
                        <a:buNone/>
                      </a:pPr>
                      <a:r>
                        <a:rPr lang="en-US" sz="1200" b="1">
                          <a:effectLst/>
                        </a:rPr>
                        <a:t>Federal Energy Regulatory Commission</a:t>
                      </a:r>
                    </a:p>
                  </a:txBody>
                  <a:tcPr anchor="ctr"/>
                </a:tc>
                <a:tc>
                  <a:txBody>
                    <a:bodyPr/>
                    <a:lstStyle/>
                    <a:p>
                      <a:pPr lvl="0" algn="ctr">
                        <a:buNone/>
                      </a:pPr>
                      <a:r>
                        <a:rPr lang="en-US" sz="1200" b="1"/>
                        <a:t>😑</a:t>
                      </a:r>
                    </a:p>
                  </a:txBody>
                  <a:tcPr anchor="ctr">
                    <a:solidFill>
                      <a:srgbClr val="FFFF00"/>
                    </a:solidFill>
                  </a:tcPr>
                </a:tc>
                <a:extLst>
                  <a:ext uri="{0D108BD9-81ED-4DB2-BD59-A6C34878D82A}">
                    <a16:rowId xmlns:a16="http://schemas.microsoft.com/office/drawing/2014/main" val="677408616"/>
                  </a:ext>
                </a:extLst>
              </a:tr>
            </a:tbl>
          </a:graphicData>
        </a:graphic>
      </p:graphicFrame>
    </p:spTree>
    <p:extLst>
      <p:ext uri="{BB962C8B-B14F-4D97-AF65-F5344CB8AC3E}">
        <p14:creationId xmlns:p14="http://schemas.microsoft.com/office/powerpoint/2010/main" val="24025709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BA261-7F4A-6E5D-591F-D5ADBB8B5CDE}"/>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405A27C1-701F-558B-0EA8-488D46E7C3A3}"/>
              </a:ext>
            </a:extLst>
          </p:cNvPr>
          <p:cNvSpPr/>
          <p:nvPr/>
        </p:nvSpPr>
        <p:spPr>
          <a:xfrm>
            <a:off x="3541876" y="-1"/>
            <a:ext cx="8650124" cy="6858000"/>
          </a:xfrm>
          <a:prstGeom prst="rect">
            <a:avLst/>
          </a:prstGeom>
          <a:solidFill>
            <a:srgbClr val="F9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1A25EE27-53DC-17A8-3220-739057FDE037}"/>
              </a:ext>
            </a:extLst>
          </p:cNvPr>
          <p:cNvSpPr txBox="1">
            <a:spLocks/>
          </p:cNvSpPr>
          <p:nvPr/>
        </p:nvSpPr>
        <p:spPr>
          <a:xfrm>
            <a:off x="3886972" y="212207"/>
            <a:ext cx="7084142" cy="65023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a:lstStyle>
          <a:p>
            <a:r>
              <a:rPr lang="en-US" b="1">
                <a:solidFill>
                  <a:schemeClr val="accent1">
                    <a:lumMod val="49000"/>
                  </a:schemeClr>
                </a:solidFill>
                <a:latin typeface="Biome"/>
                <a:cs typeface="Times New Roman"/>
              </a:rPr>
              <a:t>Key Venture Milestone  </a:t>
            </a:r>
          </a:p>
        </p:txBody>
      </p:sp>
      <p:sp>
        <p:nvSpPr>
          <p:cNvPr id="3" name="TextBox 2">
            <a:extLst>
              <a:ext uri="{FF2B5EF4-FFF2-40B4-BE49-F238E27FC236}">
                <a16:creationId xmlns:a16="http://schemas.microsoft.com/office/drawing/2014/main" id="{DAC91BD4-4076-9067-0DAF-76A87E97A38B}"/>
              </a:ext>
            </a:extLst>
          </p:cNvPr>
          <p:cNvSpPr txBox="1"/>
          <p:nvPr/>
        </p:nvSpPr>
        <p:spPr>
          <a:xfrm>
            <a:off x="3917801" y="1346428"/>
            <a:ext cx="8072591" cy="2123658"/>
          </a:xfrm>
          <a:prstGeom prst="rect">
            <a:avLst/>
          </a:prstGeom>
          <a:solidFill>
            <a:srgbClr val="BDCFFC"/>
          </a:solid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t>WBS 2.1 Site Feasibility Complete – Dec 26,2026</a:t>
            </a:r>
          </a:p>
          <a:p>
            <a:pPr marL="285750" indent="-285750">
              <a:buFont typeface="Arial"/>
              <a:buChar char="•"/>
            </a:pPr>
            <a:r>
              <a:rPr lang="en-US" sz="1200">
                <a:latin typeface="Arial"/>
                <a:cs typeface="Arial"/>
              </a:rPr>
              <a:t>Confirms the site is technically and commercially viable before the project commits major resources. Validates solar resource, grid proximity, land availability, and environmental constraints</a:t>
            </a:r>
          </a:p>
          <a:p>
            <a:pPr marL="285750" indent="-285750">
              <a:buFont typeface="Arial"/>
              <a:buChar char="•"/>
            </a:pPr>
            <a:r>
              <a:rPr lang="en-US" b="1">
                <a:latin typeface="Bierstadt"/>
                <a:cs typeface="Arial"/>
              </a:rPr>
              <a:t>WBS 2.2 Site Control Secured  – June 11,2027 </a:t>
            </a:r>
          </a:p>
          <a:p>
            <a:pPr marL="285750" indent="-285750">
              <a:buFont typeface="Arial"/>
              <a:buChar char="•"/>
            </a:pPr>
            <a:r>
              <a:rPr lang="en-US" sz="1200">
                <a:latin typeface="Arial"/>
                <a:cs typeface="Arial"/>
              </a:rPr>
              <a:t>All land agreements, easements, and title recordings are executed. The project has legal control of the site — the physical and legal foundation that everything else is built upon</a:t>
            </a:r>
            <a:r>
              <a:rPr lang="en-US" sz="1000">
                <a:latin typeface="Arial"/>
                <a:cs typeface="Arial"/>
              </a:rPr>
              <a:t>.</a:t>
            </a:r>
            <a:r>
              <a:rPr lang="en-US" sz="1200">
                <a:latin typeface="Arial"/>
                <a:cs typeface="Arial"/>
              </a:rPr>
              <a:t> </a:t>
            </a:r>
          </a:p>
          <a:p>
            <a:pPr marL="285750" indent="-285750">
              <a:buFont typeface="Arial"/>
              <a:buChar char="•"/>
            </a:pPr>
            <a:r>
              <a:rPr lang="en-US" b="1">
                <a:latin typeface="Bierstadt"/>
                <a:cs typeface="Arial"/>
              </a:rPr>
              <a:t>WBS 2.4  Local Permitting Secured  –  October 29,2027</a:t>
            </a:r>
          </a:p>
          <a:p>
            <a:pPr marL="285750" indent="-285750">
              <a:buFont typeface="Arial"/>
              <a:buChar char="•"/>
            </a:pPr>
            <a:r>
              <a:rPr lang="en-US" sz="1200">
                <a:latin typeface="Arial"/>
                <a:cs typeface="Arial"/>
              </a:rPr>
              <a:t>All zoning approvals, building permits, and AHJ sign-offs are obtained. This is the regulatory green light that allows physical construction to legally begin on site. </a:t>
            </a:r>
            <a:r>
              <a:rPr lang="en-US">
                <a:latin typeface="Bierstadt"/>
                <a:cs typeface="Arial"/>
              </a:rPr>
              <a:t> </a:t>
            </a:r>
          </a:p>
        </p:txBody>
      </p:sp>
      <p:sp>
        <p:nvSpPr>
          <p:cNvPr id="5" name="TextBox 4">
            <a:extLst>
              <a:ext uri="{FF2B5EF4-FFF2-40B4-BE49-F238E27FC236}">
                <a16:creationId xmlns:a16="http://schemas.microsoft.com/office/drawing/2014/main" id="{E5A3EC86-7CA0-0361-8AC3-26DD75805FCB}"/>
              </a:ext>
            </a:extLst>
          </p:cNvPr>
          <p:cNvSpPr txBox="1"/>
          <p:nvPr/>
        </p:nvSpPr>
        <p:spPr>
          <a:xfrm>
            <a:off x="3921760" y="985520"/>
            <a:ext cx="6085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Site Control &amp; Permitting</a:t>
            </a:r>
          </a:p>
        </p:txBody>
      </p:sp>
      <p:sp>
        <p:nvSpPr>
          <p:cNvPr id="13" name="TextBox 12">
            <a:extLst>
              <a:ext uri="{FF2B5EF4-FFF2-40B4-BE49-F238E27FC236}">
                <a16:creationId xmlns:a16="http://schemas.microsoft.com/office/drawing/2014/main" id="{AFF4433E-1493-36D5-31C3-5E93DF62BC06}"/>
              </a:ext>
            </a:extLst>
          </p:cNvPr>
          <p:cNvSpPr txBox="1"/>
          <p:nvPr/>
        </p:nvSpPr>
        <p:spPr>
          <a:xfrm>
            <a:off x="3921760" y="3637280"/>
            <a:ext cx="6085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Engineering &amp; Design </a:t>
            </a:r>
          </a:p>
        </p:txBody>
      </p:sp>
      <p:sp>
        <p:nvSpPr>
          <p:cNvPr id="14" name="TextBox 13">
            <a:extLst>
              <a:ext uri="{FF2B5EF4-FFF2-40B4-BE49-F238E27FC236}">
                <a16:creationId xmlns:a16="http://schemas.microsoft.com/office/drawing/2014/main" id="{C7015FCF-AD0F-4A1C-C71D-F81BD1ABF287}"/>
              </a:ext>
            </a:extLst>
          </p:cNvPr>
          <p:cNvSpPr txBox="1"/>
          <p:nvPr/>
        </p:nvSpPr>
        <p:spPr>
          <a:xfrm>
            <a:off x="3887320" y="3998187"/>
            <a:ext cx="8072591" cy="2123658"/>
          </a:xfrm>
          <a:prstGeom prst="rect">
            <a:avLst/>
          </a:prstGeom>
          <a:solidFill>
            <a:schemeClr val="accent2">
              <a:lumMod val="20000"/>
              <a:lumOff val="80000"/>
            </a:schemeClr>
          </a:solidFill>
          <a:ln>
            <a:solidFill>
              <a:srgbClr val="FF99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t>WBS 3.1 Conceptual Design Complete - </a:t>
            </a:r>
          </a:p>
          <a:p>
            <a:pPr marL="285750" indent="-285750">
              <a:buFont typeface="Arial"/>
              <a:buChar char="•"/>
            </a:pPr>
            <a:r>
              <a:rPr lang="en-US" sz="1200">
                <a:latin typeface="Arial"/>
                <a:cs typeface="Arial"/>
              </a:rPr>
              <a:t>Confirms the site is technically and commercially viable before the project commits major resources. Validates solar resource, grid proximity, land availability, and environmental constraints</a:t>
            </a:r>
          </a:p>
          <a:p>
            <a:pPr marL="285750" indent="-285750">
              <a:buFont typeface="Arial"/>
              <a:buChar char="•"/>
            </a:pPr>
            <a:r>
              <a:rPr lang="en-US" b="1">
                <a:latin typeface="Bierstadt"/>
                <a:cs typeface="Arial"/>
              </a:rPr>
              <a:t>WBS 2.2 Site Control Secured  – June 11,2027 </a:t>
            </a:r>
          </a:p>
          <a:p>
            <a:pPr marL="285750" indent="-285750">
              <a:buFont typeface="Arial"/>
              <a:buChar char="•"/>
            </a:pPr>
            <a:r>
              <a:rPr lang="en-US" sz="1200">
                <a:latin typeface="Arial"/>
                <a:cs typeface="Arial"/>
              </a:rPr>
              <a:t>All land agreements, easements, and title recordings are executed. The project has legal control of the site — the physical and legal foundation that everything else is built upon</a:t>
            </a:r>
            <a:r>
              <a:rPr lang="en-US" sz="1000">
                <a:latin typeface="Arial"/>
                <a:cs typeface="Arial"/>
              </a:rPr>
              <a:t>.</a:t>
            </a:r>
            <a:r>
              <a:rPr lang="en-US" sz="1200">
                <a:latin typeface="Arial"/>
                <a:cs typeface="Arial"/>
              </a:rPr>
              <a:t> </a:t>
            </a:r>
          </a:p>
          <a:p>
            <a:pPr marL="285750" indent="-285750">
              <a:buFont typeface="Arial"/>
              <a:buChar char="•"/>
            </a:pPr>
            <a:r>
              <a:rPr lang="en-US" b="1">
                <a:latin typeface="Bierstadt"/>
                <a:cs typeface="Arial"/>
              </a:rPr>
              <a:t>WBS 2.4  Local Permitting Secured  –  October 29,2027</a:t>
            </a:r>
          </a:p>
          <a:p>
            <a:pPr marL="285750" indent="-285750">
              <a:buFont typeface="Arial"/>
              <a:buChar char="•"/>
            </a:pPr>
            <a:r>
              <a:rPr lang="en-US" sz="1200">
                <a:latin typeface="Arial"/>
                <a:cs typeface="Arial"/>
              </a:rPr>
              <a:t>All zoning approvals, building permits, and AHJ sign-offs are obtained. This is the regulatory green light that allows physical construction to legally begin on site. </a:t>
            </a:r>
            <a:r>
              <a:rPr lang="en-US">
                <a:latin typeface="Bierstadt"/>
                <a:cs typeface="Arial"/>
              </a:rPr>
              <a:t> </a:t>
            </a:r>
          </a:p>
        </p:txBody>
      </p:sp>
      <p:pic>
        <p:nvPicPr>
          <p:cNvPr id="6" name="Picture Placeholder 24" descr="A person looking at a whiteboard with many sticky notes&#10;&#10;AI-generated content may be incorrect.">
            <a:extLst>
              <a:ext uri="{FF2B5EF4-FFF2-40B4-BE49-F238E27FC236}">
                <a16:creationId xmlns:a16="http://schemas.microsoft.com/office/drawing/2014/main" id="{02CB3647-11F0-6294-BFB1-90F919328FE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0463" r="30463"/>
          <a:stretch>
            <a:fillRect/>
          </a:stretch>
        </p:blipFill>
        <p:spPr>
          <a:xfrm>
            <a:off x="0" y="1"/>
            <a:ext cx="3569930" cy="6858000"/>
          </a:xfrm>
        </p:spPr>
      </p:pic>
    </p:spTree>
    <p:extLst>
      <p:ext uri="{BB962C8B-B14F-4D97-AF65-F5344CB8AC3E}">
        <p14:creationId xmlns:p14="http://schemas.microsoft.com/office/powerpoint/2010/main" val="23991984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2060"/>
          </a:solidFill>
          <a:ln w="12700">
            <a:solidFill>
              <a:srgbClr val="1A3C5E"/>
            </a:solidFill>
            <a:prstDash val="solid"/>
          </a:ln>
        </p:spPr>
      </p:sp>
      <p:sp>
        <p:nvSpPr>
          <p:cNvPr id="3" name="Text 1"/>
          <p:cNvSpPr/>
          <p:nvPr/>
        </p:nvSpPr>
        <p:spPr>
          <a:xfrm>
            <a:off x="365760" y="0"/>
            <a:ext cx="7315200" cy="822960"/>
          </a:xfrm>
          <a:prstGeom prst="rect">
            <a:avLst/>
          </a:prstGeom>
          <a:noFill/>
          <a:ln/>
        </p:spPr>
        <p:txBody>
          <a:bodyPr wrap="square" lIns="91440" tIns="45720" rIns="91440" bIns="45720" rtlCol="0" anchor="ctr"/>
          <a:lstStyle/>
          <a:p>
            <a:pPr marL="0" indent="0">
              <a:buNone/>
            </a:pPr>
            <a:r>
              <a:rPr lang="en-US" sz="2400">
                <a:solidFill>
                  <a:schemeClr val="bg1"/>
                </a:solidFill>
                <a:latin typeface="Biome"/>
                <a:ea typeface="Calibri"/>
                <a:cs typeface="Biome"/>
              </a:rPr>
              <a:t>Contractor Legend</a:t>
            </a:r>
          </a:p>
        </p:txBody>
      </p:sp>
      <p:sp>
        <p:nvSpPr>
          <p:cNvPr id="5" name="Shape 3"/>
          <p:cNvSpPr/>
          <p:nvPr/>
        </p:nvSpPr>
        <p:spPr>
          <a:xfrm>
            <a:off x="365760" y="1005840"/>
            <a:ext cx="3657600" cy="137160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6" name="Shape 4"/>
          <p:cNvSpPr/>
          <p:nvPr/>
        </p:nvSpPr>
        <p:spPr>
          <a:xfrm>
            <a:off x="365760" y="1005840"/>
            <a:ext cx="109728" cy="1371600"/>
          </a:xfrm>
          <a:prstGeom prst="rect">
            <a:avLst/>
          </a:prstGeom>
          <a:solidFill>
            <a:srgbClr val="1A3C5E"/>
          </a:solidFill>
          <a:ln w="12700">
            <a:solidFill>
              <a:srgbClr val="1A3C5E"/>
            </a:solidFill>
            <a:prstDash val="solid"/>
          </a:ln>
        </p:spPr>
      </p:sp>
      <p:sp>
        <p:nvSpPr>
          <p:cNvPr id="7" name="Text 5"/>
          <p:cNvSpPr/>
          <p:nvPr/>
        </p:nvSpPr>
        <p:spPr>
          <a:xfrm>
            <a:off x="566928" y="1143000"/>
            <a:ext cx="3291840" cy="347472"/>
          </a:xfrm>
          <a:prstGeom prst="rect">
            <a:avLst/>
          </a:prstGeom>
          <a:noFill/>
          <a:ln/>
        </p:spPr>
        <p:txBody>
          <a:bodyPr wrap="square" lIns="0" tIns="0" rIns="0" bIns="0" rtlCol="0" anchor="ctr"/>
          <a:lstStyle/>
          <a:p>
            <a:pPr marL="0" indent="0">
              <a:buNone/>
            </a:pPr>
            <a:r>
              <a:rPr lang="en-US" sz="1300" b="1">
                <a:solidFill>
                  <a:srgbClr val="1A3C5E"/>
                </a:solidFill>
                <a:latin typeface="Calibri" pitchFamily="34" charset="0"/>
                <a:ea typeface="Calibri" pitchFamily="34" charset="-122"/>
                <a:cs typeface="Calibri" pitchFamily="34" charset="-120"/>
              </a:rPr>
              <a:t>Turner &amp; Townsend</a:t>
            </a:r>
            <a:endParaRPr lang="en-US" sz="1300"/>
          </a:p>
        </p:txBody>
      </p:sp>
      <p:sp>
        <p:nvSpPr>
          <p:cNvPr id="8" name="Text 6"/>
          <p:cNvSpPr/>
          <p:nvPr/>
        </p:nvSpPr>
        <p:spPr>
          <a:xfrm>
            <a:off x="566928" y="1481328"/>
            <a:ext cx="3291840" cy="274320"/>
          </a:xfrm>
          <a:prstGeom prst="rect">
            <a:avLst/>
          </a:prstGeom>
          <a:noFill/>
          <a:ln/>
        </p:spPr>
        <p:txBody>
          <a:bodyPr wrap="square" lIns="0" tIns="0" rIns="0" bIns="0" rtlCol="0" anchor="ctr"/>
          <a:lstStyle/>
          <a:p>
            <a:r>
              <a:rPr lang="en-US" sz="1000" i="1">
                <a:solidFill>
                  <a:srgbClr val="555555"/>
                </a:solidFill>
                <a:latin typeface="Calibri"/>
                <a:ea typeface="Calibri"/>
                <a:cs typeface="Calibri"/>
              </a:rPr>
              <a:t>Project </a:t>
            </a:r>
            <a:r>
              <a:rPr lang="en-US" sz="1000" i="1" err="1">
                <a:solidFill>
                  <a:srgbClr val="555555"/>
                </a:solidFill>
                <a:latin typeface="Calibri"/>
                <a:ea typeface="Calibri"/>
                <a:cs typeface="Calibri"/>
              </a:rPr>
              <a:t>Managemnet</a:t>
            </a:r>
            <a:r>
              <a:rPr lang="en-US" sz="1000" i="1">
                <a:solidFill>
                  <a:srgbClr val="555555"/>
                </a:solidFill>
                <a:latin typeface="Calibri"/>
                <a:ea typeface="Calibri"/>
                <a:cs typeface="Calibri"/>
              </a:rPr>
              <a:t> -Working with Helios </a:t>
            </a:r>
          </a:p>
        </p:txBody>
      </p:sp>
      <p:sp>
        <p:nvSpPr>
          <p:cNvPr id="9" name="Shape 7"/>
          <p:cNvSpPr/>
          <p:nvPr/>
        </p:nvSpPr>
        <p:spPr>
          <a:xfrm>
            <a:off x="566928" y="1828800"/>
            <a:ext cx="201168" cy="201168"/>
          </a:xfrm>
          <a:prstGeom prst="rect">
            <a:avLst/>
          </a:prstGeom>
          <a:solidFill>
            <a:srgbClr val="1A3C5E"/>
          </a:solidFill>
          <a:ln w="12700">
            <a:solidFill>
              <a:srgbClr val="1A3C5E"/>
            </a:solidFill>
            <a:prstDash val="solid"/>
          </a:ln>
        </p:spPr>
      </p:sp>
      <p:sp>
        <p:nvSpPr>
          <p:cNvPr id="11" name="Shape 9"/>
          <p:cNvSpPr/>
          <p:nvPr/>
        </p:nvSpPr>
        <p:spPr>
          <a:xfrm>
            <a:off x="4297680" y="1005840"/>
            <a:ext cx="3657600" cy="137160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2" name="Shape 10"/>
          <p:cNvSpPr/>
          <p:nvPr/>
        </p:nvSpPr>
        <p:spPr>
          <a:xfrm>
            <a:off x="4297680" y="1005840"/>
            <a:ext cx="109728" cy="1371600"/>
          </a:xfrm>
          <a:prstGeom prst="rect">
            <a:avLst/>
          </a:prstGeom>
          <a:solidFill>
            <a:srgbClr val="1565C0"/>
          </a:solidFill>
          <a:ln w="12700">
            <a:solidFill>
              <a:srgbClr val="1565C0"/>
            </a:solidFill>
            <a:prstDash val="solid"/>
          </a:ln>
        </p:spPr>
      </p:sp>
      <p:sp>
        <p:nvSpPr>
          <p:cNvPr id="13" name="Text 11"/>
          <p:cNvSpPr/>
          <p:nvPr/>
        </p:nvSpPr>
        <p:spPr>
          <a:xfrm>
            <a:off x="4498848" y="1143000"/>
            <a:ext cx="3291840" cy="347472"/>
          </a:xfrm>
          <a:prstGeom prst="rect">
            <a:avLst/>
          </a:prstGeom>
          <a:noFill/>
          <a:ln/>
        </p:spPr>
        <p:txBody>
          <a:bodyPr wrap="square" lIns="0" tIns="0" rIns="0" bIns="0" rtlCol="0" anchor="ctr"/>
          <a:lstStyle/>
          <a:p>
            <a:pPr marL="0" indent="0">
              <a:buNone/>
            </a:pPr>
            <a:r>
              <a:rPr lang="en-US" sz="1300" b="1">
                <a:solidFill>
                  <a:srgbClr val="1565C0"/>
                </a:solidFill>
                <a:latin typeface="Calibri" pitchFamily="34" charset="0"/>
                <a:ea typeface="Calibri" pitchFamily="34" charset="-122"/>
                <a:cs typeface="Calibri" pitchFamily="34" charset="-120"/>
              </a:rPr>
              <a:t>Terracon</a:t>
            </a:r>
            <a:endParaRPr lang="en-US" sz="1300"/>
          </a:p>
        </p:txBody>
      </p:sp>
      <p:sp>
        <p:nvSpPr>
          <p:cNvPr id="14" name="Text 12"/>
          <p:cNvSpPr/>
          <p:nvPr/>
        </p:nvSpPr>
        <p:spPr>
          <a:xfrm>
            <a:off x="4498848" y="1481328"/>
            <a:ext cx="3291840" cy="274320"/>
          </a:xfrm>
          <a:prstGeom prst="rect">
            <a:avLst/>
          </a:prstGeom>
          <a:noFill/>
          <a:ln/>
        </p:spPr>
        <p:txBody>
          <a:bodyPr wrap="square" lIns="0" tIns="0" rIns="0" bIns="0" rtlCol="0" anchor="ctr"/>
          <a:lstStyle/>
          <a:p>
            <a:pPr marL="0" indent="0">
              <a:buNone/>
            </a:pPr>
            <a:r>
              <a:rPr lang="en-US" sz="1000" i="1">
                <a:solidFill>
                  <a:srgbClr val="555555"/>
                </a:solidFill>
                <a:latin typeface="Calibri" pitchFamily="34" charset="0"/>
                <a:ea typeface="Calibri" pitchFamily="34" charset="-122"/>
                <a:cs typeface="Calibri" pitchFamily="34" charset="-120"/>
              </a:rPr>
              <a:t>FEED &amp; Permitting</a:t>
            </a:r>
            <a:endParaRPr lang="en-US" sz="1000"/>
          </a:p>
        </p:txBody>
      </p:sp>
      <p:sp>
        <p:nvSpPr>
          <p:cNvPr id="15" name="Shape 13"/>
          <p:cNvSpPr/>
          <p:nvPr/>
        </p:nvSpPr>
        <p:spPr>
          <a:xfrm>
            <a:off x="4498848" y="1828800"/>
            <a:ext cx="201168" cy="201168"/>
          </a:xfrm>
          <a:prstGeom prst="rect">
            <a:avLst/>
          </a:prstGeom>
          <a:solidFill>
            <a:srgbClr val="1565C0"/>
          </a:solidFill>
          <a:ln w="12700">
            <a:solidFill>
              <a:srgbClr val="1565C0"/>
            </a:solidFill>
            <a:prstDash val="solid"/>
          </a:ln>
        </p:spPr>
      </p:sp>
      <p:sp>
        <p:nvSpPr>
          <p:cNvPr id="17" name="Shape 15"/>
          <p:cNvSpPr/>
          <p:nvPr/>
        </p:nvSpPr>
        <p:spPr>
          <a:xfrm>
            <a:off x="8229600" y="1005840"/>
            <a:ext cx="3657600" cy="137160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8" name="Shape 16"/>
          <p:cNvSpPr/>
          <p:nvPr/>
        </p:nvSpPr>
        <p:spPr>
          <a:xfrm>
            <a:off x="8229600" y="1005840"/>
            <a:ext cx="109728" cy="1371600"/>
          </a:xfrm>
          <a:prstGeom prst="rect">
            <a:avLst/>
          </a:prstGeom>
          <a:solidFill>
            <a:srgbClr val="2E7D32"/>
          </a:solidFill>
          <a:ln w="12700">
            <a:solidFill>
              <a:srgbClr val="2E7D32"/>
            </a:solidFill>
            <a:prstDash val="solid"/>
          </a:ln>
        </p:spPr>
      </p:sp>
      <p:sp>
        <p:nvSpPr>
          <p:cNvPr id="19" name="Text 17"/>
          <p:cNvSpPr/>
          <p:nvPr/>
        </p:nvSpPr>
        <p:spPr>
          <a:xfrm>
            <a:off x="8430768" y="1143000"/>
            <a:ext cx="3291840" cy="347472"/>
          </a:xfrm>
          <a:prstGeom prst="rect">
            <a:avLst/>
          </a:prstGeom>
          <a:noFill/>
          <a:ln/>
        </p:spPr>
        <p:txBody>
          <a:bodyPr wrap="square" lIns="0" tIns="0" rIns="0" bIns="0" rtlCol="0" anchor="ctr"/>
          <a:lstStyle/>
          <a:p>
            <a:pPr marL="0" indent="0">
              <a:buNone/>
            </a:pPr>
            <a:r>
              <a:rPr lang="en-US" sz="1300" b="1">
                <a:solidFill>
                  <a:srgbClr val="2E7D32"/>
                </a:solidFill>
                <a:latin typeface="Calibri" pitchFamily="34" charset="0"/>
                <a:ea typeface="Calibri" pitchFamily="34" charset="-122"/>
                <a:cs typeface="Calibri" pitchFamily="34" charset="-120"/>
              </a:rPr>
              <a:t>Sargent &amp; Lundy</a:t>
            </a:r>
            <a:endParaRPr lang="en-US" sz="1300"/>
          </a:p>
        </p:txBody>
      </p:sp>
      <p:sp>
        <p:nvSpPr>
          <p:cNvPr id="20" name="Text 18"/>
          <p:cNvSpPr/>
          <p:nvPr/>
        </p:nvSpPr>
        <p:spPr>
          <a:xfrm>
            <a:off x="8430768" y="1481328"/>
            <a:ext cx="3291840" cy="274320"/>
          </a:xfrm>
          <a:prstGeom prst="rect">
            <a:avLst/>
          </a:prstGeom>
          <a:noFill/>
          <a:ln/>
        </p:spPr>
        <p:txBody>
          <a:bodyPr wrap="square" lIns="0" tIns="0" rIns="0" bIns="0" rtlCol="0" anchor="ctr"/>
          <a:lstStyle/>
          <a:p>
            <a:pPr marL="0" indent="0">
              <a:buNone/>
            </a:pPr>
            <a:r>
              <a:rPr lang="en-US" sz="1000" i="1">
                <a:solidFill>
                  <a:srgbClr val="555555"/>
                </a:solidFill>
                <a:latin typeface="Calibri" pitchFamily="34" charset="0"/>
                <a:ea typeface="Calibri" pitchFamily="34" charset="-122"/>
                <a:cs typeface="Calibri" pitchFamily="34" charset="-120"/>
              </a:rPr>
              <a:t>Detailed Design</a:t>
            </a:r>
            <a:endParaRPr lang="en-US" sz="1000"/>
          </a:p>
        </p:txBody>
      </p:sp>
      <p:sp>
        <p:nvSpPr>
          <p:cNvPr id="21" name="Shape 19"/>
          <p:cNvSpPr/>
          <p:nvPr/>
        </p:nvSpPr>
        <p:spPr>
          <a:xfrm>
            <a:off x="8430768" y="1828800"/>
            <a:ext cx="201168" cy="201168"/>
          </a:xfrm>
          <a:prstGeom prst="rect">
            <a:avLst/>
          </a:prstGeom>
          <a:solidFill>
            <a:srgbClr val="2E7D32"/>
          </a:solidFill>
          <a:ln w="12700">
            <a:solidFill>
              <a:srgbClr val="2E7D32"/>
            </a:solidFill>
            <a:prstDash val="solid"/>
          </a:ln>
        </p:spPr>
      </p:sp>
      <p:sp>
        <p:nvSpPr>
          <p:cNvPr id="22" name="Text 20"/>
          <p:cNvSpPr/>
          <p:nvPr/>
        </p:nvSpPr>
        <p:spPr>
          <a:xfrm>
            <a:off x="8705088" y="1810512"/>
            <a:ext cx="1828800" cy="228600"/>
          </a:xfrm>
          <a:prstGeom prst="rect">
            <a:avLst/>
          </a:prstGeom>
          <a:noFill/>
          <a:ln/>
        </p:spPr>
        <p:txBody>
          <a:bodyPr wrap="square" lIns="0" tIns="0" rIns="0" bIns="0" rtlCol="0" anchor="ctr"/>
          <a:lstStyle/>
          <a:p>
            <a:pPr marL="0" indent="0">
              <a:buNone/>
            </a:pPr>
            <a:endParaRPr lang="en-US" sz="900">
              <a:solidFill>
                <a:srgbClr val="888888"/>
              </a:solidFill>
              <a:latin typeface="Calibri"/>
              <a:ea typeface="Calibri"/>
              <a:cs typeface="Calibri"/>
            </a:endParaRPr>
          </a:p>
        </p:txBody>
      </p:sp>
      <p:sp>
        <p:nvSpPr>
          <p:cNvPr id="23" name="Shape 21"/>
          <p:cNvSpPr/>
          <p:nvPr/>
        </p:nvSpPr>
        <p:spPr>
          <a:xfrm>
            <a:off x="365760" y="2560320"/>
            <a:ext cx="3657600" cy="137160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24" name="Shape 22"/>
          <p:cNvSpPr/>
          <p:nvPr/>
        </p:nvSpPr>
        <p:spPr>
          <a:xfrm>
            <a:off x="365760" y="2560320"/>
            <a:ext cx="109728" cy="1371600"/>
          </a:xfrm>
          <a:prstGeom prst="rect">
            <a:avLst/>
          </a:prstGeom>
          <a:solidFill>
            <a:srgbClr val="E65100"/>
          </a:solidFill>
          <a:ln w="12700">
            <a:solidFill>
              <a:srgbClr val="E65100"/>
            </a:solidFill>
            <a:prstDash val="solid"/>
          </a:ln>
        </p:spPr>
      </p:sp>
      <p:sp>
        <p:nvSpPr>
          <p:cNvPr id="25" name="Text 23"/>
          <p:cNvSpPr/>
          <p:nvPr/>
        </p:nvSpPr>
        <p:spPr>
          <a:xfrm>
            <a:off x="566928" y="2697480"/>
            <a:ext cx="3291840" cy="347472"/>
          </a:xfrm>
          <a:prstGeom prst="rect">
            <a:avLst/>
          </a:prstGeom>
          <a:noFill/>
          <a:ln/>
        </p:spPr>
        <p:txBody>
          <a:bodyPr wrap="square" lIns="0" tIns="0" rIns="0" bIns="0" rtlCol="0" anchor="ctr"/>
          <a:lstStyle/>
          <a:p>
            <a:pPr marL="0" indent="0">
              <a:buNone/>
            </a:pPr>
            <a:r>
              <a:rPr lang="en-US" sz="1300" b="1">
                <a:solidFill>
                  <a:srgbClr val="E65100"/>
                </a:solidFill>
                <a:latin typeface="Calibri" pitchFamily="34" charset="0"/>
                <a:ea typeface="Calibri" pitchFamily="34" charset="-122"/>
                <a:cs typeface="Calibri" pitchFamily="34" charset="-120"/>
              </a:rPr>
              <a:t>Amazon</a:t>
            </a:r>
            <a:endParaRPr lang="en-US" sz="1300"/>
          </a:p>
        </p:txBody>
      </p:sp>
      <p:sp>
        <p:nvSpPr>
          <p:cNvPr id="26" name="Text 24"/>
          <p:cNvSpPr/>
          <p:nvPr/>
        </p:nvSpPr>
        <p:spPr>
          <a:xfrm>
            <a:off x="566928" y="3035808"/>
            <a:ext cx="3291840" cy="274320"/>
          </a:xfrm>
          <a:prstGeom prst="rect">
            <a:avLst/>
          </a:prstGeom>
          <a:noFill/>
          <a:ln/>
        </p:spPr>
        <p:txBody>
          <a:bodyPr wrap="square" lIns="0" tIns="0" rIns="0" bIns="0" rtlCol="0" anchor="ctr"/>
          <a:lstStyle/>
          <a:p>
            <a:pPr marL="0" indent="0">
              <a:buNone/>
            </a:pPr>
            <a:r>
              <a:rPr lang="en-US" sz="1000" i="1">
                <a:solidFill>
                  <a:srgbClr val="555555"/>
                </a:solidFill>
                <a:latin typeface="Calibri" pitchFamily="34" charset="0"/>
                <a:ea typeface="Calibri" pitchFamily="34" charset="-122"/>
                <a:cs typeface="Calibri" pitchFamily="34" charset="-120"/>
              </a:rPr>
              <a:t>Procurement &amp; PPA</a:t>
            </a:r>
            <a:endParaRPr lang="en-US" sz="1000"/>
          </a:p>
        </p:txBody>
      </p:sp>
      <p:sp>
        <p:nvSpPr>
          <p:cNvPr id="27" name="Shape 25"/>
          <p:cNvSpPr/>
          <p:nvPr/>
        </p:nvSpPr>
        <p:spPr>
          <a:xfrm>
            <a:off x="566928" y="3383280"/>
            <a:ext cx="201168" cy="201168"/>
          </a:xfrm>
          <a:prstGeom prst="rect">
            <a:avLst/>
          </a:prstGeom>
          <a:solidFill>
            <a:srgbClr val="E65100"/>
          </a:solidFill>
          <a:ln w="12700">
            <a:solidFill>
              <a:srgbClr val="E65100"/>
            </a:solidFill>
            <a:prstDash val="solid"/>
          </a:ln>
        </p:spPr>
      </p:sp>
      <p:sp>
        <p:nvSpPr>
          <p:cNvPr id="29" name="Shape 27"/>
          <p:cNvSpPr/>
          <p:nvPr/>
        </p:nvSpPr>
        <p:spPr>
          <a:xfrm>
            <a:off x="4297680" y="2560320"/>
            <a:ext cx="3657600" cy="137160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30" name="Shape 28"/>
          <p:cNvSpPr/>
          <p:nvPr/>
        </p:nvSpPr>
        <p:spPr>
          <a:xfrm>
            <a:off x="4297680" y="2560320"/>
            <a:ext cx="109728" cy="1371600"/>
          </a:xfrm>
          <a:prstGeom prst="rect">
            <a:avLst/>
          </a:prstGeom>
          <a:solidFill>
            <a:srgbClr val="B71C1C"/>
          </a:solidFill>
          <a:ln w="12700">
            <a:solidFill>
              <a:srgbClr val="B71C1C"/>
            </a:solidFill>
            <a:prstDash val="solid"/>
          </a:ln>
        </p:spPr>
      </p:sp>
      <p:sp>
        <p:nvSpPr>
          <p:cNvPr id="31" name="Text 29"/>
          <p:cNvSpPr/>
          <p:nvPr/>
        </p:nvSpPr>
        <p:spPr>
          <a:xfrm>
            <a:off x="4498848" y="2697480"/>
            <a:ext cx="3291840" cy="347472"/>
          </a:xfrm>
          <a:prstGeom prst="rect">
            <a:avLst/>
          </a:prstGeom>
          <a:noFill/>
          <a:ln/>
        </p:spPr>
        <p:txBody>
          <a:bodyPr wrap="square" lIns="0" tIns="0" rIns="0" bIns="0" rtlCol="0" anchor="ctr"/>
          <a:lstStyle/>
          <a:p>
            <a:pPr marL="0" indent="0">
              <a:buNone/>
            </a:pPr>
            <a:r>
              <a:rPr lang="en-US" sz="1300" b="1">
                <a:solidFill>
                  <a:srgbClr val="B71C1C"/>
                </a:solidFill>
                <a:latin typeface="Calibri" pitchFamily="34" charset="0"/>
                <a:ea typeface="Calibri" pitchFamily="34" charset="-122"/>
                <a:cs typeface="Calibri" pitchFamily="34" charset="-120"/>
              </a:rPr>
              <a:t>JPMorgan Chase</a:t>
            </a:r>
            <a:endParaRPr lang="en-US" sz="1300"/>
          </a:p>
        </p:txBody>
      </p:sp>
      <p:sp>
        <p:nvSpPr>
          <p:cNvPr id="32" name="Text 30"/>
          <p:cNvSpPr/>
          <p:nvPr/>
        </p:nvSpPr>
        <p:spPr>
          <a:xfrm>
            <a:off x="4498848" y="3035808"/>
            <a:ext cx="3291840" cy="274320"/>
          </a:xfrm>
          <a:prstGeom prst="rect">
            <a:avLst/>
          </a:prstGeom>
          <a:noFill/>
          <a:ln/>
        </p:spPr>
        <p:txBody>
          <a:bodyPr wrap="square" lIns="0" tIns="0" rIns="0" bIns="0" rtlCol="0" anchor="ctr"/>
          <a:lstStyle/>
          <a:p>
            <a:pPr marL="0" indent="0">
              <a:buNone/>
            </a:pPr>
            <a:r>
              <a:rPr lang="en-US" sz="1000" i="1">
                <a:solidFill>
                  <a:srgbClr val="555555"/>
                </a:solidFill>
                <a:latin typeface="Calibri" pitchFamily="34" charset="0"/>
                <a:ea typeface="Calibri" pitchFamily="34" charset="-122"/>
                <a:cs typeface="Calibri" pitchFamily="34" charset="-120"/>
              </a:rPr>
              <a:t>Financing</a:t>
            </a:r>
            <a:endParaRPr lang="en-US" sz="1000"/>
          </a:p>
        </p:txBody>
      </p:sp>
      <p:sp>
        <p:nvSpPr>
          <p:cNvPr id="33" name="Shape 31"/>
          <p:cNvSpPr/>
          <p:nvPr/>
        </p:nvSpPr>
        <p:spPr>
          <a:xfrm>
            <a:off x="4498848" y="3383280"/>
            <a:ext cx="201168" cy="201168"/>
          </a:xfrm>
          <a:prstGeom prst="rect">
            <a:avLst/>
          </a:prstGeom>
          <a:solidFill>
            <a:srgbClr val="B71C1C"/>
          </a:solidFill>
          <a:ln w="12700">
            <a:solidFill>
              <a:srgbClr val="B71C1C"/>
            </a:solidFill>
            <a:prstDash val="solid"/>
          </a:ln>
        </p:spPr>
      </p:sp>
      <p:sp>
        <p:nvSpPr>
          <p:cNvPr id="35" name="Shape 33"/>
          <p:cNvSpPr/>
          <p:nvPr/>
        </p:nvSpPr>
        <p:spPr>
          <a:xfrm>
            <a:off x="8229600" y="2560320"/>
            <a:ext cx="3657600" cy="137160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36" name="Shape 34"/>
          <p:cNvSpPr/>
          <p:nvPr/>
        </p:nvSpPr>
        <p:spPr>
          <a:xfrm>
            <a:off x="8229600" y="2560320"/>
            <a:ext cx="109728" cy="1371600"/>
          </a:xfrm>
          <a:prstGeom prst="rect">
            <a:avLst/>
          </a:prstGeom>
          <a:solidFill>
            <a:srgbClr val="4E342E"/>
          </a:solidFill>
          <a:ln w="12700">
            <a:solidFill>
              <a:srgbClr val="4E342E"/>
            </a:solidFill>
            <a:prstDash val="solid"/>
          </a:ln>
        </p:spPr>
      </p:sp>
      <p:sp>
        <p:nvSpPr>
          <p:cNvPr id="37" name="Text 35"/>
          <p:cNvSpPr/>
          <p:nvPr/>
        </p:nvSpPr>
        <p:spPr>
          <a:xfrm>
            <a:off x="8430768" y="2697480"/>
            <a:ext cx="3291840" cy="347472"/>
          </a:xfrm>
          <a:prstGeom prst="rect">
            <a:avLst/>
          </a:prstGeom>
          <a:noFill/>
          <a:ln/>
        </p:spPr>
        <p:txBody>
          <a:bodyPr wrap="square" lIns="0" tIns="0" rIns="0" bIns="0" rtlCol="0" anchor="ctr"/>
          <a:lstStyle/>
          <a:p>
            <a:pPr marL="0" indent="0">
              <a:buNone/>
            </a:pPr>
            <a:r>
              <a:rPr lang="en-US" sz="1300" b="1">
                <a:solidFill>
                  <a:srgbClr val="4E342E"/>
                </a:solidFill>
                <a:latin typeface="Calibri" pitchFamily="34" charset="0"/>
                <a:ea typeface="Calibri" pitchFamily="34" charset="-122"/>
                <a:cs typeface="Calibri" pitchFamily="34" charset="-120"/>
              </a:rPr>
              <a:t>MasTec Renewables</a:t>
            </a:r>
            <a:endParaRPr lang="en-US" sz="1300"/>
          </a:p>
        </p:txBody>
      </p:sp>
      <p:sp>
        <p:nvSpPr>
          <p:cNvPr id="38" name="Text 36"/>
          <p:cNvSpPr/>
          <p:nvPr/>
        </p:nvSpPr>
        <p:spPr>
          <a:xfrm>
            <a:off x="8430768" y="3035808"/>
            <a:ext cx="3291840" cy="274320"/>
          </a:xfrm>
          <a:prstGeom prst="rect">
            <a:avLst/>
          </a:prstGeom>
          <a:noFill/>
          <a:ln/>
        </p:spPr>
        <p:txBody>
          <a:bodyPr wrap="square" lIns="0" tIns="0" rIns="0" bIns="0" rtlCol="0" anchor="ctr"/>
          <a:lstStyle/>
          <a:p>
            <a:pPr marL="0" indent="0">
              <a:buNone/>
            </a:pPr>
            <a:r>
              <a:rPr lang="en-US" sz="1000" i="1">
                <a:solidFill>
                  <a:srgbClr val="555555"/>
                </a:solidFill>
                <a:latin typeface="Calibri" pitchFamily="34" charset="0"/>
                <a:ea typeface="Calibri" pitchFamily="34" charset="-122"/>
                <a:cs typeface="Calibri" pitchFamily="34" charset="-120"/>
              </a:rPr>
              <a:t>Civil &amp; Structural</a:t>
            </a:r>
            <a:endParaRPr lang="en-US" sz="1000"/>
          </a:p>
        </p:txBody>
      </p:sp>
      <p:sp>
        <p:nvSpPr>
          <p:cNvPr id="39" name="Shape 37"/>
          <p:cNvSpPr/>
          <p:nvPr/>
        </p:nvSpPr>
        <p:spPr>
          <a:xfrm>
            <a:off x="8430768" y="3383280"/>
            <a:ext cx="201168" cy="201168"/>
          </a:xfrm>
          <a:prstGeom prst="rect">
            <a:avLst/>
          </a:prstGeom>
          <a:solidFill>
            <a:srgbClr val="4E342E"/>
          </a:solidFill>
          <a:ln w="12700">
            <a:solidFill>
              <a:srgbClr val="4E342E"/>
            </a:solidFill>
            <a:prstDash val="solid"/>
          </a:ln>
        </p:spPr>
      </p:sp>
      <p:sp>
        <p:nvSpPr>
          <p:cNvPr id="41" name="Shape 39"/>
          <p:cNvSpPr/>
          <p:nvPr/>
        </p:nvSpPr>
        <p:spPr>
          <a:xfrm>
            <a:off x="365760" y="4114800"/>
            <a:ext cx="3657600" cy="137160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42" name="Shape 40"/>
          <p:cNvSpPr/>
          <p:nvPr/>
        </p:nvSpPr>
        <p:spPr>
          <a:xfrm>
            <a:off x="365760" y="4114800"/>
            <a:ext cx="109728" cy="1371600"/>
          </a:xfrm>
          <a:prstGeom prst="rect">
            <a:avLst/>
          </a:prstGeom>
          <a:solidFill>
            <a:srgbClr val="311B92"/>
          </a:solidFill>
          <a:ln w="12700">
            <a:solidFill>
              <a:srgbClr val="311B92"/>
            </a:solidFill>
            <a:prstDash val="solid"/>
          </a:ln>
        </p:spPr>
      </p:sp>
      <p:sp>
        <p:nvSpPr>
          <p:cNvPr id="43" name="Text 41"/>
          <p:cNvSpPr/>
          <p:nvPr/>
        </p:nvSpPr>
        <p:spPr>
          <a:xfrm>
            <a:off x="566928" y="4251960"/>
            <a:ext cx="3291840" cy="347472"/>
          </a:xfrm>
          <a:prstGeom prst="rect">
            <a:avLst/>
          </a:prstGeom>
          <a:noFill/>
          <a:ln/>
        </p:spPr>
        <p:txBody>
          <a:bodyPr wrap="square" lIns="0" tIns="0" rIns="0" bIns="0" rtlCol="0" anchor="ctr"/>
          <a:lstStyle/>
          <a:p>
            <a:pPr marL="0" indent="0">
              <a:buNone/>
            </a:pPr>
            <a:r>
              <a:rPr lang="en-US" sz="1300" b="1">
                <a:solidFill>
                  <a:srgbClr val="311B92"/>
                </a:solidFill>
                <a:latin typeface="Calibri" pitchFamily="34" charset="0"/>
                <a:ea typeface="Calibri" pitchFamily="34" charset="-122"/>
                <a:cs typeface="Calibri" pitchFamily="34" charset="-120"/>
              </a:rPr>
              <a:t>Primoris Services</a:t>
            </a:r>
            <a:endParaRPr lang="en-US" sz="1300"/>
          </a:p>
        </p:txBody>
      </p:sp>
      <p:sp>
        <p:nvSpPr>
          <p:cNvPr id="44" name="Text 42"/>
          <p:cNvSpPr/>
          <p:nvPr/>
        </p:nvSpPr>
        <p:spPr>
          <a:xfrm>
            <a:off x="566928" y="4590288"/>
            <a:ext cx="3291840" cy="274320"/>
          </a:xfrm>
          <a:prstGeom prst="rect">
            <a:avLst/>
          </a:prstGeom>
          <a:noFill/>
          <a:ln/>
        </p:spPr>
        <p:txBody>
          <a:bodyPr wrap="square" lIns="0" tIns="0" rIns="0" bIns="0" rtlCol="0" anchor="ctr"/>
          <a:lstStyle/>
          <a:p>
            <a:pPr marL="0" indent="0">
              <a:buNone/>
            </a:pPr>
            <a:r>
              <a:rPr lang="en-US" sz="1000" i="1">
                <a:solidFill>
                  <a:srgbClr val="555555"/>
                </a:solidFill>
                <a:latin typeface="Calibri" pitchFamily="34" charset="0"/>
                <a:ea typeface="Calibri" pitchFamily="34" charset="-122"/>
                <a:cs typeface="Calibri" pitchFamily="34" charset="-120"/>
              </a:rPr>
              <a:t>Electrical &amp; BESS</a:t>
            </a:r>
            <a:endParaRPr lang="en-US" sz="1000"/>
          </a:p>
        </p:txBody>
      </p:sp>
      <p:sp>
        <p:nvSpPr>
          <p:cNvPr id="45" name="Shape 43"/>
          <p:cNvSpPr/>
          <p:nvPr/>
        </p:nvSpPr>
        <p:spPr>
          <a:xfrm>
            <a:off x="566928" y="4937760"/>
            <a:ext cx="201168" cy="201168"/>
          </a:xfrm>
          <a:prstGeom prst="rect">
            <a:avLst/>
          </a:prstGeom>
          <a:solidFill>
            <a:srgbClr val="311B92"/>
          </a:solidFill>
          <a:ln w="12700">
            <a:solidFill>
              <a:srgbClr val="311B92"/>
            </a:solidFill>
            <a:prstDash val="solid"/>
          </a:ln>
        </p:spPr>
      </p:sp>
      <p:sp>
        <p:nvSpPr>
          <p:cNvPr id="47" name="Shape 45"/>
          <p:cNvSpPr/>
          <p:nvPr/>
        </p:nvSpPr>
        <p:spPr>
          <a:xfrm>
            <a:off x="4297680" y="4114800"/>
            <a:ext cx="3657600" cy="137160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48" name="Shape 46"/>
          <p:cNvSpPr/>
          <p:nvPr/>
        </p:nvSpPr>
        <p:spPr>
          <a:xfrm>
            <a:off x="4297680" y="4114800"/>
            <a:ext cx="109728" cy="1371600"/>
          </a:xfrm>
          <a:prstGeom prst="rect">
            <a:avLst/>
          </a:prstGeom>
          <a:solidFill>
            <a:srgbClr val="00695C"/>
          </a:solidFill>
          <a:ln w="12700">
            <a:solidFill>
              <a:srgbClr val="00695C"/>
            </a:solidFill>
            <a:prstDash val="solid"/>
          </a:ln>
        </p:spPr>
      </p:sp>
      <p:sp>
        <p:nvSpPr>
          <p:cNvPr id="49" name="Text 47"/>
          <p:cNvSpPr/>
          <p:nvPr/>
        </p:nvSpPr>
        <p:spPr>
          <a:xfrm>
            <a:off x="4498848" y="4251960"/>
            <a:ext cx="3291840" cy="347472"/>
          </a:xfrm>
          <a:prstGeom prst="rect">
            <a:avLst/>
          </a:prstGeom>
          <a:noFill/>
          <a:ln/>
        </p:spPr>
        <p:txBody>
          <a:bodyPr wrap="square" lIns="0" tIns="0" rIns="0" bIns="0" rtlCol="0" anchor="ctr"/>
          <a:lstStyle/>
          <a:p>
            <a:pPr marL="0" indent="0">
              <a:buNone/>
            </a:pPr>
            <a:r>
              <a:rPr lang="en-US" sz="1300" b="1">
                <a:solidFill>
                  <a:srgbClr val="00695C"/>
                </a:solidFill>
                <a:latin typeface="Calibri" pitchFamily="34" charset="0"/>
                <a:ea typeface="Calibri" pitchFamily="34" charset="-122"/>
                <a:cs typeface="Calibri" pitchFamily="34" charset="-120"/>
              </a:rPr>
              <a:t>Intertek</a:t>
            </a:r>
            <a:endParaRPr lang="en-US" sz="1300"/>
          </a:p>
        </p:txBody>
      </p:sp>
      <p:sp>
        <p:nvSpPr>
          <p:cNvPr id="50" name="Text 48"/>
          <p:cNvSpPr/>
          <p:nvPr/>
        </p:nvSpPr>
        <p:spPr>
          <a:xfrm>
            <a:off x="4498848" y="4590288"/>
            <a:ext cx="3291840" cy="274320"/>
          </a:xfrm>
          <a:prstGeom prst="rect">
            <a:avLst/>
          </a:prstGeom>
          <a:noFill/>
          <a:ln/>
        </p:spPr>
        <p:txBody>
          <a:bodyPr wrap="square" lIns="0" tIns="0" rIns="0" bIns="0" rtlCol="0" anchor="ctr"/>
          <a:lstStyle/>
          <a:p>
            <a:pPr marL="0" indent="0">
              <a:buNone/>
            </a:pPr>
            <a:r>
              <a:rPr lang="en-US" sz="1000" i="1">
                <a:solidFill>
                  <a:srgbClr val="555555"/>
                </a:solidFill>
                <a:latin typeface="Calibri" pitchFamily="34" charset="0"/>
                <a:ea typeface="Calibri" pitchFamily="34" charset="-122"/>
                <a:cs typeface="Calibri" pitchFamily="34" charset="-120"/>
              </a:rPr>
              <a:t>Commissioning</a:t>
            </a:r>
            <a:endParaRPr lang="en-US" sz="1000"/>
          </a:p>
        </p:txBody>
      </p:sp>
      <p:sp>
        <p:nvSpPr>
          <p:cNvPr id="51" name="Shape 49"/>
          <p:cNvSpPr/>
          <p:nvPr/>
        </p:nvSpPr>
        <p:spPr>
          <a:xfrm>
            <a:off x="4498848" y="4937760"/>
            <a:ext cx="201168" cy="201168"/>
          </a:xfrm>
          <a:prstGeom prst="rect">
            <a:avLst/>
          </a:prstGeom>
          <a:solidFill>
            <a:srgbClr val="00695C"/>
          </a:solidFill>
          <a:ln w="12700">
            <a:solidFill>
              <a:srgbClr val="00695C"/>
            </a:solidFill>
            <a:prstDash val="solid"/>
          </a:ln>
        </p:spPr>
      </p:sp>
      <p:sp>
        <p:nvSpPr>
          <p:cNvPr id="53" name="Shape 51"/>
          <p:cNvSpPr/>
          <p:nvPr/>
        </p:nvSpPr>
        <p:spPr>
          <a:xfrm>
            <a:off x="8229600" y="4114800"/>
            <a:ext cx="3657600" cy="137160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54" name="Shape 52"/>
          <p:cNvSpPr/>
          <p:nvPr/>
        </p:nvSpPr>
        <p:spPr>
          <a:xfrm>
            <a:off x="8229600" y="4114800"/>
            <a:ext cx="109728" cy="1371600"/>
          </a:xfrm>
          <a:prstGeom prst="rect">
            <a:avLst/>
          </a:prstGeom>
          <a:solidFill>
            <a:srgbClr val="424242"/>
          </a:solidFill>
          <a:ln w="12700">
            <a:solidFill>
              <a:srgbClr val="424242"/>
            </a:solidFill>
            <a:prstDash val="solid"/>
          </a:ln>
        </p:spPr>
      </p:sp>
      <p:sp>
        <p:nvSpPr>
          <p:cNvPr id="55" name="Text 53"/>
          <p:cNvSpPr/>
          <p:nvPr/>
        </p:nvSpPr>
        <p:spPr>
          <a:xfrm>
            <a:off x="8430768" y="4251960"/>
            <a:ext cx="3291840" cy="347472"/>
          </a:xfrm>
          <a:prstGeom prst="rect">
            <a:avLst/>
          </a:prstGeom>
          <a:noFill/>
          <a:ln/>
        </p:spPr>
        <p:txBody>
          <a:bodyPr wrap="square" lIns="0" tIns="0" rIns="0" bIns="0" rtlCol="0" anchor="ctr"/>
          <a:lstStyle/>
          <a:p>
            <a:pPr marL="0" indent="0">
              <a:buNone/>
            </a:pPr>
            <a:r>
              <a:rPr lang="en-US" sz="1300" b="1">
                <a:solidFill>
                  <a:srgbClr val="424242"/>
                </a:solidFill>
                <a:latin typeface="Calibri" pitchFamily="34" charset="0"/>
                <a:ea typeface="Calibri" pitchFamily="34" charset="-122"/>
                <a:cs typeface="Calibri" pitchFamily="34" charset="-120"/>
              </a:rPr>
              <a:t>Black &amp; Veatch</a:t>
            </a:r>
            <a:endParaRPr lang="en-US" sz="1300"/>
          </a:p>
        </p:txBody>
      </p:sp>
      <p:sp>
        <p:nvSpPr>
          <p:cNvPr id="56" name="Text 54"/>
          <p:cNvSpPr/>
          <p:nvPr/>
        </p:nvSpPr>
        <p:spPr>
          <a:xfrm>
            <a:off x="8430768" y="4590288"/>
            <a:ext cx="3291840" cy="274320"/>
          </a:xfrm>
          <a:prstGeom prst="rect">
            <a:avLst/>
          </a:prstGeom>
          <a:noFill/>
          <a:ln/>
        </p:spPr>
        <p:txBody>
          <a:bodyPr wrap="square" lIns="0" tIns="0" rIns="0" bIns="0" rtlCol="0" anchor="ctr"/>
          <a:lstStyle/>
          <a:p>
            <a:pPr marL="0" indent="0">
              <a:buNone/>
            </a:pPr>
            <a:r>
              <a:rPr lang="en-US" sz="1000" i="1">
                <a:solidFill>
                  <a:srgbClr val="555555"/>
                </a:solidFill>
                <a:latin typeface="Calibri" pitchFamily="34" charset="0"/>
                <a:ea typeface="Calibri" pitchFamily="34" charset="-122"/>
                <a:cs typeface="Calibri" pitchFamily="34" charset="-120"/>
              </a:rPr>
              <a:t>O&amp;M &amp; Closeout</a:t>
            </a:r>
            <a:endParaRPr lang="en-US" sz="1000"/>
          </a:p>
        </p:txBody>
      </p:sp>
      <p:sp>
        <p:nvSpPr>
          <p:cNvPr id="57" name="Shape 55"/>
          <p:cNvSpPr/>
          <p:nvPr/>
        </p:nvSpPr>
        <p:spPr>
          <a:xfrm>
            <a:off x="8430768" y="4937760"/>
            <a:ext cx="201168" cy="201168"/>
          </a:xfrm>
          <a:prstGeom prst="rect">
            <a:avLst/>
          </a:prstGeom>
          <a:solidFill>
            <a:srgbClr val="424242"/>
          </a:solidFill>
          <a:ln w="12700">
            <a:solidFill>
              <a:srgbClr val="424242"/>
            </a:solidFill>
            <a:prstDash val="solid"/>
          </a:ln>
        </p:spPr>
      </p:sp>
    </p:spTree>
    <p:extLst>
      <p:ext uri="{BB962C8B-B14F-4D97-AF65-F5344CB8AC3E}">
        <p14:creationId xmlns:p14="http://schemas.microsoft.com/office/powerpoint/2010/main" val="1850351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chemeClr val="bg2"/>
        </a:solidFill>
        <a:effectLst/>
      </p:bgPr>
    </p:bg>
    <p:spTree>
      <p:nvGrpSpPr>
        <p:cNvPr id="1" name=""/>
        <p:cNvGrpSpPr/>
        <p:nvPr/>
      </p:nvGrpSpPr>
      <p:grpSpPr>
        <a:xfrm>
          <a:off x="0" y="0"/>
          <a:ext cx="0" cy="0"/>
          <a:chOff x="0" y="0"/>
          <a:chExt cx="0" cy="0"/>
        </a:xfrm>
      </p:grpSpPr>
      <p:sp>
        <p:nvSpPr>
          <p:cNvPr id="2" name="Shape 0"/>
          <p:cNvSpPr/>
          <p:nvPr/>
        </p:nvSpPr>
        <p:spPr>
          <a:xfrm>
            <a:off x="0" y="66000"/>
            <a:ext cx="12173520" cy="593520"/>
          </a:xfrm>
          <a:prstGeom prst="rect">
            <a:avLst/>
          </a:prstGeom>
          <a:solidFill>
            <a:srgbClr val="002060"/>
          </a:solidFill>
          <a:ln w="12700">
            <a:solidFill>
              <a:srgbClr val="1A3C5E"/>
            </a:solidFill>
            <a:prstDash val="solid"/>
          </a:ln>
        </p:spPr>
      </p:sp>
      <p:sp>
        <p:nvSpPr>
          <p:cNvPr id="3" name="Text 1"/>
          <p:cNvSpPr/>
          <p:nvPr/>
        </p:nvSpPr>
        <p:spPr>
          <a:xfrm>
            <a:off x="365760" y="0"/>
            <a:ext cx="10972800" cy="731520"/>
          </a:xfrm>
          <a:prstGeom prst="rect">
            <a:avLst/>
          </a:prstGeom>
          <a:noFill/>
          <a:ln/>
        </p:spPr>
        <p:txBody>
          <a:bodyPr wrap="square" lIns="91440" tIns="45720" rIns="91440" bIns="45720" rtlCol="0" anchor="ctr"/>
          <a:lstStyle/>
          <a:p>
            <a:r>
              <a:rPr lang="en-US" sz="2200" b="1">
                <a:solidFill>
                  <a:srgbClr val="FFFFFF"/>
                </a:solidFill>
                <a:latin typeface="Biome"/>
                <a:ea typeface="Calibri"/>
                <a:cs typeface="Biome"/>
              </a:rPr>
              <a:t>CONTRACTOR QUILT </a:t>
            </a:r>
          </a:p>
        </p:txBody>
      </p:sp>
      <p:sp>
        <p:nvSpPr>
          <p:cNvPr id="4" name="Shape 2"/>
          <p:cNvSpPr/>
          <p:nvPr/>
        </p:nvSpPr>
        <p:spPr>
          <a:xfrm>
            <a:off x="2788920" y="777240"/>
            <a:ext cx="979424" cy="566928"/>
          </a:xfrm>
          <a:prstGeom prst="rect">
            <a:avLst/>
          </a:prstGeom>
          <a:solidFill>
            <a:srgbClr val="1A3C5E"/>
          </a:solidFill>
          <a:ln w="12700">
            <a:solidFill>
              <a:srgbClr val="1A3C5E"/>
            </a:solidFill>
            <a:prstDash val="solid"/>
          </a:ln>
        </p:spPr>
      </p:sp>
      <p:sp>
        <p:nvSpPr>
          <p:cNvPr id="5" name="Text 3"/>
          <p:cNvSpPr/>
          <p:nvPr/>
        </p:nvSpPr>
        <p:spPr>
          <a:xfrm>
            <a:off x="2788920" y="777240"/>
            <a:ext cx="979424" cy="566928"/>
          </a:xfrm>
          <a:prstGeom prst="rect">
            <a:avLst/>
          </a:prstGeom>
          <a:noFill/>
          <a:ln/>
        </p:spPr>
        <p:txBody>
          <a:bodyPr wrap="square" lIns="25400" tIns="25400" rIns="25400" bIns="25400" rtlCol="0" anchor="ctr"/>
          <a:lstStyle/>
          <a:p>
            <a:pPr marL="0" indent="0" algn="ctr">
              <a:buNone/>
            </a:pPr>
            <a:r>
              <a:rPr lang="en-US" sz="900" b="1">
                <a:solidFill>
                  <a:srgbClr val="FFFFFF"/>
                </a:solidFill>
                <a:latin typeface="Calibri"/>
                <a:ea typeface="Calibri"/>
                <a:cs typeface="Calibri"/>
              </a:rPr>
              <a:t>Turner &amp; Townsend</a:t>
            </a:r>
            <a:endParaRPr lang="en-US" sz="900">
              <a:latin typeface="Calibri"/>
              <a:ea typeface="Calibri"/>
              <a:cs typeface="Calibri"/>
            </a:endParaRPr>
          </a:p>
        </p:txBody>
      </p:sp>
      <p:sp>
        <p:nvSpPr>
          <p:cNvPr id="6" name="Shape 4"/>
          <p:cNvSpPr/>
          <p:nvPr/>
        </p:nvSpPr>
        <p:spPr>
          <a:xfrm>
            <a:off x="3804920" y="777240"/>
            <a:ext cx="979424" cy="566928"/>
          </a:xfrm>
          <a:prstGeom prst="rect">
            <a:avLst/>
          </a:prstGeom>
          <a:solidFill>
            <a:srgbClr val="1565C0"/>
          </a:solidFill>
          <a:ln w="12700">
            <a:solidFill>
              <a:srgbClr val="1565C0"/>
            </a:solidFill>
            <a:prstDash val="solid"/>
          </a:ln>
        </p:spPr>
      </p:sp>
      <p:sp>
        <p:nvSpPr>
          <p:cNvPr id="7" name="Text 5"/>
          <p:cNvSpPr/>
          <p:nvPr/>
        </p:nvSpPr>
        <p:spPr>
          <a:xfrm>
            <a:off x="3804920" y="777240"/>
            <a:ext cx="979424" cy="566928"/>
          </a:xfrm>
          <a:prstGeom prst="rect">
            <a:avLst/>
          </a:prstGeom>
          <a:noFill/>
          <a:ln/>
        </p:spPr>
        <p:txBody>
          <a:bodyPr wrap="square" lIns="25400" tIns="25400" rIns="25400" bIns="25400" rtlCol="0" anchor="ctr"/>
          <a:lstStyle/>
          <a:p>
            <a:pPr marL="0" indent="0" algn="ctr">
              <a:buNone/>
            </a:pPr>
            <a:r>
              <a:rPr lang="en-US" sz="900" b="1">
                <a:solidFill>
                  <a:srgbClr val="FFFFFF"/>
                </a:solidFill>
                <a:latin typeface="Calibri"/>
                <a:ea typeface="Calibri"/>
                <a:cs typeface="Calibri"/>
              </a:rPr>
              <a:t>Terracon</a:t>
            </a:r>
            <a:endParaRPr lang="en-US" sz="900">
              <a:latin typeface="Calibri"/>
              <a:ea typeface="Calibri"/>
              <a:cs typeface="Calibri"/>
            </a:endParaRPr>
          </a:p>
        </p:txBody>
      </p:sp>
      <p:sp>
        <p:nvSpPr>
          <p:cNvPr id="8" name="Shape 6"/>
          <p:cNvSpPr/>
          <p:nvPr/>
        </p:nvSpPr>
        <p:spPr>
          <a:xfrm>
            <a:off x="4820920" y="777240"/>
            <a:ext cx="979424" cy="566928"/>
          </a:xfrm>
          <a:prstGeom prst="rect">
            <a:avLst/>
          </a:prstGeom>
          <a:solidFill>
            <a:srgbClr val="2E7D32"/>
          </a:solidFill>
          <a:ln w="12700">
            <a:solidFill>
              <a:srgbClr val="2E7D32"/>
            </a:solidFill>
            <a:prstDash val="solid"/>
          </a:ln>
        </p:spPr>
      </p:sp>
      <p:sp>
        <p:nvSpPr>
          <p:cNvPr id="9" name="Text 7"/>
          <p:cNvSpPr/>
          <p:nvPr/>
        </p:nvSpPr>
        <p:spPr>
          <a:xfrm>
            <a:off x="4820920" y="777240"/>
            <a:ext cx="979424" cy="566928"/>
          </a:xfrm>
          <a:prstGeom prst="rect">
            <a:avLst/>
          </a:prstGeom>
          <a:noFill/>
          <a:ln/>
        </p:spPr>
        <p:txBody>
          <a:bodyPr wrap="square" lIns="25400" tIns="25400" rIns="25400" bIns="25400" rtlCol="0" anchor="ctr"/>
          <a:lstStyle/>
          <a:p>
            <a:pPr marL="0" indent="0" algn="ctr">
              <a:buNone/>
            </a:pPr>
            <a:r>
              <a:rPr lang="en-US" sz="900" b="1">
                <a:solidFill>
                  <a:srgbClr val="FFFFFF"/>
                </a:solidFill>
                <a:latin typeface="Calibri"/>
                <a:ea typeface="Calibri"/>
                <a:cs typeface="Calibri"/>
              </a:rPr>
              <a:t>Sargent &amp; Lundy</a:t>
            </a:r>
            <a:endParaRPr lang="en-US" sz="900">
              <a:latin typeface="Calibri"/>
              <a:ea typeface="Calibri"/>
              <a:cs typeface="Calibri"/>
            </a:endParaRPr>
          </a:p>
        </p:txBody>
      </p:sp>
      <p:sp>
        <p:nvSpPr>
          <p:cNvPr id="10" name="Shape 8"/>
          <p:cNvSpPr/>
          <p:nvPr/>
        </p:nvSpPr>
        <p:spPr>
          <a:xfrm>
            <a:off x="5836920" y="777240"/>
            <a:ext cx="979424" cy="566928"/>
          </a:xfrm>
          <a:prstGeom prst="rect">
            <a:avLst/>
          </a:prstGeom>
          <a:solidFill>
            <a:srgbClr val="E65100"/>
          </a:solidFill>
          <a:ln w="12700">
            <a:solidFill>
              <a:srgbClr val="E65100"/>
            </a:solidFill>
            <a:prstDash val="solid"/>
          </a:ln>
        </p:spPr>
      </p:sp>
      <p:sp>
        <p:nvSpPr>
          <p:cNvPr id="11" name="Text 9"/>
          <p:cNvSpPr/>
          <p:nvPr/>
        </p:nvSpPr>
        <p:spPr>
          <a:xfrm>
            <a:off x="5836920" y="777240"/>
            <a:ext cx="979424" cy="566928"/>
          </a:xfrm>
          <a:prstGeom prst="rect">
            <a:avLst/>
          </a:prstGeom>
          <a:noFill/>
          <a:ln/>
        </p:spPr>
        <p:txBody>
          <a:bodyPr wrap="square" lIns="25400" tIns="25400" rIns="25400" bIns="25400" rtlCol="0" anchor="ctr"/>
          <a:lstStyle/>
          <a:p>
            <a:pPr marL="0" indent="0" algn="ctr">
              <a:buNone/>
            </a:pPr>
            <a:r>
              <a:rPr lang="en-US" sz="900" b="1">
                <a:solidFill>
                  <a:srgbClr val="FFFFFF"/>
                </a:solidFill>
                <a:latin typeface="Calibri"/>
                <a:ea typeface="Calibri"/>
                <a:cs typeface="Calibri"/>
              </a:rPr>
              <a:t>Amazon</a:t>
            </a:r>
            <a:endParaRPr lang="en-US" sz="900">
              <a:latin typeface="Calibri"/>
              <a:ea typeface="Calibri"/>
              <a:cs typeface="Calibri"/>
            </a:endParaRPr>
          </a:p>
        </p:txBody>
      </p:sp>
      <p:sp>
        <p:nvSpPr>
          <p:cNvPr id="12" name="Shape 10"/>
          <p:cNvSpPr/>
          <p:nvPr/>
        </p:nvSpPr>
        <p:spPr>
          <a:xfrm>
            <a:off x="6852920" y="777240"/>
            <a:ext cx="979424" cy="566928"/>
          </a:xfrm>
          <a:prstGeom prst="rect">
            <a:avLst/>
          </a:prstGeom>
          <a:solidFill>
            <a:srgbClr val="B71C1C"/>
          </a:solidFill>
          <a:ln w="12700">
            <a:solidFill>
              <a:srgbClr val="B71C1C"/>
            </a:solidFill>
            <a:prstDash val="solid"/>
          </a:ln>
        </p:spPr>
      </p:sp>
      <p:sp>
        <p:nvSpPr>
          <p:cNvPr id="13" name="Text 11"/>
          <p:cNvSpPr/>
          <p:nvPr/>
        </p:nvSpPr>
        <p:spPr>
          <a:xfrm>
            <a:off x="6852920" y="777240"/>
            <a:ext cx="979424" cy="566928"/>
          </a:xfrm>
          <a:prstGeom prst="rect">
            <a:avLst/>
          </a:prstGeom>
          <a:noFill/>
          <a:ln/>
        </p:spPr>
        <p:txBody>
          <a:bodyPr wrap="square" lIns="25400" tIns="25400" rIns="25400" bIns="25400" rtlCol="0" anchor="ctr"/>
          <a:lstStyle/>
          <a:p>
            <a:pPr marL="0" indent="0" algn="ctr">
              <a:buNone/>
            </a:pPr>
            <a:r>
              <a:rPr lang="en-US" sz="900" b="1">
                <a:solidFill>
                  <a:srgbClr val="FFFFFF"/>
                </a:solidFill>
                <a:latin typeface="Calibri"/>
                <a:ea typeface="Calibri"/>
                <a:cs typeface="Calibri"/>
              </a:rPr>
              <a:t>JPMorgan Chase</a:t>
            </a:r>
            <a:endParaRPr lang="en-US" sz="900">
              <a:latin typeface="Calibri"/>
              <a:ea typeface="Calibri"/>
              <a:cs typeface="Calibri"/>
            </a:endParaRPr>
          </a:p>
        </p:txBody>
      </p:sp>
      <p:sp>
        <p:nvSpPr>
          <p:cNvPr id="14" name="Shape 12"/>
          <p:cNvSpPr/>
          <p:nvPr/>
        </p:nvSpPr>
        <p:spPr>
          <a:xfrm>
            <a:off x="7868920" y="777240"/>
            <a:ext cx="979424" cy="566928"/>
          </a:xfrm>
          <a:prstGeom prst="rect">
            <a:avLst/>
          </a:prstGeom>
          <a:solidFill>
            <a:srgbClr val="4E342E"/>
          </a:solidFill>
          <a:ln w="12700">
            <a:solidFill>
              <a:srgbClr val="4E342E"/>
            </a:solidFill>
            <a:prstDash val="solid"/>
          </a:ln>
        </p:spPr>
      </p:sp>
      <p:sp>
        <p:nvSpPr>
          <p:cNvPr id="15" name="Text 13"/>
          <p:cNvSpPr/>
          <p:nvPr/>
        </p:nvSpPr>
        <p:spPr>
          <a:xfrm>
            <a:off x="7868920" y="777240"/>
            <a:ext cx="979424" cy="566928"/>
          </a:xfrm>
          <a:prstGeom prst="rect">
            <a:avLst/>
          </a:prstGeom>
          <a:noFill/>
          <a:ln/>
        </p:spPr>
        <p:txBody>
          <a:bodyPr wrap="square" lIns="25400" tIns="25400" rIns="25400" bIns="25400" rtlCol="0" anchor="ctr"/>
          <a:lstStyle/>
          <a:p>
            <a:pPr marL="0" indent="0" algn="ctr">
              <a:buNone/>
            </a:pPr>
            <a:r>
              <a:rPr lang="en-US" sz="900" b="1">
                <a:solidFill>
                  <a:srgbClr val="FFFFFF"/>
                </a:solidFill>
                <a:latin typeface="Calibri"/>
                <a:ea typeface="Calibri"/>
                <a:cs typeface="Calibri"/>
              </a:rPr>
              <a:t>MasTec Renewables</a:t>
            </a:r>
            <a:endParaRPr lang="en-US" sz="900">
              <a:latin typeface="Calibri"/>
              <a:ea typeface="Calibri"/>
              <a:cs typeface="Calibri"/>
            </a:endParaRPr>
          </a:p>
        </p:txBody>
      </p:sp>
      <p:sp>
        <p:nvSpPr>
          <p:cNvPr id="16" name="Shape 14"/>
          <p:cNvSpPr/>
          <p:nvPr/>
        </p:nvSpPr>
        <p:spPr>
          <a:xfrm>
            <a:off x="8884920" y="777240"/>
            <a:ext cx="979424" cy="566928"/>
          </a:xfrm>
          <a:prstGeom prst="rect">
            <a:avLst/>
          </a:prstGeom>
          <a:solidFill>
            <a:srgbClr val="311B92"/>
          </a:solidFill>
          <a:ln w="12700">
            <a:solidFill>
              <a:srgbClr val="311B92"/>
            </a:solidFill>
            <a:prstDash val="solid"/>
          </a:ln>
        </p:spPr>
      </p:sp>
      <p:sp>
        <p:nvSpPr>
          <p:cNvPr id="17" name="Text 15"/>
          <p:cNvSpPr/>
          <p:nvPr/>
        </p:nvSpPr>
        <p:spPr>
          <a:xfrm>
            <a:off x="8884920" y="777240"/>
            <a:ext cx="979424" cy="566928"/>
          </a:xfrm>
          <a:prstGeom prst="rect">
            <a:avLst/>
          </a:prstGeom>
          <a:noFill/>
          <a:ln/>
        </p:spPr>
        <p:txBody>
          <a:bodyPr wrap="square" lIns="25400" tIns="25400" rIns="25400" bIns="25400" rtlCol="0" anchor="ctr"/>
          <a:lstStyle/>
          <a:p>
            <a:pPr marL="0" indent="0" algn="ctr">
              <a:buNone/>
            </a:pPr>
            <a:r>
              <a:rPr lang="en-US" sz="900" b="1" err="1">
                <a:solidFill>
                  <a:srgbClr val="FFFFFF"/>
                </a:solidFill>
                <a:latin typeface="Calibri"/>
                <a:ea typeface="Calibri"/>
                <a:cs typeface="Calibri"/>
              </a:rPr>
              <a:t>Primoris</a:t>
            </a:r>
            <a:r>
              <a:rPr lang="en-US" sz="900" b="1">
                <a:solidFill>
                  <a:srgbClr val="FFFFFF"/>
                </a:solidFill>
                <a:latin typeface="Calibri"/>
                <a:ea typeface="Calibri"/>
                <a:cs typeface="Calibri"/>
              </a:rPr>
              <a:t> Services</a:t>
            </a:r>
            <a:endParaRPr lang="en-US" sz="900">
              <a:latin typeface="Calibri"/>
              <a:ea typeface="Calibri"/>
              <a:cs typeface="Calibri"/>
            </a:endParaRPr>
          </a:p>
        </p:txBody>
      </p:sp>
      <p:sp>
        <p:nvSpPr>
          <p:cNvPr id="18" name="Shape 16"/>
          <p:cNvSpPr/>
          <p:nvPr/>
        </p:nvSpPr>
        <p:spPr>
          <a:xfrm>
            <a:off x="9900920" y="777240"/>
            <a:ext cx="979424" cy="566928"/>
          </a:xfrm>
          <a:prstGeom prst="rect">
            <a:avLst/>
          </a:prstGeom>
          <a:solidFill>
            <a:srgbClr val="00695C"/>
          </a:solidFill>
          <a:ln w="12700">
            <a:solidFill>
              <a:srgbClr val="00695C"/>
            </a:solidFill>
            <a:prstDash val="solid"/>
          </a:ln>
        </p:spPr>
      </p:sp>
      <p:sp>
        <p:nvSpPr>
          <p:cNvPr id="19" name="Text 17"/>
          <p:cNvSpPr/>
          <p:nvPr/>
        </p:nvSpPr>
        <p:spPr>
          <a:xfrm>
            <a:off x="9900920" y="777240"/>
            <a:ext cx="979424" cy="566928"/>
          </a:xfrm>
          <a:prstGeom prst="rect">
            <a:avLst/>
          </a:prstGeom>
          <a:noFill/>
          <a:ln/>
        </p:spPr>
        <p:txBody>
          <a:bodyPr wrap="square" lIns="25400" tIns="25400" rIns="25400" bIns="25400" rtlCol="0" anchor="ctr"/>
          <a:lstStyle/>
          <a:p>
            <a:pPr marL="0" indent="0" algn="ctr">
              <a:buNone/>
            </a:pPr>
            <a:r>
              <a:rPr lang="en-US" sz="900" b="1">
                <a:solidFill>
                  <a:srgbClr val="FFFFFF"/>
                </a:solidFill>
                <a:latin typeface="Calibri"/>
                <a:ea typeface="Calibri"/>
                <a:cs typeface="Calibri"/>
              </a:rPr>
              <a:t>Intertek</a:t>
            </a:r>
            <a:endParaRPr lang="en-US" sz="900">
              <a:latin typeface="Calibri"/>
              <a:ea typeface="Calibri"/>
              <a:cs typeface="Calibri"/>
            </a:endParaRPr>
          </a:p>
        </p:txBody>
      </p:sp>
      <p:sp>
        <p:nvSpPr>
          <p:cNvPr id="20" name="Shape 18"/>
          <p:cNvSpPr/>
          <p:nvPr/>
        </p:nvSpPr>
        <p:spPr>
          <a:xfrm>
            <a:off x="10916920" y="777240"/>
            <a:ext cx="979424" cy="566928"/>
          </a:xfrm>
          <a:prstGeom prst="rect">
            <a:avLst/>
          </a:prstGeom>
          <a:solidFill>
            <a:srgbClr val="424242"/>
          </a:solidFill>
          <a:ln w="12700">
            <a:solidFill>
              <a:srgbClr val="424242"/>
            </a:solidFill>
            <a:prstDash val="solid"/>
          </a:ln>
        </p:spPr>
      </p:sp>
      <p:sp>
        <p:nvSpPr>
          <p:cNvPr id="21" name="Text 19"/>
          <p:cNvSpPr/>
          <p:nvPr/>
        </p:nvSpPr>
        <p:spPr>
          <a:xfrm>
            <a:off x="10916920" y="777240"/>
            <a:ext cx="979424" cy="566928"/>
          </a:xfrm>
          <a:prstGeom prst="rect">
            <a:avLst/>
          </a:prstGeom>
          <a:noFill/>
          <a:ln/>
        </p:spPr>
        <p:txBody>
          <a:bodyPr wrap="square" lIns="25400" tIns="25400" rIns="25400" bIns="25400" rtlCol="0" anchor="ctr"/>
          <a:lstStyle/>
          <a:p>
            <a:pPr marL="0" indent="0" algn="ctr">
              <a:buNone/>
            </a:pPr>
            <a:r>
              <a:rPr lang="en-US" sz="900" b="1">
                <a:solidFill>
                  <a:srgbClr val="FFFFFF"/>
                </a:solidFill>
                <a:latin typeface="Calibri"/>
                <a:ea typeface="Calibri"/>
                <a:cs typeface="Calibri"/>
              </a:rPr>
              <a:t>Black &amp; Veatch</a:t>
            </a:r>
            <a:endParaRPr lang="en-US" sz="900">
              <a:latin typeface="Bierstadt"/>
              <a:ea typeface="Calibri"/>
              <a:cs typeface="Calibri"/>
            </a:endParaRPr>
          </a:p>
        </p:txBody>
      </p:sp>
      <p:sp>
        <p:nvSpPr>
          <p:cNvPr id="22" name="Shape 20"/>
          <p:cNvSpPr/>
          <p:nvPr/>
        </p:nvSpPr>
        <p:spPr>
          <a:xfrm>
            <a:off x="228600" y="777240"/>
            <a:ext cx="2468880" cy="566928"/>
          </a:xfrm>
          <a:prstGeom prst="rect">
            <a:avLst/>
          </a:prstGeom>
          <a:solidFill>
            <a:srgbClr val="2C3E6B"/>
          </a:solidFill>
          <a:ln w="12700">
            <a:solidFill>
              <a:srgbClr val="2C3E6B"/>
            </a:solidFill>
            <a:prstDash val="solid"/>
          </a:ln>
        </p:spPr>
      </p:sp>
      <p:sp>
        <p:nvSpPr>
          <p:cNvPr id="23" name="Text 21"/>
          <p:cNvSpPr/>
          <p:nvPr/>
        </p:nvSpPr>
        <p:spPr>
          <a:xfrm>
            <a:off x="228600" y="777240"/>
            <a:ext cx="2468880" cy="566928"/>
          </a:xfrm>
          <a:prstGeom prst="rect">
            <a:avLst/>
          </a:prstGeom>
          <a:noFill/>
          <a:ln/>
        </p:spPr>
        <p:txBody>
          <a:bodyPr wrap="square" lIns="63500" tIns="63500" rIns="63500" bIns="63500" rtlCol="0" anchor="ctr"/>
          <a:lstStyle/>
          <a:p>
            <a:pPr marL="0" indent="0">
              <a:buNone/>
            </a:pPr>
            <a:r>
              <a:rPr lang="en-US" sz="1100" b="1">
                <a:solidFill>
                  <a:srgbClr val="FFFFFF"/>
                </a:solidFill>
                <a:latin typeface="Calibri"/>
                <a:ea typeface="Calibri"/>
                <a:cs typeface="Calibri"/>
              </a:rPr>
              <a:t>Project Phase</a:t>
            </a:r>
            <a:endParaRPr lang="en-US" sz="1100">
              <a:latin typeface="Calibri"/>
              <a:ea typeface="Calibri"/>
              <a:cs typeface="Calibri"/>
            </a:endParaRPr>
          </a:p>
        </p:txBody>
      </p:sp>
      <p:sp>
        <p:nvSpPr>
          <p:cNvPr id="24" name="Shape 22"/>
          <p:cNvSpPr/>
          <p:nvPr/>
        </p:nvSpPr>
        <p:spPr>
          <a:xfrm>
            <a:off x="228600" y="1399032"/>
            <a:ext cx="2468880" cy="530352"/>
          </a:xfrm>
          <a:prstGeom prst="rect">
            <a:avLst/>
          </a:prstGeom>
          <a:solidFill>
            <a:srgbClr val="1E3A5C"/>
          </a:solidFill>
          <a:ln w="12700">
            <a:solidFill>
              <a:srgbClr val="2C4A6E"/>
            </a:solidFill>
            <a:prstDash val="solid"/>
          </a:ln>
        </p:spPr>
      </p:sp>
      <p:sp>
        <p:nvSpPr>
          <p:cNvPr id="25" name="Text 23"/>
          <p:cNvSpPr/>
          <p:nvPr/>
        </p:nvSpPr>
        <p:spPr>
          <a:xfrm>
            <a:off x="228600" y="1399032"/>
            <a:ext cx="2468880" cy="530352"/>
          </a:xfrm>
          <a:prstGeom prst="rect">
            <a:avLst/>
          </a:prstGeom>
          <a:ln/>
        </p:spPr>
        <p:style>
          <a:lnRef idx="2">
            <a:schemeClr val="dk1"/>
          </a:lnRef>
          <a:fillRef idx="1">
            <a:schemeClr val="lt1"/>
          </a:fillRef>
          <a:effectRef idx="0">
            <a:schemeClr val="dk1"/>
          </a:effectRef>
          <a:fontRef idx="minor">
            <a:schemeClr val="dk1"/>
          </a:fontRef>
        </p:style>
        <p:txBody>
          <a:bodyPr wrap="square" lIns="63500" tIns="63500" rIns="63500" bIns="63500" rtlCol="0" anchor="ctr"/>
          <a:lstStyle/>
          <a:p>
            <a:pPr marL="0" indent="0">
              <a:buNone/>
            </a:pPr>
            <a:r>
              <a:rPr lang="en-US" sz="1100" b="1">
                <a:solidFill>
                  <a:schemeClr val="tx1"/>
                </a:solidFill>
                <a:latin typeface="Calibri"/>
                <a:ea typeface="Calibri"/>
                <a:cs typeface="Calibri"/>
              </a:rPr>
              <a:t>WBS 1 — PM &amp; Governance</a:t>
            </a:r>
            <a:endParaRPr lang="en-US" sz="1100">
              <a:solidFill>
                <a:schemeClr val="tx1"/>
              </a:solidFill>
              <a:latin typeface="Calibri"/>
              <a:ea typeface="Calibri"/>
              <a:cs typeface="Calibri"/>
            </a:endParaRPr>
          </a:p>
        </p:txBody>
      </p:sp>
      <p:sp>
        <p:nvSpPr>
          <p:cNvPr id="26" name="Shape 24"/>
          <p:cNvSpPr/>
          <p:nvPr/>
        </p:nvSpPr>
        <p:spPr>
          <a:xfrm>
            <a:off x="2788920" y="1399032"/>
            <a:ext cx="979424" cy="530352"/>
          </a:xfrm>
          <a:prstGeom prst="rect">
            <a:avLst/>
          </a:prstGeom>
          <a:solidFill>
            <a:srgbClr val="1A3C5E"/>
          </a:solidFill>
          <a:ln w="12700">
            <a:solidFill>
              <a:srgbClr val="1A3C5E"/>
            </a:solidFill>
            <a:prstDash val="solid"/>
          </a:ln>
        </p:spPr>
      </p:sp>
      <p:sp>
        <p:nvSpPr>
          <p:cNvPr id="27" name="Text 25"/>
          <p:cNvSpPr/>
          <p:nvPr/>
        </p:nvSpPr>
        <p:spPr>
          <a:xfrm>
            <a:off x="2788920" y="139903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28" name="Shape 26"/>
          <p:cNvSpPr/>
          <p:nvPr/>
        </p:nvSpPr>
        <p:spPr>
          <a:xfrm>
            <a:off x="3804920" y="1399032"/>
            <a:ext cx="979424" cy="530352"/>
          </a:xfrm>
          <a:prstGeom prst="rect">
            <a:avLst/>
          </a:prstGeom>
          <a:solidFill>
            <a:srgbClr val="1565C0"/>
          </a:solidFill>
          <a:ln w="12700">
            <a:solidFill>
              <a:srgbClr val="1565C0"/>
            </a:solidFill>
            <a:prstDash val="solid"/>
          </a:ln>
        </p:spPr>
      </p:sp>
      <p:sp>
        <p:nvSpPr>
          <p:cNvPr id="29" name="Text 27"/>
          <p:cNvSpPr/>
          <p:nvPr/>
        </p:nvSpPr>
        <p:spPr>
          <a:xfrm>
            <a:off x="3804920" y="139903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30" name="Shape 28"/>
          <p:cNvSpPr/>
          <p:nvPr/>
        </p:nvSpPr>
        <p:spPr>
          <a:xfrm>
            <a:off x="4820920" y="1399032"/>
            <a:ext cx="979424" cy="530352"/>
          </a:xfrm>
          <a:prstGeom prst="rect">
            <a:avLst/>
          </a:prstGeom>
          <a:solidFill>
            <a:srgbClr val="2E7D32"/>
          </a:solidFill>
          <a:ln w="12700">
            <a:solidFill>
              <a:srgbClr val="2E7D32"/>
            </a:solidFill>
            <a:prstDash val="solid"/>
          </a:ln>
        </p:spPr>
      </p:sp>
      <p:sp>
        <p:nvSpPr>
          <p:cNvPr id="31" name="Text 29"/>
          <p:cNvSpPr/>
          <p:nvPr/>
        </p:nvSpPr>
        <p:spPr>
          <a:xfrm>
            <a:off x="4820920" y="139903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32" name="Shape 30"/>
          <p:cNvSpPr/>
          <p:nvPr/>
        </p:nvSpPr>
        <p:spPr>
          <a:xfrm>
            <a:off x="5836920" y="1399032"/>
            <a:ext cx="979424" cy="530352"/>
          </a:xfrm>
          <a:prstGeom prst="rect">
            <a:avLst/>
          </a:prstGeom>
          <a:solidFill>
            <a:srgbClr val="E65100"/>
          </a:solidFill>
          <a:ln w="12700">
            <a:solidFill>
              <a:srgbClr val="E65100"/>
            </a:solidFill>
            <a:prstDash val="solid"/>
          </a:ln>
        </p:spPr>
      </p:sp>
      <p:sp>
        <p:nvSpPr>
          <p:cNvPr id="33" name="Text 31"/>
          <p:cNvSpPr/>
          <p:nvPr/>
        </p:nvSpPr>
        <p:spPr>
          <a:xfrm>
            <a:off x="5836920" y="139903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34" name="Shape 32"/>
          <p:cNvSpPr/>
          <p:nvPr/>
        </p:nvSpPr>
        <p:spPr>
          <a:xfrm>
            <a:off x="6852920" y="1399032"/>
            <a:ext cx="979424" cy="530352"/>
          </a:xfrm>
          <a:prstGeom prst="rect">
            <a:avLst/>
          </a:prstGeom>
          <a:solidFill>
            <a:srgbClr val="B71C1C"/>
          </a:solidFill>
          <a:ln w="12700">
            <a:solidFill>
              <a:srgbClr val="B71C1C"/>
            </a:solidFill>
            <a:prstDash val="solid"/>
          </a:ln>
        </p:spPr>
      </p:sp>
      <p:sp>
        <p:nvSpPr>
          <p:cNvPr id="35" name="Text 33"/>
          <p:cNvSpPr/>
          <p:nvPr/>
        </p:nvSpPr>
        <p:spPr>
          <a:xfrm>
            <a:off x="6852920" y="139903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36" name="Shape 34"/>
          <p:cNvSpPr/>
          <p:nvPr/>
        </p:nvSpPr>
        <p:spPr>
          <a:xfrm>
            <a:off x="7868920" y="1399032"/>
            <a:ext cx="979424" cy="530352"/>
          </a:xfrm>
          <a:prstGeom prst="rect">
            <a:avLst/>
          </a:prstGeom>
          <a:solidFill>
            <a:srgbClr val="4E342E"/>
          </a:solidFill>
          <a:ln w="12700">
            <a:solidFill>
              <a:srgbClr val="4E342E"/>
            </a:solidFill>
            <a:prstDash val="solid"/>
          </a:ln>
        </p:spPr>
      </p:sp>
      <p:sp>
        <p:nvSpPr>
          <p:cNvPr id="37" name="Text 35"/>
          <p:cNvSpPr/>
          <p:nvPr/>
        </p:nvSpPr>
        <p:spPr>
          <a:xfrm>
            <a:off x="7868920" y="139903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38" name="Shape 36"/>
          <p:cNvSpPr/>
          <p:nvPr/>
        </p:nvSpPr>
        <p:spPr>
          <a:xfrm>
            <a:off x="8884920" y="1399032"/>
            <a:ext cx="979424" cy="530352"/>
          </a:xfrm>
          <a:prstGeom prst="rect">
            <a:avLst/>
          </a:prstGeom>
          <a:solidFill>
            <a:srgbClr val="311B92"/>
          </a:solidFill>
          <a:ln w="12700">
            <a:solidFill>
              <a:srgbClr val="311B92"/>
            </a:solidFill>
            <a:prstDash val="solid"/>
          </a:ln>
        </p:spPr>
      </p:sp>
      <p:sp>
        <p:nvSpPr>
          <p:cNvPr id="39" name="Text 37"/>
          <p:cNvSpPr/>
          <p:nvPr/>
        </p:nvSpPr>
        <p:spPr>
          <a:xfrm>
            <a:off x="8884920" y="139903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40" name="Shape 38"/>
          <p:cNvSpPr/>
          <p:nvPr/>
        </p:nvSpPr>
        <p:spPr>
          <a:xfrm>
            <a:off x="9900920" y="1399032"/>
            <a:ext cx="979424" cy="530352"/>
          </a:xfrm>
          <a:prstGeom prst="rect">
            <a:avLst/>
          </a:prstGeom>
          <a:solidFill>
            <a:srgbClr val="00695C"/>
          </a:solidFill>
          <a:ln w="12700">
            <a:solidFill>
              <a:srgbClr val="00695C"/>
            </a:solidFill>
            <a:prstDash val="solid"/>
          </a:ln>
        </p:spPr>
      </p:sp>
      <p:sp>
        <p:nvSpPr>
          <p:cNvPr id="41" name="Text 39"/>
          <p:cNvSpPr/>
          <p:nvPr/>
        </p:nvSpPr>
        <p:spPr>
          <a:xfrm>
            <a:off x="9900920" y="139903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42" name="Shape 40"/>
          <p:cNvSpPr/>
          <p:nvPr/>
        </p:nvSpPr>
        <p:spPr>
          <a:xfrm>
            <a:off x="10916920" y="1399032"/>
            <a:ext cx="979424" cy="530352"/>
          </a:xfrm>
          <a:prstGeom prst="rect">
            <a:avLst/>
          </a:prstGeom>
          <a:solidFill>
            <a:srgbClr val="424242"/>
          </a:solidFill>
          <a:ln w="12700">
            <a:solidFill>
              <a:srgbClr val="424242"/>
            </a:solidFill>
            <a:prstDash val="solid"/>
          </a:ln>
        </p:spPr>
      </p:sp>
      <p:sp>
        <p:nvSpPr>
          <p:cNvPr id="43" name="Text 41"/>
          <p:cNvSpPr/>
          <p:nvPr/>
        </p:nvSpPr>
        <p:spPr>
          <a:xfrm>
            <a:off x="10916920" y="139903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44" name="Shape 42"/>
          <p:cNvSpPr/>
          <p:nvPr/>
        </p:nvSpPr>
        <p:spPr>
          <a:xfrm>
            <a:off x="228600" y="1965960"/>
            <a:ext cx="2468880" cy="530352"/>
          </a:xfrm>
          <a:prstGeom prst="rect">
            <a:avLst/>
          </a:prstGeom>
          <a:ln/>
        </p:spPr>
        <p:style>
          <a:lnRef idx="2">
            <a:schemeClr val="dk1"/>
          </a:lnRef>
          <a:fillRef idx="1">
            <a:schemeClr val="lt1"/>
          </a:fillRef>
          <a:effectRef idx="0">
            <a:schemeClr val="dk1"/>
          </a:effectRef>
          <a:fontRef idx="minor">
            <a:schemeClr val="dk1"/>
          </a:fontRef>
        </p:style>
      </p:sp>
      <p:sp>
        <p:nvSpPr>
          <p:cNvPr id="45" name="Text 43"/>
          <p:cNvSpPr/>
          <p:nvPr/>
        </p:nvSpPr>
        <p:spPr>
          <a:xfrm>
            <a:off x="228600" y="1965960"/>
            <a:ext cx="2468880" cy="530352"/>
          </a:xfrm>
          <a:prstGeom prst="rect">
            <a:avLst/>
          </a:prstGeom>
          <a:noFill/>
          <a:ln/>
        </p:spPr>
        <p:txBody>
          <a:bodyPr wrap="square" lIns="63500" tIns="63500" rIns="63500" bIns="63500" rtlCol="0" anchor="ctr"/>
          <a:lstStyle/>
          <a:p>
            <a:pPr marL="0" indent="0">
              <a:buNone/>
            </a:pPr>
            <a:r>
              <a:rPr lang="en-US" sz="1100" b="1">
                <a:latin typeface="Calibri"/>
                <a:ea typeface="Calibri"/>
                <a:cs typeface="Calibri"/>
              </a:rPr>
              <a:t>WBS 2 — Site &amp; Permitting</a:t>
            </a:r>
            <a:endParaRPr lang="en-US" sz="1100">
              <a:latin typeface="Calibri"/>
              <a:ea typeface="Calibri"/>
              <a:cs typeface="Calibri"/>
            </a:endParaRPr>
          </a:p>
        </p:txBody>
      </p:sp>
      <p:sp>
        <p:nvSpPr>
          <p:cNvPr id="46" name="Shape 44"/>
          <p:cNvSpPr/>
          <p:nvPr/>
        </p:nvSpPr>
        <p:spPr>
          <a:xfrm>
            <a:off x="2788920" y="1965960"/>
            <a:ext cx="979424" cy="530352"/>
          </a:xfrm>
          <a:prstGeom prst="rect">
            <a:avLst/>
          </a:prstGeom>
          <a:solidFill>
            <a:srgbClr val="1A3C5E"/>
          </a:solidFill>
          <a:ln w="12700">
            <a:solidFill>
              <a:srgbClr val="1A3C5E"/>
            </a:solidFill>
            <a:prstDash val="solid"/>
          </a:ln>
        </p:spPr>
      </p:sp>
      <p:sp>
        <p:nvSpPr>
          <p:cNvPr id="47" name="Text 45"/>
          <p:cNvSpPr/>
          <p:nvPr/>
        </p:nvSpPr>
        <p:spPr>
          <a:xfrm>
            <a:off x="2788920" y="196596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48" name="Shape 46"/>
          <p:cNvSpPr/>
          <p:nvPr/>
        </p:nvSpPr>
        <p:spPr>
          <a:xfrm>
            <a:off x="3804920" y="1965960"/>
            <a:ext cx="979424" cy="530352"/>
          </a:xfrm>
          <a:prstGeom prst="rect">
            <a:avLst/>
          </a:prstGeom>
          <a:solidFill>
            <a:srgbClr val="1565C0"/>
          </a:solidFill>
          <a:ln w="12700">
            <a:solidFill>
              <a:srgbClr val="1565C0"/>
            </a:solidFill>
            <a:prstDash val="solid"/>
          </a:ln>
        </p:spPr>
      </p:sp>
      <p:sp>
        <p:nvSpPr>
          <p:cNvPr id="49" name="Text 47"/>
          <p:cNvSpPr/>
          <p:nvPr/>
        </p:nvSpPr>
        <p:spPr>
          <a:xfrm>
            <a:off x="3804920" y="196596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50" name="Shape 48"/>
          <p:cNvSpPr/>
          <p:nvPr/>
        </p:nvSpPr>
        <p:spPr>
          <a:xfrm>
            <a:off x="4820920" y="1965960"/>
            <a:ext cx="979424" cy="530352"/>
          </a:xfrm>
          <a:prstGeom prst="rect">
            <a:avLst/>
          </a:prstGeom>
          <a:solidFill>
            <a:srgbClr val="2E7D32"/>
          </a:solidFill>
          <a:ln w="12700">
            <a:solidFill>
              <a:srgbClr val="2E7D32"/>
            </a:solidFill>
            <a:prstDash val="solid"/>
          </a:ln>
        </p:spPr>
      </p:sp>
      <p:sp>
        <p:nvSpPr>
          <p:cNvPr id="51" name="Text 49"/>
          <p:cNvSpPr/>
          <p:nvPr/>
        </p:nvSpPr>
        <p:spPr>
          <a:xfrm>
            <a:off x="4820920" y="196596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52" name="Shape 50"/>
          <p:cNvSpPr/>
          <p:nvPr/>
        </p:nvSpPr>
        <p:spPr>
          <a:xfrm>
            <a:off x="5836920" y="1965960"/>
            <a:ext cx="979424" cy="530352"/>
          </a:xfrm>
          <a:prstGeom prst="rect">
            <a:avLst/>
          </a:prstGeom>
          <a:solidFill>
            <a:srgbClr val="162C47"/>
          </a:solidFill>
          <a:ln w="12700">
            <a:solidFill>
              <a:srgbClr val="2C4A6E"/>
            </a:solidFill>
            <a:prstDash val="solid"/>
          </a:ln>
        </p:spPr>
      </p:sp>
      <p:sp>
        <p:nvSpPr>
          <p:cNvPr id="53" name="Shape 51"/>
          <p:cNvSpPr/>
          <p:nvPr/>
        </p:nvSpPr>
        <p:spPr>
          <a:xfrm>
            <a:off x="6852920" y="1965960"/>
            <a:ext cx="979424" cy="530352"/>
          </a:xfrm>
          <a:prstGeom prst="rect">
            <a:avLst/>
          </a:prstGeom>
          <a:solidFill>
            <a:srgbClr val="B71C1C"/>
          </a:solidFill>
          <a:ln w="12700">
            <a:solidFill>
              <a:srgbClr val="B71C1C"/>
            </a:solidFill>
            <a:prstDash val="solid"/>
          </a:ln>
        </p:spPr>
      </p:sp>
      <p:sp>
        <p:nvSpPr>
          <p:cNvPr id="54" name="Text 52"/>
          <p:cNvSpPr/>
          <p:nvPr/>
        </p:nvSpPr>
        <p:spPr>
          <a:xfrm>
            <a:off x="6852920" y="196596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55" name="Shape 53"/>
          <p:cNvSpPr/>
          <p:nvPr/>
        </p:nvSpPr>
        <p:spPr>
          <a:xfrm>
            <a:off x="7868920" y="1965960"/>
            <a:ext cx="979424" cy="530352"/>
          </a:xfrm>
          <a:prstGeom prst="rect">
            <a:avLst/>
          </a:prstGeom>
          <a:solidFill>
            <a:srgbClr val="162C47"/>
          </a:solidFill>
          <a:ln w="12700">
            <a:solidFill>
              <a:srgbClr val="2C4A6E"/>
            </a:solidFill>
            <a:prstDash val="solid"/>
          </a:ln>
        </p:spPr>
      </p:sp>
      <p:sp>
        <p:nvSpPr>
          <p:cNvPr id="56" name="Shape 54"/>
          <p:cNvSpPr/>
          <p:nvPr/>
        </p:nvSpPr>
        <p:spPr>
          <a:xfrm>
            <a:off x="8884920" y="1965960"/>
            <a:ext cx="979424" cy="530352"/>
          </a:xfrm>
          <a:prstGeom prst="rect">
            <a:avLst/>
          </a:prstGeom>
          <a:solidFill>
            <a:srgbClr val="162C47"/>
          </a:solidFill>
          <a:ln w="12700">
            <a:solidFill>
              <a:srgbClr val="2C4A6E"/>
            </a:solidFill>
            <a:prstDash val="solid"/>
          </a:ln>
        </p:spPr>
      </p:sp>
      <p:sp>
        <p:nvSpPr>
          <p:cNvPr id="57" name="Shape 55"/>
          <p:cNvSpPr/>
          <p:nvPr/>
        </p:nvSpPr>
        <p:spPr>
          <a:xfrm>
            <a:off x="9900920" y="1965960"/>
            <a:ext cx="979424" cy="530352"/>
          </a:xfrm>
          <a:prstGeom prst="rect">
            <a:avLst/>
          </a:prstGeom>
          <a:solidFill>
            <a:srgbClr val="00695C"/>
          </a:solidFill>
          <a:ln w="12700">
            <a:solidFill>
              <a:srgbClr val="00695C"/>
            </a:solidFill>
            <a:prstDash val="solid"/>
          </a:ln>
        </p:spPr>
      </p:sp>
      <p:sp>
        <p:nvSpPr>
          <p:cNvPr id="58" name="Text 56"/>
          <p:cNvSpPr/>
          <p:nvPr/>
        </p:nvSpPr>
        <p:spPr>
          <a:xfrm>
            <a:off x="9900920" y="196596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59" name="Shape 57"/>
          <p:cNvSpPr/>
          <p:nvPr/>
        </p:nvSpPr>
        <p:spPr>
          <a:xfrm>
            <a:off x="10916920" y="1965960"/>
            <a:ext cx="979424" cy="530352"/>
          </a:xfrm>
          <a:prstGeom prst="rect">
            <a:avLst/>
          </a:prstGeom>
          <a:solidFill>
            <a:srgbClr val="162C47"/>
          </a:solidFill>
          <a:ln w="12700">
            <a:solidFill>
              <a:srgbClr val="2C4A6E"/>
            </a:solidFill>
            <a:prstDash val="solid"/>
          </a:ln>
        </p:spPr>
      </p:sp>
      <p:sp>
        <p:nvSpPr>
          <p:cNvPr id="60" name="Shape 58"/>
          <p:cNvSpPr/>
          <p:nvPr/>
        </p:nvSpPr>
        <p:spPr>
          <a:xfrm>
            <a:off x="228600" y="2532888"/>
            <a:ext cx="2468880" cy="530352"/>
          </a:xfrm>
          <a:prstGeom prst="rect">
            <a:avLst/>
          </a:prstGeom>
          <a:ln/>
        </p:spPr>
        <p:style>
          <a:lnRef idx="2">
            <a:schemeClr val="dk1"/>
          </a:lnRef>
          <a:fillRef idx="1">
            <a:schemeClr val="lt1"/>
          </a:fillRef>
          <a:effectRef idx="0">
            <a:schemeClr val="dk1"/>
          </a:effectRef>
          <a:fontRef idx="minor">
            <a:schemeClr val="dk1"/>
          </a:fontRef>
        </p:style>
      </p:sp>
      <p:sp>
        <p:nvSpPr>
          <p:cNvPr id="61" name="Text 59"/>
          <p:cNvSpPr/>
          <p:nvPr/>
        </p:nvSpPr>
        <p:spPr>
          <a:xfrm>
            <a:off x="228600" y="2532888"/>
            <a:ext cx="2468880" cy="530352"/>
          </a:xfrm>
          <a:prstGeom prst="rect">
            <a:avLst/>
          </a:prstGeom>
          <a:noFill/>
          <a:ln/>
        </p:spPr>
        <p:txBody>
          <a:bodyPr wrap="square" lIns="63500" tIns="63500" rIns="63500" bIns="63500" rtlCol="0" anchor="ctr"/>
          <a:lstStyle/>
          <a:p>
            <a:pPr marL="0" indent="0">
              <a:buNone/>
            </a:pPr>
            <a:r>
              <a:rPr lang="en-US" sz="1100" b="1">
                <a:latin typeface="Calibri"/>
                <a:ea typeface="Calibri"/>
                <a:cs typeface="Calibri"/>
              </a:rPr>
              <a:t>WBS 3 — Engineering &amp; Design</a:t>
            </a:r>
            <a:endParaRPr lang="en-US" sz="1100">
              <a:latin typeface="Calibri"/>
              <a:ea typeface="Calibri"/>
              <a:cs typeface="Calibri"/>
            </a:endParaRPr>
          </a:p>
        </p:txBody>
      </p:sp>
      <p:sp>
        <p:nvSpPr>
          <p:cNvPr id="62" name="Shape 60"/>
          <p:cNvSpPr/>
          <p:nvPr/>
        </p:nvSpPr>
        <p:spPr>
          <a:xfrm>
            <a:off x="2788920" y="2532888"/>
            <a:ext cx="979424" cy="530352"/>
          </a:xfrm>
          <a:prstGeom prst="rect">
            <a:avLst/>
          </a:prstGeom>
          <a:solidFill>
            <a:srgbClr val="1A3C5E"/>
          </a:solidFill>
          <a:ln w="12700">
            <a:solidFill>
              <a:srgbClr val="1A3C5E"/>
            </a:solidFill>
            <a:prstDash val="solid"/>
          </a:ln>
        </p:spPr>
      </p:sp>
      <p:sp>
        <p:nvSpPr>
          <p:cNvPr id="63" name="Text 61"/>
          <p:cNvSpPr/>
          <p:nvPr/>
        </p:nvSpPr>
        <p:spPr>
          <a:xfrm>
            <a:off x="2788920" y="253288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64" name="Shape 62"/>
          <p:cNvSpPr/>
          <p:nvPr/>
        </p:nvSpPr>
        <p:spPr>
          <a:xfrm>
            <a:off x="3804920" y="2532888"/>
            <a:ext cx="979424" cy="530352"/>
          </a:xfrm>
          <a:prstGeom prst="rect">
            <a:avLst/>
          </a:prstGeom>
          <a:solidFill>
            <a:srgbClr val="1565C0"/>
          </a:solidFill>
          <a:ln w="12700">
            <a:solidFill>
              <a:srgbClr val="1565C0"/>
            </a:solidFill>
            <a:prstDash val="solid"/>
          </a:ln>
        </p:spPr>
      </p:sp>
      <p:sp>
        <p:nvSpPr>
          <p:cNvPr id="65" name="Text 63"/>
          <p:cNvSpPr/>
          <p:nvPr/>
        </p:nvSpPr>
        <p:spPr>
          <a:xfrm>
            <a:off x="3804920" y="253288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66" name="Shape 64"/>
          <p:cNvSpPr/>
          <p:nvPr/>
        </p:nvSpPr>
        <p:spPr>
          <a:xfrm>
            <a:off x="4820920" y="2532888"/>
            <a:ext cx="979424" cy="530352"/>
          </a:xfrm>
          <a:prstGeom prst="rect">
            <a:avLst/>
          </a:prstGeom>
          <a:solidFill>
            <a:srgbClr val="2E7D32"/>
          </a:solidFill>
          <a:ln w="12700">
            <a:solidFill>
              <a:srgbClr val="2E7D32"/>
            </a:solidFill>
            <a:prstDash val="solid"/>
          </a:ln>
        </p:spPr>
      </p:sp>
      <p:sp>
        <p:nvSpPr>
          <p:cNvPr id="67" name="Text 65"/>
          <p:cNvSpPr/>
          <p:nvPr/>
        </p:nvSpPr>
        <p:spPr>
          <a:xfrm>
            <a:off x="4820920" y="253288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68" name="Shape 66"/>
          <p:cNvSpPr/>
          <p:nvPr/>
        </p:nvSpPr>
        <p:spPr>
          <a:xfrm>
            <a:off x="5836920" y="2532888"/>
            <a:ext cx="979424" cy="530352"/>
          </a:xfrm>
          <a:prstGeom prst="rect">
            <a:avLst/>
          </a:prstGeom>
          <a:solidFill>
            <a:srgbClr val="E65100"/>
          </a:solidFill>
          <a:ln w="12700">
            <a:solidFill>
              <a:srgbClr val="E65100"/>
            </a:solidFill>
            <a:prstDash val="solid"/>
          </a:ln>
        </p:spPr>
      </p:sp>
      <p:sp>
        <p:nvSpPr>
          <p:cNvPr id="69" name="Text 67"/>
          <p:cNvSpPr/>
          <p:nvPr/>
        </p:nvSpPr>
        <p:spPr>
          <a:xfrm>
            <a:off x="5836920" y="253288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70" name="Shape 68"/>
          <p:cNvSpPr/>
          <p:nvPr/>
        </p:nvSpPr>
        <p:spPr>
          <a:xfrm>
            <a:off x="6852920" y="2532888"/>
            <a:ext cx="979424" cy="530352"/>
          </a:xfrm>
          <a:prstGeom prst="rect">
            <a:avLst/>
          </a:prstGeom>
          <a:solidFill>
            <a:srgbClr val="B71C1C"/>
          </a:solidFill>
          <a:ln w="12700">
            <a:solidFill>
              <a:srgbClr val="B71C1C"/>
            </a:solidFill>
            <a:prstDash val="solid"/>
          </a:ln>
        </p:spPr>
      </p:sp>
      <p:sp>
        <p:nvSpPr>
          <p:cNvPr id="71" name="Text 69"/>
          <p:cNvSpPr/>
          <p:nvPr/>
        </p:nvSpPr>
        <p:spPr>
          <a:xfrm>
            <a:off x="6852920" y="253288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72" name="Shape 70"/>
          <p:cNvSpPr/>
          <p:nvPr/>
        </p:nvSpPr>
        <p:spPr>
          <a:xfrm>
            <a:off x="7868920" y="2532888"/>
            <a:ext cx="979424" cy="530352"/>
          </a:xfrm>
          <a:prstGeom prst="rect">
            <a:avLst/>
          </a:prstGeom>
          <a:solidFill>
            <a:srgbClr val="4E342E"/>
          </a:solidFill>
          <a:ln w="12700">
            <a:solidFill>
              <a:srgbClr val="4E342E"/>
            </a:solidFill>
            <a:prstDash val="solid"/>
          </a:ln>
        </p:spPr>
      </p:sp>
      <p:sp>
        <p:nvSpPr>
          <p:cNvPr id="73" name="Text 71"/>
          <p:cNvSpPr/>
          <p:nvPr/>
        </p:nvSpPr>
        <p:spPr>
          <a:xfrm>
            <a:off x="7868920" y="253288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74" name="Shape 72"/>
          <p:cNvSpPr/>
          <p:nvPr/>
        </p:nvSpPr>
        <p:spPr>
          <a:xfrm>
            <a:off x="8884920" y="2532888"/>
            <a:ext cx="979424" cy="530352"/>
          </a:xfrm>
          <a:prstGeom prst="rect">
            <a:avLst/>
          </a:prstGeom>
          <a:solidFill>
            <a:srgbClr val="311B92"/>
          </a:solidFill>
          <a:ln w="12700">
            <a:solidFill>
              <a:srgbClr val="311B92"/>
            </a:solidFill>
            <a:prstDash val="solid"/>
          </a:ln>
        </p:spPr>
      </p:sp>
      <p:sp>
        <p:nvSpPr>
          <p:cNvPr id="75" name="Text 73"/>
          <p:cNvSpPr/>
          <p:nvPr/>
        </p:nvSpPr>
        <p:spPr>
          <a:xfrm>
            <a:off x="8884920" y="253288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76" name="Shape 74"/>
          <p:cNvSpPr/>
          <p:nvPr/>
        </p:nvSpPr>
        <p:spPr>
          <a:xfrm>
            <a:off x="9900920" y="2532888"/>
            <a:ext cx="979424" cy="530352"/>
          </a:xfrm>
          <a:prstGeom prst="rect">
            <a:avLst/>
          </a:prstGeom>
          <a:solidFill>
            <a:srgbClr val="00695C"/>
          </a:solidFill>
          <a:ln w="12700">
            <a:solidFill>
              <a:srgbClr val="00695C"/>
            </a:solidFill>
            <a:prstDash val="solid"/>
          </a:ln>
        </p:spPr>
      </p:sp>
      <p:sp>
        <p:nvSpPr>
          <p:cNvPr id="77" name="Text 75"/>
          <p:cNvSpPr/>
          <p:nvPr/>
        </p:nvSpPr>
        <p:spPr>
          <a:xfrm>
            <a:off x="9900920" y="253288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78" name="Shape 76"/>
          <p:cNvSpPr/>
          <p:nvPr/>
        </p:nvSpPr>
        <p:spPr>
          <a:xfrm>
            <a:off x="10916920" y="2532888"/>
            <a:ext cx="979424" cy="530352"/>
          </a:xfrm>
          <a:prstGeom prst="rect">
            <a:avLst/>
          </a:prstGeom>
          <a:solidFill>
            <a:srgbClr val="1E3A5C"/>
          </a:solidFill>
          <a:ln w="12700">
            <a:solidFill>
              <a:srgbClr val="2C4A6E"/>
            </a:solidFill>
            <a:prstDash val="solid"/>
          </a:ln>
        </p:spPr>
      </p:sp>
      <p:sp>
        <p:nvSpPr>
          <p:cNvPr id="79" name="Shape 77"/>
          <p:cNvSpPr/>
          <p:nvPr/>
        </p:nvSpPr>
        <p:spPr>
          <a:xfrm>
            <a:off x="228600" y="3099816"/>
            <a:ext cx="2468880" cy="530352"/>
          </a:xfrm>
          <a:prstGeom prst="rect">
            <a:avLst/>
          </a:prstGeom>
          <a:ln/>
        </p:spPr>
        <p:style>
          <a:lnRef idx="2">
            <a:schemeClr val="dk1"/>
          </a:lnRef>
          <a:fillRef idx="1">
            <a:schemeClr val="lt1"/>
          </a:fillRef>
          <a:effectRef idx="0">
            <a:schemeClr val="dk1"/>
          </a:effectRef>
          <a:fontRef idx="minor">
            <a:schemeClr val="dk1"/>
          </a:fontRef>
        </p:style>
      </p:sp>
      <p:sp>
        <p:nvSpPr>
          <p:cNvPr id="80" name="Text 78"/>
          <p:cNvSpPr/>
          <p:nvPr/>
        </p:nvSpPr>
        <p:spPr>
          <a:xfrm>
            <a:off x="228600" y="3099816"/>
            <a:ext cx="2468880" cy="530352"/>
          </a:xfrm>
          <a:prstGeom prst="rect">
            <a:avLst/>
          </a:prstGeom>
          <a:noFill/>
          <a:ln/>
        </p:spPr>
        <p:txBody>
          <a:bodyPr wrap="square" lIns="63500" tIns="63500" rIns="63500" bIns="63500" rtlCol="0" anchor="ctr"/>
          <a:lstStyle/>
          <a:p>
            <a:pPr marL="0" indent="0">
              <a:buNone/>
            </a:pPr>
            <a:r>
              <a:rPr lang="en-US" sz="1100" b="1">
                <a:latin typeface="Calibri"/>
                <a:ea typeface="Calibri"/>
                <a:cs typeface="Calibri"/>
              </a:rPr>
              <a:t>WBS 4 — Financing &amp; PPA</a:t>
            </a:r>
            <a:endParaRPr lang="en-US" sz="1100">
              <a:latin typeface="Calibri"/>
              <a:ea typeface="Calibri"/>
              <a:cs typeface="Calibri"/>
            </a:endParaRPr>
          </a:p>
        </p:txBody>
      </p:sp>
      <p:sp>
        <p:nvSpPr>
          <p:cNvPr id="81" name="Shape 79"/>
          <p:cNvSpPr/>
          <p:nvPr/>
        </p:nvSpPr>
        <p:spPr>
          <a:xfrm>
            <a:off x="2788920" y="3099816"/>
            <a:ext cx="979424" cy="530352"/>
          </a:xfrm>
          <a:prstGeom prst="rect">
            <a:avLst/>
          </a:prstGeom>
          <a:solidFill>
            <a:srgbClr val="1A3C5E"/>
          </a:solidFill>
          <a:ln w="12700">
            <a:solidFill>
              <a:srgbClr val="1A3C5E"/>
            </a:solidFill>
            <a:prstDash val="solid"/>
          </a:ln>
        </p:spPr>
      </p:sp>
      <p:sp>
        <p:nvSpPr>
          <p:cNvPr id="82" name="Text 80"/>
          <p:cNvSpPr/>
          <p:nvPr/>
        </p:nvSpPr>
        <p:spPr>
          <a:xfrm>
            <a:off x="2788920" y="309981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83" name="Shape 81"/>
          <p:cNvSpPr/>
          <p:nvPr/>
        </p:nvSpPr>
        <p:spPr>
          <a:xfrm>
            <a:off x="3804920" y="3099816"/>
            <a:ext cx="979424" cy="530352"/>
          </a:xfrm>
          <a:prstGeom prst="rect">
            <a:avLst/>
          </a:prstGeom>
          <a:solidFill>
            <a:srgbClr val="162C47"/>
          </a:solidFill>
          <a:ln w="12700">
            <a:solidFill>
              <a:srgbClr val="2C4A6E"/>
            </a:solidFill>
            <a:prstDash val="solid"/>
          </a:ln>
        </p:spPr>
      </p:sp>
      <p:sp>
        <p:nvSpPr>
          <p:cNvPr id="84" name="Shape 82"/>
          <p:cNvSpPr/>
          <p:nvPr/>
        </p:nvSpPr>
        <p:spPr>
          <a:xfrm>
            <a:off x="4820920" y="3099816"/>
            <a:ext cx="979424" cy="530352"/>
          </a:xfrm>
          <a:prstGeom prst="rect">
            <a:avLst/>
          </a:prstGeom>
          <a:solidFill>
            <a:srgbClr val="162C47"/>
          </a:solidFill>
          <a:ln w="12700">
            <a:solidFill>
              <a:srgbClr val="2C4A6E"/>
            </a:solidFill>
            <a:prstDash val="solid"/>
          </a:ln>
        </p:spPr>
      </p:sp>
      <p:sp>
        <p:nvSpPr>
          <p:cNvPr id="85" name="Shape 83"/>
          <p:cNvSpPr/>
          <p:nvPr/>
        </p:nvSpPr>
        <p:spPr>
          <a:xfrm>
            <a:off x="5836920" y="3099816"/>
            <a:ext cx="979424" cy="530352"/>
          </a:xfrm>
          <a:prstGeom prst="rect">
            <a:avLst/>
          </a:prstGeom>
          <a:solidFill>
            <a:srgbClr val="E65100"/>
          </a:solidFill>
          <a:ln w="12700">
            <a:solidFill>
              <a:srgbClr val="E65100"/>
            </a:solidFill>
            <a:prstDash val="solid"/>
          </a:ln>
        </p:spPr>
      </p:sp>
      <p:sp>
        <p:nvSpPr>
          <p:cNvPr id="86" name="Text 84"/>
          <p:cNvSpPr/>
          <p:nvPr/>
        </p:nvSpPr>
        <p:spPr>
          <a:xfrm>
            <a:off x="5836920" y="309981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87" name="Shape 85"/>
          <p:cNvSpPr/>
          <p:nvPr/>
        </p:nvSpPr>
        <p:spPr>
          <a:xfrm>
            <a:off x="6852920" y="3099816"/>
            <a:ext cx="979424" cy="530352"/>
          </a:xfrm>
          <a:prstGeom prst="rect">
            <a:avLst/>
          </a:prstGeom>
          <a:solidFill>
            <a:srgbClr val="B71C1C"/>
          </a:solidFill>
          <a:ln w="12700">
            <a:solidFill>
              <a:srgbClr val="B71C1C"/>
            </a:solidFill>
            <a:prstDash val="solid"/>
          </a:ln>
        </p:spPr>
      </p:sp>
      <p:sp>
        <p:nvSpPr>
          <p:cNvPr id="88" name="Text 86"/>
          <p:cNvSpPr/>
          <p:nvPr/>
        </p:nvSpPr>
        <p:spPr>
          <a:xfrm>
            <a:off x="6852920" y="309981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89" name="Shape 87"/>
          <p:cNvSpPr/>
          <p:nvPr/>
        </p:nvSpPr>
        <p:spPr>
          <a:xfrm>
            <a:off x="7868920" y="3099816"/>
            <a:ext cx="979424" cy="530352"/>
          </a:xfrm>
          <a:prstGeom prst="rect">
            <a:avLst/>
          </a:prstGeom>
          <a:solidFill>
            <a:srgbClr val="162C47"/>
          </a:solidFill>
          <a:ln w="12700">
            <a:solidFill>
              <a:srgbClr val="2C4A6E"/>
            </a:solidFill>
            <a:prstDash val="solid"/>
          </a:ln>
        </p:spPr>
      </p:sp>
      <p:sp>
        <p:nvSpPr>
          <p:cNvPr id="90" name="Shape 88"/>
          <p:cNvSpPr/>
          <p:nvPr/>
        </p:nvSpPr>
        <p:spPr>
          <a:xfrm>
            <a:off x="8884920" y="3099816"/>
            <a:ext cx="979424" cy="530352"/>
          </a:xfrm>
          <a:prstGeom prst="rect">
            <a:avLst/>
          </a:prstGeom>
          <a:solidFill>
            <a:srgbClr val="162C47"/>
          </a:solidFill>
          <a:ln w="12700">
            <a:solidFill>
              <a:srgbClr val="2C4A6E"/>
            </a:solidFill>
            <a:prstDash val="solid"/>
          </a:ln>
        </p:spPr>
      </p:sp>
      <p:sp>
        <p:nvSpPr>
          <p:cNvPr id="91" name="Shape 89"/>
          <p:cNvSpPr/>
          <p:nvPr/>
        </p:nvSpPr>
        <p:spPr>
          <a:xfrm>
            <a:off x="9900920" y="3099816"/>
            <a:ext cx="979424" cy="530352"/>
          </a:xfrm>
          <a:prstGeom prst="rect">
            <a:avLst/>
          </a:prstGeom>
          <a:solidFill>
            <a:srgbClr val="162C47"/>
          </a:solidFill>
          <a:ln w="12700">
            <a:solidFill>
              <a:srgbClr val="2C4A6E"/>
            </a:solidFill>
            <a:prstDash val="solid"/>
          </a:ln>
        </p:spPr>
      </p:sp>
      <p:sp>
        <p:nvSpPr>
          <p:cNvPr id="92" name="Shape 90"/>
          <p:cNvSpPr/>
          <p:nvPr/>
        </p:nvSpPr>
        <p:spPr>
          <a:xfrm>
            <a:off x="10916920" y="3099816"/>
            <a:ext cx="979424" cy="530352"/>
          </a:xfrm>
          <a:prstGeom prst="rect">
            <a:avLst/>
          </a:prstGeom>
          <a:solidFill>
            <a:srgbClr val="162C47"/>
          </a:solidFill>
          <a:ln w="12700">
            <a:solidFill>
              <a:srgbClr val="2C4A6E"/>
            </a:solidFill>
            <a:prstDash val="solid"/>
          </a:ln>
        </p:spPr>
      </p:sp>
      <p:sp>
        <p:nvSpPr>
          <p:cNvPr id="93" name="Shape 91"/>
          <p:cNvSpPr/>
          <p:nvPr/>
        </p:nvSpPr>
        <p:spPr>
          <a:xfrm>
            <a:off x="228600" y="3666744"/>
            <a:ext cx="2468880" cy="530352"/>
          </a:xfrm>
          <a:prstGeom prst="rect">
            <a:avLst/>
          </a:prstGeom>
          <a:ln/>
        </p:spPr>
        <p:style>
          <a:lnRef idx="2">
            <a:schemeClr val="dk1"/>
          </a:lnRef>
          <a:fillRef idx="1">
            <a:schemeClr val="lt1"/>
          </a:fillRef>
          <a:effectRef idx="0">
            <a:schemeClr val="dk1"/>
          </a:effectRef>
          <a:fontRef idx="minor">
            <a:schemeClr val="dk1"/>
          </a:fontRef>
        </p:style>
      </p:sp>
      <p:sp>
        <p:nvSpPr>
          <p:cNvPr id="94" name="Text 92"/>
          <p:cNvSpPr/>
          <p:nvPr/>
        </p:nvSpPr>
        <p:spPr>
          <a:xfrm>
            <a:off x="228600" y="3666744"/>
            <a:ext cx="2468880" cy="530352"/>
          </a:xfrm>
          <a:prstGeom prst="rect">
            <a:avLst/>
          </a:prstGeom>
          <a:noFill/>
          <a:ln/>
        </p:spPr>
        <p:txBody>
          <a:bodyPr wrap="square" lIns="63500" tIns="63500" rIns="63500" bIns="63500" rtlCol="0" anchor="ctr"/>
          <a:lstStyle/>
          <a:p>
            <a:pPr marL="0" indent="0">
              <a:buNone/>
            </a:pPr>
            <a:r>
              <a:rPr lang="en-US" sz="1100" b="1">
                <a:latin typeface="Calibri"/>
                <a:ea typeface="Calibri"/>
                <a:cs typeface="Calibri"/>
              </a:rPr>
              <a:t>WBS 5 — Procurement</a:t>
            </a:r>
            <a:endParaRPr lang="en-US" sz="1100">
              <a:latin typeface="Calibri"/>
              <a:ea typeface="Calibri"/>
              <a:cs typeface="Calibri"/>
            </a:endParaRPr>
          </a:p>
        </p:txBody>
      </p:sp>
      <p:sp>
        <p:nvSpPr>
          <p:cNvPr id="95" name="Shape 93"/>
          <p:cNvSpPr/>
          <p:nvPr/>
        </p:nvSpPr>
        <p:spPr>
          <a:xfrm>
            <a:off x="2788920" y="3666744"/>
            <a:ext cx="979424" cy="530352"/>
          </a:xfrm>
          <a:prstGeom prst="rect">
            <a:avLst/>
          </a:prstGeom>
          <a:solidFill>
            <a:srgbClr val="1A3C5E"/>
          </a:solidFill>
          <a:ln w="12700">
            <a:solidFill>
              <a:srgbClr val="1A3C5E"/>
            </a:solidFill>
            <a:prstDash val="solid"/>
          </a:ln>
        </p:spPr>
      </p:sp>
      <p:sp>
        <p:nvSpPr>
          <p:cNvPr id="96" name="Text 94"/>
          <p:cNvSpPr/>
          <p:nvPr/>
        </p:nvSpPr>
        <p:spPr>
          <a:xfrm>
            <a:off x="2788920" y="3666744"/>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97" name="Shape 95"/>
          <p:cNvSpPr/>
          <p:nvPr/>
        </p:nvSpPr>
        <p:spPr>
          <a:xfrm>
            <a:off x="3804920" y="3666744"/>
            <a:ext cx="979424" cy="530352"/>
          </a:xfrm>
          <a:prstGeom prst="rect">
            <a:avLst/>
          </a:prstGeom>
          <a:solidFill>
            <a:srgbClr val="1E3A5C"/>
          </a:solidFill>
          <a:ln w="12700">
            <a:solidFill>
              <a:srgbClr val="2C4A6E"/>
            </a:solidFill>
            <a:prstDash val="solid"/>
          </a:ln>
        </p:spPr>
      </p:sp>
      <p:sp>
        <p:nvSpPr>
          <p:cNvPr id="98" name="Shape 96"/>
          <p:cNvSpPr/>
          <p:nvPr/>
        </p:nvSpPr>
        <p:spPr>
          <a:xfrm>
            <a:off x="4820920" y="3666744"/>
            <a:ext cx="979424" cy="530352"/>
          </a:xfrm>
          <a:prstGeom prst="rect">
            <a:avLst/>
          </a:prstGeom>
          <a:solidFill>
            <a:srgbClr val="2E7D32"/>
          </a:solidFill>
          <a:ln w="12700">
            <a:solidFill>
              <a:srgbClr val="2E7D32"/>
            </a:solidFill>
            <a:prstDash val="solid"/>
          </a:ln>
        </p:spPr>
      </p:sp>
      <p:sp>
        <p:nvSpPr>
          <p:cNvPr id="99" name="Text 97"/>
          <p:cNvSpPr/>
          <p:nvPr/>
        </p:nvSpPr>
        <p:spPr>
          <a:xfrm>
            <a:off x="4820920" y="3666744"/>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00" name="Shape 98"/>
          <p:cNvSpPr/>
          <p:nvPr/>
        </p:nvSpPr>
        <p:spPr>
          <a:xfrm>
            <a:off x="5836920" y="3666744"/>
            <a:ext cx="979424" cy="530352"/>
          </a:xfrm>
          <a:prstGeom prst="rect">
            <a:avLst/>
          </a:prstGeom>
          <a:solidFill>
            <a:srgbClr val="E65100"/>
          </a:solidFill>
          <a:ln w="12700">
            <a:solidFill>
              <a:srgbClr val="E65100"/>
            </a:solidFill>
            <a:prstDash val="solid"/>
          </a:ln>
        </p:spPr>
      </p:sp>
      <p:sp>
        <p:nvSpPr>
          <p:cNvPr id="101" name="Text 99"/>
          <p:cNvSpPr/>
          <p:nvPr/>
        </p:nvSpPr>
        <p:spPr>
          <a:xfrm>
            <a:off x="5836920" y="3666744"/>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02" name="Shape 100"/>
          <p:cNvSpPr/>
          <p:nvPr/>
        </p:nvSpPr>
        <p:spPr>
          <a:xfrm>
            <a:off x="6852920" y="3666744"/>
            <a:ext cx="979424" cy="530352"/>
          </a:xfrm>
          <a:prstGeom prst="rect">
            <a:avLst/>
          </a:prstGeom>
          <a:solidFill>
            <a:srgbClr val="B71C1C"/>
          </a:solidFill>
          <a:ln w="12700">
            <a:solidFill>
              <a:srgbClr val="B71C1C"/>
            </a:solidFill>
            <a:prstDash val="solid"/>
          </a:ln>
        </p:spPr>
      </p:sp>
      <p:sp>
        <p:nvSpPr>
          <p:cNvPr id="103" name="Text 101"/>
          <p:cNvSpPr/>
          <p:nvPr/>
        </p:nvSpPr>
        <p:spPr>
          <a:xfrm>
            <a:off x="6852920" y="3666744"/>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04" name="Shape 102"/>
          <p:cNvSpPr/>
          <p:nvPr/>
        </p:nvSpPr>
        <p:spPr>
          <a:xfrm>
            <a:off x="7868920" y="3666744"/>
            <a:ext cx="979424" cy="530352"/>
          </a:xfrm>
          <a:prstGeom prst="rect">
            <a:avLst/>
          </a:prstGeom>
          <a:solidFill>
            <a:srgbClr val="4E342E"/>
          </a:solidFill>
          <a:ln w="12700">
            <a:solidFill>
              <a:srgbClr val="4E342E"/>
            </a:solidFill>
            <a:prstDash val="solid"/>
          </a:ln>
        </p:spPr>
      </p:sp>
      <p:sp>
        <p:nvSpPr>
          <p:cNvPr id="105" name="Text 103"/>
          <p:cNvSpPr/>
          <p:nvPr/>
        </p:nvSpPr>
        <p:spPr>
          <a:xfrm>
            <a:off x="7868920" y="3666744"/>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06" name="Shape 104"/>
          <p:cNvSpPr/>
          <p:nvPr/>
        </p:nvSpPr>
        <p:spPr>
          <a:xfrm>
            <a:off x="8884920" y="3666744"/>
            <a:ext cx="979424" cy="530352"/>
          </a:xfrm>
          <a:prstGeom prst="rect">
            <a:avLst/>
          </a:prstGeom>
          <a:solidFill>
            <a:srgbClr val="311B92"/>
          </a:solidFill>
          <a:ln w="12700">
            <a:solidFill>
              <a:srgbClr val="311B92"/>
            </a:solidFill>
            <a:prstDash val="solid"/>
          </a:ln>
        </p:spPr>
      </p:sp>
      <p:sp>
        <p:nvSpPr>
          <p:cNvPr id="107" name="Text 105"/>
          <p:cNvSpPr/>
          <p:nvPr/>
        </p:nvSpPr>
        <p:spPr>
          <a:xfrm>
            <a:off x="8884920" y="3666744"/>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08" name="Shape 106"/>
          <p:cNvSpPr/>
          <p:nvPr/>
        </p:nvSpPr>
        <p:spPr>
          <a:xfrm>
            <a:off x="9900920" y="3666744"/>
            <a:ext cx="979424" cy="530352"/>
          </a:xfrm>
          <a:prstGeom prst="rect">
            <a:avLst/>
          </a:prstGeom>
          <a:solidFill>
            <a:srgbClr val="1E3A5C"/>
          </a:solidFill>
          <a:ln w="12700">
            <a:solidFill>
              <a:srgbClr val="2C4A6E"/>
            </a:solidFill>
            <a:prstDash val="solid"/>
          </a:ln>
        </p:spPr>
      </p:sp>
      <p:sp>
        <p:nvSpPr>
          <p:cNvPr id="109" name="Shape 107"/>
          <p:cNvSpPr/>
          <p:nvPr/>
        </p:nvSpPr>
        <p:spPr>
          <a:xfrm>
            <a:off x="10916920" y="3666744"/>
            <a:ext cx="979424" cy="530352"/>
          </a:xfrm>
          <a:prstGeom prst="rect">
            <a:avLst/>
          </a:prstGeom>
          <a:solidFill>
            <a:srgbClr val="1E3A5C"/>
          </a:solidFill>
          <a:ln w="12700">
            <a:solidFill>
              <a:srgbClr val="2C4A6E"/>
            </a:solidFill>
            <a:prstDash val="solid"/>
          </a:ln>
        </p:spPr>
      </p:sp>
      <p:sp>
        <p:nvSpPr>
          <p:cNvPr id="110" name="Shape 108"/>
          <p:cNvSpPr/>
          <p:nvPr/>
        </p:nvSpPr>
        <p:spPr>
          <a:xfrm>
            <a:off x="228600" y="4233672"/>
            <a:ext cx="2468880" cy="530352"/>
          </a:xfrm>
          <a:prstGeom prst="rect">
            <a:avLst/>
          </a:prstGeom>
          <a:ln/>
        </p:spPr>
        <p:style>
          <a:lnRef idx="2">
            <a:schemeClr val="dk1"/>
          </a:lnRef>
          <a:fillRef idx="1">
            <a:schemeClr val="lt1"/>
          </a:fillRef>
          <a:effectRef idx="0">
            <a:schemeClr val="dk1"/>
          </a:effectRef>
          <a:fontRef idx="minor">
            <a:schemeClr val="dk1"/>
          </a:fontRef>
        </p:style>
      </p:sp>
      <p:sp>
        <p:nvSpPr>
          <p:cNvPr id="111" name="Text 109"/>
          <p:cNvSpPr/>
          <p:nvPr/>
        </p:nvSpPr>
        <p:spPr>
          <a:xfrm>
            <a:off x="228600" y="4233672"/>
            <a:ext cx="2468880" cy="530352"/>
          </a:xfrm>
          <a:prstGeom prst="rect">
            <a:avLst/>
          </a:prstGeom>
          <a:noFill/>
          <a:ln/>
        </p:spPr>
        <p:txBody>
          <a:bodyPr wrap="square" lIns="63500" tIns="63500" rIns="63500" bIns="63500" rtlCol="0" anchor="ctr"/>
          <a:lstStyle/>
          <a:p>
            <a:pPr marL="0" indent="0">
              <a:buNone/>
            </a:pPr>
            <a:r>
              <a:rPr lang="en-US" sz="1100" b="1">
                <a:latin typeface="Calibri"/>
                <a:ea typeface="Calibri"/>
                <a:cs typeface="Calibri"/>
              </a:rPr>
              <a:t>WBS 6 — Civil Works</a:t>
            </a:r>
            <a:endParaRPr lang="en-US" sz="1100">
              <a:latin typeface="Calibri"/>
              <a:ea typeface="Calibri"/>
              <a:cs typeface="Calibri"/>
            </a:endParaRPr>
          </a:p>
        </p:txBody>
      </p:sp>
      <p:sp>
        <p:nvSpPr>
          <p:cNvPr id="112" name="Shape 110"/>
          <p:cNvSpPr/>
          <p:nvPr/>
        </p:nvSpPr>
        <p:spPr>
          <a:xfrm>
            <a:off x="2788920" y="4233672"/>
            <a:ext cx="979424" cy="530352"/>
          </a:xfrm>
          <a:prstGeom prst="rect">
            <a:avLst/>
          </a:prstGeom>
          <a:solidFill>
            <a:srgbClr val="1A3C5E"/>
          </a:solidFill>
          <a:ln w="12700">
            <a:solidFill>
              <a:srgbClr val="1A3C5E"/>
            </a:solidFill>
            <a:prstDash val="solid"/>
          </a:ln>
        </p:spPr>
      </p:sp>
      <p:sp>
        <p:nvSpPr>
          <p:cNvPr id="113" name="Text 111"/>
          <p:cNvSpPr/>
          <p:nvPr/>
        </p:nvSpPr>
        <p:spPr>
          <a:xfrm>
            <a:off x="2788920" y="423367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14" name="Shape 112"/>
          <p:cNvSpPr/>
          <p:nvPr/>
        </p:nvSpPr>
        <p:spPr>
          <a:xfrm>
            <a:off x="3804920" y="4233672"/>
            <a:ext cx="979424" cy="530352"/>
          </a:xfrm>
          <a:prstGeom prst="rect">
            <a:avLst/>
          </a:prstGeom>
          <a:solidFill>
            <a:srgbClr val="1565C0"/>
          </a:solidFill>
          <a:ln w="12700">
            <a:solidFill>
              <a:srgbClr val="1565C0"/>
            </a:solidFill>
            <a:prstDash val="solid"/>
          </a:ln>
        </p:spPr>
      </p:sp>
      <p:sp>
        <p:nvSpPr>
          <p:cNvPr id="115" name="Text 113"/>
          <p:cNvSpPr/>
          <p:nvPr/>
        </p:nvSpPr>
        <p:spPr>
          <a:xfrm>
            <a:off x="3804920" y="423367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16" name="Shape 114"/>
          <p:cNvSpPr/>
          <p:nvPr/>
        </p:nvSpPr>
        <p:spPr>
          <a:xfrm>
            <a:off x="4820920" y="4233672"/>
            <a:ext cx="979424" cy="530352"/>
          </a:xfrm>
          <a:prstGeom prst="rect">
            <a:avLst/>
          </a:prstGeom>
          <a:solidFill>
            <a:srgbClr val="2E7D32"/>
          </a:solidFill>
          <a:ln w="12700">
            <a:solidFill>
              <a:srgbClr val="2E7D32"/>
            </a:solidFill>
            <a:prstDash val="solid"/>
          </a:ln>
        </p:spPr>
      </p:sp>
      <p:sp>
        <p:nvSpPr>
          <p:cNvPr id="117" name="Text 115"/>
          <p:cNvSpPr/>
          <p:nvPr/>
        </p:nvSpPr>
        <p:spPr>
          <a:xfrm>
            <a:off x="4820920" y="423367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18" name="Shape 116"/>
          <p:cNvSpPr/>
          <p:nvPr/>
        </p:nvSpPr>
        <p:spPr>
          <a:xfrm>
            <a:off x="5836920" y="4233672"/>
            <a:ext cx="979424" cy="530352"/>
          </a:xfrm>
          <a:prstGeom prst="rect">
            <a:avLst/>
          </a:prstGeom>
          <a:solidFill>
            <a:srgbClr val="E65100"/>
          </a:solidFill>
          <a:ln w="12700">
            <a:solidFill>
              <a:srgbClr val="E65100"/>
            </a:solidFill>
            <a:prstDash val="solid"/>
          </a:ln>
        </p:spPr>
      </p:sp>
      <p:sp>
        <p:nvSpPr>
          <p:cNvPr id="119" name="Text 117"/>
          <p:cNvSpPr/>
          <p:nvPr/>
        </p:nvSpPr>
        <p:spPr>
          <a:xfrm>
            <a:off x="5836920" y="423367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20" name="Shape 118"/>
          <p:cNvSpPr/>
          <p:nvPr/>
        </p:nvSpPr>
        <p:spPr>
          <a:xfrm>
            <a:off x="6852920" y="4233672"/>
            <a:ext cx="979424" cy="530352"/>
          </a:xfrm>
          <a:prstGeom prst="rect">
            <a:avLst/>
          </a:prstGeom>
          <a:solidFill>
            <a:srgbClr val="162C47"/>
          </a:solidFill>
          <a:ln w="12700">
            <a:solidFill>
              <a:srgbClr val="2C4A6E"/>
            </a:solidFill>
            <a:prstDash val="solid"/>
          </a:ln>
        </p:spPr>
      </p:sp>
      <p:sp>
        <p:nvSpPr>
          <p:cNvPr id="121" name="Shape 119"/>
          <p:cNvSpPr/>
          <p:nvPr/>
        </p:nvSpPr>
        <p:spPr>
          <a:xfrm>
            <a:off x="7868920" y="4233672"/>
            <a:ext cx="979424" cy="530352"/>
          </a:xfrm>
          <a:prstGeom prst="rect">
            <a:avLst/>
          </a:prstGeom>
          <a:solidFill>
            <a:srgbClr val="4E342E"/>
          </a:solidFill>
          <a:ln w="12700">
            <a:solidFill>
              <a:srgbClr val="4E342E"/>
            </a:solidFill>
            <a:prstDash val="solid"/>
          </a:ln>
        </p:spPr>
      </p:sp>
      <p:sp>
        <p:nvSpPr>
          <p:cNvPr id="122" name="Text 120"/>
          <p:cNvSpPr/>
          <p:nvPr/>
        </p:nvSpPr>
        <p:spPr>
          <a:xfrm>
            <a:off x="7868920" y="423367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23" name="Shape 121"/>
          <p:cNvSpPr/>
          <p:nvPr/>
        </p:nvSpPr>
        <p:spPr>
          <a:xfrm>
            <a:off x="8884920" y="4233672"/>
            <a:ext cx="979424" cy="530352"/>
          </a:xfrm>
          <a:prstGeom prst="rect">
            <a:avLst/>
          </a:prstGeom>
          <a:solidFill>
            <a:srgbClr val="311B92"/>
          </a:solidFill>
          <a:ln w="12700">
            <a:solidFill>
              <a:srgbClr val="311B92"/>
            </a:solidFill>
            <a:prstDash val="solid"/>
          </a:ln>
        </p:spPr>
      </p:sp>
      <p:sp>
        <p:nvSpPr>
          <p:cNvPr id="124" name="Text 122"/>
          <p:cNvSpPr/>
          <p:nvPr/>
        </p:nvSpPr>
        <p:spPr>
          <a:xfrm>
            <a:off x="8884920" y="4233672"/>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25" name="Shape 123"/>
          <p:cNvSpPr/>
          <p:nvPr/>
        </p:nvSpPr>
        <p:spPr>
          <a:xfrm>
            <a:off x="9900920" y="4233672"/>
            <a:ext cx="979424" cy="530352"/>
          </a:xfrm>
          <a:prstGeom prst="rect">
            <a:avLst/>
          </a:prstGeom>
          <a:solidFill>
            <a:srgbClr val="162C47"/>
          </a:solidFill>
          <a:ln w="12700">
            <a:solidFill>
              <a:srgbClr val="2C4A6E"/>
            </a:solidFill>
            <a:prstDash val="solid"/>
          </a:ln>
        </p:spPr>
      </p:sp>
      <p:sp>
        <p:nvSpPr>
          <p:cNvPr id="126" name="Shape 124"/>
          <p:cNvSpPr/>
          <p:nvPr/>
        </p:nvSpPr>
        <p:spPr>
          <a:xfrm>
            <a:off x="10916920" y="4233672"/>
            <a:ext cx="979424" cy="530352"/>
          </a:xfrm>
          <a:prstGeom prst="rect">
            <a:avLst/>
          </a:prstGeom>
          <a:solidFill>
            <a:srgbClr val="162C47"/>
          </a:solidFill>
          <a:ln w="12700">
            <a:solidFill>
              <a:srgbClr val="2C4A6E"/>
            </a:solidFill>
            <a:prstDash val="solid"/>
          </a:ln>
        </p:spPr>
      </p:sp>
      <p:sp>
        <p:nvSpPr>
          <p:cNvPr id="127" name="Shape 125"/>
          <p:cNvSpPr/>
          <p:nvPr/>
        </p:nvSpPr>
        <p:spPr>
          <a:xfrm>
            <a:off x="228600" y="4800600"/>
            <a:ext cx="2468880" cy="530352"/>
          </a:xfrm>
          <a:prstGeom prst="rect">
            <a:avLst/>
          </a:prstGeom>
          <a:ln/>
        </p:spPr>
        <p:style>
          <a:lnRef idx="2">
            <a:schemeClr val="dk1"/>
          </a:lnRef>
          <a:fillRef idx="1">
            <a:schemeClr val="lt1"/>
          </a:fillRef>
          <a:effectRef idx="0">
            <a:schemeClr val="dk1"/>
          </a:effectRef>
          <a:fontRef idx="minor">
            <a:schemeClr val="dk1"/>
          </a:fontRef>
        </p:style>
      </p:sp>
      <p:sp>
        <p:nvSpPr>
          <p:cNvPr id="128" name="Text 126"/>
          <p:cNvSpPr/>
          <p:nvPr/>
        </p:nvSpPr>
        <p:spPr>
          <a:xfrm>
            <a:off x="228600" y="4800600"/>
            <a:ext cx="2468880" cy="530352"/>
          </a:xfrm>
          <a:prstGeom prst="rect">
            <a:avLst/>
          </a:prstGeom>
          <a:noFill/>
          <a:ln/>
        </p:spPr>
        <p:txBody>
          <a:bodyPr wrap="square" lIns="63500" tIns="63500" rIns="63500" bIns="63500" rtlCol="0" anchor="ctr"/>
          <a:lstStyle/>
          <a:p>
            <a:pPr marL="0" indent="0">
              <a:buNone/>
            </a:pPr>
            <a:r>
              <a:rPr lang="en-US" sz="1000" b="1">
                <a:latin typeface="Calibri"/>
                <a:ea typeface="Calibri"/>
                <a:cs typeface="Calibri"/>
              </a:rPr>
              <a:t>WBS 7 — Electrical &amp; BESS</a:t>
            </a:r>
            <a:endParaRPr lang="en-US" sz="1000">
              <a:latin typeface="Calibri"/>
              <a:ea typeface="Calibri"/>
              <a:cs typeface="Calibri"/>
            </a:endParaRPr>
          </a:p>
        </p:txBody>
      </p:sp>
      <p:sp>
        <p:nvSpPr>
          <p:cNvPr id="129" name="Shape 127"/>
          <p:cNvSpPr/>
          <p:nvPr/>
        </p:nvSpPr>
        <p:spPr>
          <a:xfrm>
            <a:off x="2788920" y="4800600"/>
            <a:ext cx="979424" cy="530352"/>
          </a:xfrm>
          <a:prstGeom prst="rect">
            <a:avLst/>
          </a:prstGeom>
          <a:solidFill>
            <a:srgbClr val="1A3C5E"/>
          </a:solidFill>
          <a:ln w="12700">
            <a:solidFill>
              <a:srgbClr val="1A3C5E"/>
            </a:solidFill>
            <a:prstDash val="solid"/>
          </a:ln>
        </p:spPr>
      </p:sp>
      <p:sp>
        <p:nvSpPr>
          <p:cNvPr id="130" name="Text 128"/>
          <p:cNvSpPr/>
          <p:nvPr/>
        </p:nvSpPr>
        <p:spPr>
          <a:xfrm>
            <a:off x="2788920" y="480060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31" name="Shape 129"/>
          <p:cNvSpPr/>
          <p:nvPr/>
        </p:nvSpPr>
        <p:spPr>
          <a:xfrm>
            <a:off x="3804920" y="4800600"/>
            <a:ext cx="979424" cy="530352"/>
          </a:xfrm>
          <a:prstGeom prst="rect">
            <a:avLst/>
          </a:prstGeom>
          <a:solidFill>
            <a:srgbClr val="1E3A5C"/>
          </a:solidFill>
          <a:ln w="12700">
            <a:solidFill>
              <a:srgbClr val="2C4A6E"/>
            </a:solidFill>
            <a:prstDash val="solid"/>
          </a:ln>
        </p:spPr>
      </p:sp>
      <p:sp>
        <p:nvSpPr>
          <p:cNvPr id="132" name="Shape 130"/>
          <p:cNvSpPr/>
          <p:nvPr/>
        </p:nvSpPr>
        <p:spPr>
          <a:xfrm>
            <a:off x="4820920" y="4800600"/>
            <a:ext cx="979424" cy="530352"/>
          </a:xfrm>
          <a:prstGeom prst="rect">
            <a:avLst/>
          </a:prstGeom>
          <a:solidFill>
            <a:srgbClr val="2E7D32"/>
          </a:solidFill>
          <a:ln w="12700">
            <a:solidFill>
              <a:srgbClr val="2E7D32"/>
            </a:solidFill>
            <a:prstDash val="solid"/>
          </a:ln>
        </p:spPr>
      </p:sp>
      <p:sp>
        <p:nvSpPr>
          <p:cNvPr id="133" name="Text 131"/>
          <p:cNvSpPr/>
          <p:nvPr/>
        </p:nvSpPr>
        <p:spPr>
          <a:xfrm>
            <a:off x="4820920" y="480060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34" name="Shape 132"/>
          <p:cNvSpPr/>
          <p:nvPr/>
        </p:nvSpPr>
        <p:spPr>
          <a:xfrm>
            <a:off x="5836920" y="4800600"/>
            <a:ext cx="979424" cy="530352"/>
          </a:xfrm>
          <a:prstGeom prst="rect">
            <a:avLst/>
          </a:prstGeom>
          <a:solidFill>
            <a:srgbClr val="E65100"/>
          </a:solidFill>
          <a:ln w="12700">
            <a:solidFill>
              <a:srgbClr val="E65100"/>
            </a:solidFill>
            <a:prstDash val="solid"/>
          </a:ln>
        </p:spPr>
      </p:sp>
      <p:sp>
        <p:nvSpPr>
          <p:cNvPr id="135" name="Text 133"/>
          <p:cNvSpPr/>
          <p:nvPr/>
        </p:nvSpPr>
        <p:spPr>
          <a:xfrm>
            <a:off x="5836920" y="480060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36" name="Shape 134"/>
          <p:cNvSpPr/>
          <p:nvPr/>
        </p:nvSpPr>
        <p:spPr>
          <a:xfrm>
            <a:off x="6852920" y="4800600"/>
            <a:ext cx="979424" cy="530352"/>
          </a:xfrm>
          <a:prstGeom prst="rect">
            <a:avLst/>
          </a:prstGeom>
          <a:solidFill>
            <a:srgbClr val="1E3A5C"/>
          </a:solidFill>
          <a:ln w="12700">
            <a:solidFill>
              <a:srgbClr val="2C4A6E"/>
            </a:solidFill>
            <a:prstDash val="solid"/>
          </a:ln>
        </p:spPr>
      </p:sp>
      <p:sp>
        <p:nvSpPr>
          <p:cNvPr id="137" name="Shape 135"/>
          <p:cNvSpPr/>
          <p:nvPr/>
        </p:nvSpPr>
        <p:spPr>
          <a:xfrm>
            <a:off x="7868920" y="4800600"/>
            <a:ext cx="979424" cy="530352"/>
          </a:xfrm>
          <a:prstGeom prst="rect">
            <a:avLst/>
          </a:prstGeom>
          <a:solidFill>
            <a:srgbClr val="4E342E"/>
          </a:solidFill>
          <a:ln w="12700">
            <a:solidFill>
              <a:srgbClr val="4E342E"/>
            </a:solidFill>
            <a:prstDash val="solid"/>
          </a:ln>
        </p:spPr>
      </p:sp>
      <p:sp>
        <p:nvSpPr>
          <p:cNvPr id="138" name="Text 136"/>
          <p:cNvSpPr/>
          <p:nvPr/>
        </p:nvSpPr>
        <p:spPr>
          <a:xfrm>
            <a:off x="7868920" y="480060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39" name="Shape 137"/>
          <p:cNvSpPr/>
          <p:nvPr/>
        </p:nvSpPr>
        <p:spPr>
          <a:xfrm>
            <a:off x="8884920" y="4800600"/>
            <a:ext cx="979424" cy="530352"/>
          </a:xfrm>
          <a:prstGeom prst="rect">
            <a:avLst/>
          </a:prstGeom>
          <a:solidFill>
            <a:srgbClr val="311B92"/>
          </a:solidFill>
          <a:ln w="12700">
            <a:solidFill>
              <a:srgbClr val="311B92"/>
            </a:solidFill>
            <a:prstDash val="solid"/>
          </a:ln>
        </p:spPr>
      </p:sp>
      <p:sp>
        <p:nvSpPr>
          <p:cNvPr id="140" name="Text 138"/>
          <p:cNvSpPr/>
          <p:nvPr/>
        </p:nvSpPr>
        <p:spPr>
          <a:xfrm>
            <a:off x="8884920" y="480060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41" name="Shape 139"/>
          <p:cNvSpPr/>
          <p:nvPr/>
        </p:nvSpPr>
        <p:spPr>
          <a:xfrm>
            <a:off x="9900920" y="4800600"/>
            <a:ext cx="979424" cy="530352"/>
          </a:xfrm>
          <a:prstGeom prst="rect">
            <a:avLst/>
          </a:prstGeom>
          <a:solidFill>
            <a:srgbClr val="00695C"/>
          </a:solidFill>
          <a:ln w="12700">
            <a:solidFill>
              <a:srgbClr val="00695C"/>
            </a:solidFill>
            <a:prstDash val="solid"/>
          </a:ln>
        </p:spPr>
      </p:sp>
      <p:sp>
        <p:nvSpPr>
          <p:cNvPr id="142" name="Text 140"/>
          <p:cNvSpPr/>
          <p:nvPr/>
        </p:nvSpPr>
        <p:spPr>
          <a:xfrm>
            <a:off x="9900920" y="4800600"/>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43" name="Shape 141"/>
          <p:cNvSpPr/>
          <p:nvPr/>
        </p:nvSpPr>
        <p:spPr>
          <a:xfrm>
            <a:off x="10916920" y="4800600"/>
            <a:ext cx="979424" cy="530352"/>
          </a:xfrm>
          <a:prstGeom prst="rect">
            <a:avLst/>
          </a:prstGeom>
          <a:solidFill>
            <a:srgbClr val="1E3A5C"/>
          </a:solidFill>
          <a:ln w="12700">
            <a:solidFill>
              <a:srgbClr val="2C4A6E"/>
            </a:solidFill>
            <a:prstDash val="solid"/>
          </a:ln>
        </p:spPr>
      </p:sp>
      <p:sp>
        <p:nvSpPr>
          <p:cNvPr id="144" name="Shape 142"/>
          <p:cNvSpPr/>
          <p:nvPr/>
        </p:nvSpPr>
        <p:spPr>
          <a:xfrm>
            <a:off x="228600" y="5367528"/>
            <a:ext cx="2468880" cy="530352"/>
          </a:xfrm>
          <a:prstGeom prst="rect">
            <a:avLst/>
          </a:prstGeom>
          <a:ln/>
        </p:spPr>
        <p:style>
          <a:lnRef idx="2">
            <a:schemeClr val="dk1"/>
          </a:lnRef>
          <a:fillRef idx="1">
            <a:schemeClr val="lt1"/>
          </a:fillRef>
          <a:effectRef idx="0">
            <a:schemeClr val="dk1"/>
          </a:effectRef>
          <a:fontRef idx="minor">
            <a:schemeClr val="dk1"/>
          </a:fontRef>
        </p:style>
      </p:sp>
      <p:sp>
        <p:nvSpPr>
          <p:cNvPr id="145" name="Text 143"/>
          <p:cNvSpPr/>
          <p:nvPr/>
        </p:nvSpPr>
        <p:spPr>
          <a:xfrm>
            <a:off x="228600" y="5367528"/>
            <a:ext cx="2468880" cy="530352"/>
          </a:xfrm>
          <a:prstGeom prst="rect">
            <a:avLst/>
          </a:prstGeom>
          <a:noFill/>
          <a:ln/>
        </p:spPr>
        <p:txBody>
          <a:bodyPr wrap="square" lIns="63500" tIns="63500" rIns="63500" bIns="63500" rtlCol="0" anchor="ctr"/>
          <a:lstStyle/>
          <a:p>
            <a:pPr marL="0" indent="0">
              <a:buNone/>
            </a:pPr>
            <a:r>
              <a:rPr lang="en-US" sz="1100" b="1">
                <a:latin typeface="Calibri"/>
                <a:ea typeface="Calibri"/>
                <a:cs typeface="Calibri"/>
              </a:rPr>
              <a:t>WBS 8–9 — Commissioning</a:t>
            </a:r>
            <a:endParaRPr lang="en-US" sz="1100">
              <a:latin typeface="Calibri"/>
              <a:ea typeface="Calibri"/>
              <a:cs typeface="Calibri"/>
            </a:endParaRPr>
          </a:p>
        </p:txBody>
      </p:sp>
      <p:sp>
        <p:nvSpPr>
          <p:cNvPr id="146" name="Shape 144"/>
          <p:cNvSpPr/>
          <p:nvPr/>
        </p:nvSpPr>
        <p:spPr>
          <a:xfrm>
            <a:off x="2788920" y="5367528"/>
            <a:ext cx="979424" cy="530352"/>
          </a:xfrm>
          <a:prstGeom prst="rect">
            <a:avLst/>
          </a:prstGeom>
          <a:solidFill>
            <a:srgbClr val="1A3C5E"/>
          </a:solidFill>
          <a:ln w="12700">
            <a:solidFill>
              <a:srgbClr val="1A3C5E"/>
            </a:solidFill>
            <a:prstDash val="solid"/>
          </a:ln>
        </p:spPr>
      </p:sp>
      <p:sp>
        <p:nvSpPr>
          <p:cNvPr id="147" name="Text 145"/>
          <p:cNvSpPr/>
          <p:nvPr/>
        </p:nvSpPr>
        <p:spPr>
          <a:xfrm>
            <a:off x="2788920" y="536752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48" name="Shape 146"/>
          <p:cNvSpPr/>
          <p:nvPr/>
        </p:nvSpPr>
        <p:spPr>
          <a:xfrm>
            <a:off x="3804920" y="5367528"/>
            <a:ext cx="979424" cy="530352"/>
          </a:xfrm>
          <a:prstGeom prst="rect">
            <a:avLst/>
          </a:prstGeom>
          <a:solidFill>
            <a:srgbClr val="1565C0"/>
          </a:solidFill>
          <a:ln w="12700">
            <a:solidFill>
              <a:srgbClr val="1565C0"/>
            </a:solidFill>
            <a:prstDash val="solid"/>
          </a:ln>
        </p:spPr>
      </p:sp>
      <p:sp>
        <p:nvSpPr>
          <p:cNvPr id="149" name="Text 147"/>
          <p:cNvSpPr/>
          <p:nvPr/>
        </p:nvSpPr>
        <p:spPr>
          <a:xfrm>
            <a:off x="3804920" y="536752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50" name="Shape 148"/>
          <p:cNvSpPr/>
          <p:nvPr/>
        </p:nvSpPr>
        <p:spPr>
          <a:xfrm>
            <a:off x="4820920" y="5367528"/>
            <a:ext cx="979424" cy="530352"/>
          </a:xfrm>
          <a:prstGeom prst="rect">
            <a:avLst/>
          </a:prstGeom>
          <a:solidFill>
            <a:srgbClr val="2E7D32"/>
          </a:solidFill>
          <a:ln w="12700">
            <a:solidFill>
              <a:srgbClr val="2E7D32"/>
            </a:solidFill>
            <a:prstDash val="solid"/>
          </a:ln>
        </p:spPr>
      </p:sp>
      <p:sp>
        <p:nvSpPr>
          <p:cNvPr id="151" name="Text 149"/>
          <p:cNvSpPr/>
          <p:nvPr/>
        </p:nvSpPr>
        <p:spPr>
          <a:xfrm>
            <a:off x="4820920" y="536752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52" name="Shape 150"/>
          <p:cNvSpPr/>
          <p:nvPr/>
        </p:nvSpPr>
        <p:spPr>
          <a:xfrm>
            <a:off x="5836920" y="5367528"/>
            <a:ext cx="979424" cy="530352"/>
          </a:xfrm>
          <a:prstGeom prst="rect">
            <a:avLst/>
          </a:prstGeom>
          <a:solidFill>
            <a:srgbClr val="162C47"/>
          </a:solidFill>
          <a:ln w="12700">
            <a:solidFill>
              <a:srgbClr val="2C4A6E"/>
            </a:solidFill>
            <a:prstDash val="solid"/>
          </a:ln>
        </p:spPr>
      </p:sp>
      <p:sp>
        <p:nvSpPr>
          <p:cNvPr id="153" name="Shape 151"/>
          <p:cNvSpPr/>
          <p:nvPr/>
        </p:nvSpPr>
        <p:spPr>
          <a:xfrm>
            <a:off x="6852920" y="5367528"/>
            <a:ext cx="979424" cy="530352"/>
          </a:xfrm>
          <a:prstGeom prst="rect">
            <a:avLst/>
          </a:prstGeom>
          <a:solidFill>
            <a:srgbClr val="B71C1C"/>
          </a:solidFill>
          <a:ln w="12700">
            <a:solidFill>
              <a:srgbClr val="B71C1C"/>
            </a:solidFill>
            <a:prstDash val="solid"/>
          </a:ln>
        </p:spPr>
      </p:sp>
      <p:sp>
        <p:nvSpPr>
          <p:cNvPr id="154" name="Text 152"/>
          <p:cNvSpPr/>
          <p:nvPr/>
        </p:nvSpPr>
        <p:spPr>
          <a:xfrm>
            <a:off x="6852920" y="536752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55" name="Shape 153"/>
          <p:cNvSpPr/>
          <p:nvPr/>
        </p:nvSpPr>
        <p:spPr>
          <a:xfrm>
            <a:off x="7868920" y="5367528"/>
            <a:ext cx="979424" cy="530352"/>
          </a:xfrm>
          <a:prstGeom prst="rect">
            <a:avLst/>
          </a:prstGeom>
          <a:solidFill>
            <a:srgbClr val="4E342E"/>
          </a:solidFill>
          <a:ln w="12700">
            <a:solidFill>
              <a:srgbClr val="4E342E"/>
            </a:solidFill>
            <a:prstDash val="solid"/>
          </a:ln>
        </p:spPr>
      </p:sp>
      <p:sp>
        <p:nvSpPr>
          <p:cNvPr id="156" name="Text 154"/>
          <p:cNvSpPr/>
          <p:nvPr/>
        </p:nvSpPr>
        <p:spPr>
          <a:xfrm>
            <a:off x="7868920" y="536752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57" name="Shape 155"/>
          <p:cNvSpPr/>
          <p:nvPr/>
        </p:nvSpPr>
        <p:spPr>
          <a:xfrm>
            <a:off x="8884920" y="5367528"/>
            <a:ext cx="979424" cy="530352"/>
          </a:xfrm>
          <a:prstGeom prst="rect">
            <a:avLst/>
          </a:prstGeom>
          <a:solidFill>
            <a:srgbClr val="311B92"/>
          </a:solidFill>
          <a:ln w="12700">
            <a:solidFill>
              <a:srgbClr val="311B92"/>
            </a:solidFill>
            <a:prstDash val="solid"/>
          </a:ln>
        </p:spPr>
      </p:sp>
      <p:sp>
        <p:nvSpPr>
          <p:cNvPr id="158" name="Text 156"/>
          <p:cNvSpPr/>
          <p:nvPr/>
        </p:nvSpPr>
        <p:spPr>
          <a:xfrm>
            <a:off x="8884920" y="536752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59" name="Shape 157"/>
          <p:cNvSpPr/>
          <p:nvPr/>
        </p:nvSpPr>
        <p:spPr>
          <a:xfrm>
            <a:off x="9900920" y="5367528"/>
            <a:ext cx="979424" cy="530352"/>
          </a:xfrm>
          <a:prstGeom prst="rect">
            <a:avLst/>
          </a:prstGeom>
          <a:solidFill>
            <a:srgbClr val="00695C"/>
          </a:solidFill>
          <a:ln w="12700">
            <a:solidFill>
              <a:srgbClr val="00695C"/>
            </a:solidFill>
            <a:prstDash val="solid"/>
          </a:ln>
        </p:spPr>
      </p:sp>
      <p:sp>
        <p:nvSpPr>
          <p:cNvPr id="160" name="Text 158"/>
          <p:cNvSpPr/>
          <p:nvPr/>
        </p:nvSpPr>
        <p:spPr>
          <a:xfrm>
            <a:off x="9900920" y="5367528"/>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61" name="Shape 159"/>
          <p:cNvSpPr/>
          <p:nvPr/>
        </p:nvSpPr>
        <p:spPr>
          <a:xfrm>
            <a:off x="10916920" y="5367528"/>
            <a:ext cx="979424" cy="530352"/>
          </a:xfrm>
          <a:prstGeom prst="rect">
            <a:avLst/>
          </a:prstGeom>
          <a:solidFill>
            <a:srgbClr val="162C47"/>
          </a:solidFill>
          <a:ln w="12700">
            <a:solidFill>
              <a:srgbClr val="2C4A6E"/>
            </a:solidFill>
            <a:prstDash val="solid"/>
          </a:ln>
        </p:spPr>
      </p:sp>
      <p:sp>
        <p:nvSpPr>
          <p:cNvPr id="162" name="Shape 160"/>
          <p:cNvSpPr/>
          <p:nvPr/>
        </p:nvSpPr>
        <p:spPr>
          <a:xfrm>
            <a:off x="228600" y="5934456"/>
            <a:ext cx="2468880" cy="530352"/>
          </a:xfrm>
          <a:prstGeom prst="rect">
            <a:avLst/>
          </a:prstGeom>
          <a:ln/>
        </p:spPr>
        <p:style>
          <a:lnRef idx="2">
            <a:schemeClr val="dk1"/>
          </a:lnRef>
          <a:fillRef idx="1">
            <a:schemeClr val="lt1"/>
          </a:fillRef>
          <a:effectRef idx="0">
            <a:schemeClr val="dk1"/>
          </a:effectRef>
          <a:fontRef idx="minor">
            <a:schemeClr val="dk1"/>
          </a:fontRef>
        </p:style>
      </p:sp>
      <p:sp>
        <p:nvSpPr>
          <p:cNvPr id="163" name="Text 161"/>
          <p:cNvSpPr/>
          <p:nvPr/>
        </p:nvSpPr>
        <p:spPr>
          <a:xfrm>
            <a:off x="228600" y="5934456"/>
            <a:ext cx="2468880" cy="530352"/>
          </a:xfrm>
          <a:prstGeom prst="rect">
            <a:avLst/>
          </a:prstGeom>
          <a:noFill/>
          <a:ln/>
        </p:spPr>
        <p:txBody>
          <a:bodyPr wrap="square" lIns="63500" tIns="63500" rIns="63500" bIns="63500" rtlCol="0" anchor="ctr"/>
          <a:lstStyle/>
          <a:p>
            <a:pPr marL="0" indent="0">
              <a:buNone/>
            </a:pPr>
            <a:r>
              <a:rPr lang="en-US" sz="1100" b="1">
                <a:latin typeface="Calibri"/>
                <a:ea typeface="Calibri"/>
                <a:cs typeface="Calibri"/>
              </a:rPr>
              <a:t>WBS 10 — Closeout</a:t>
            </a:r>
            <a:endParaRPr lang="en-US" sz="1100">
              <a:latin typeface="Calibri"/>
              <a:ea typeface="Calibri"/>
              <a:cs typeface="Calibri"/>
            </a:endParaRPr>
          </a:p>
        </p:txBody>
      </p:sp>
      <p:sp>
        <p:nvSpPr>
          <p:cNvPr id="164" name="Shape 162"/>
          <p:cNvSpPr/>
          <p:nvPr/>
        </p:nvSpPr>
        <p:spPr>
          <a:xfrm>
            <a:off x="2788920" y="5934456"/>
            <a:ext cx="979424" cy="530352"/>
          </a:xfrm>
          <a:prstGeom prst="rect">
            <a:avLst/>
          </a:prstGeom>
          <a:solidFill>
            <a:srgbClr val="1A3C5E"/>
          </a:solidFill>
          <a:ln w="12700">
            <a:solidFill>
              <a:srgbClr val="1A3C5E"/>
            </a:solidFill>
            <a:prstDash val="solid"/>
          </a:ln>
        </p:spPr>
      </p:sp>
      <p:sp>
        <p:nvSpPr>
          <p:cNvPr id="165" name="Text 163"/>
          <p:cNvSpPr/>
          <p:nvPr/>
        </p:nvSpPr>
        <p:spPr>
          <a:xfrm>
            <a:off x="2788920" y="593445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66" name="Shape 164"/>
          <p:cNvSpPr/>
          <p:nvPr/>
        </p:nvSpPr>
        <p:spPr>
          <a:xfrm>
            <a:off x="3804920" y="5934456"/>
            <a:ext cx="979424" cy="530352"/>
          </a:xfrm>
          <a:prstGeom prst="rect">
            <a:avLst/>
          </a:prstGeom>
          <a:solidFill>
            <a:srgbClr val="1E3A5C"/>
          </a:solidFill>
          <a:ln w="12700">
            <a:solidFill>
              <a:srgbClr val="2C4A6E"/>
            </a:solidFill>
            <a:prstDash val="solid"/>
          </a:ln>
        </p:spPr>
      </p:sp>
      <p:sp>
        <p:nvSpPr>
          <p:cNvPr id="167" name="Shape 165"/>
          <p:cNvSpPr/>
          <p:nvPr/>
        </p:nvSpPr>
        <p:spPr>
          <a:xfrm>
            <a:off x="4820920" y="5934456"/>
            <a:ext cx="979424" cy="530352"/>
          </a:xfrm>
          <a:prstGeom prst="rect">
            <a:avLst/>
          </a:prstGeom>
          <a:solidFill>
            <a:srgbClr val="2E7D32"/>
          </a:solidFill>
          <a:ln w="12700">
            <a:solidFill>
              <a:srgbClr val="2E7D32"/>
            </a:solidFill>
            <a:prstDash val="solid"/>
          </a:ln>
        </p:spPr>
      </p:sp>
      <p:sp>
        <p:nvSpPr>
          <p:cNvPr id="168" name="Text 166"/>
          <p:cNvSpPr/>
          <p:nvPr/>
        </p:nvSpPr>
        <p:spPr>
          <a:xfrm>
            <a:off x="4820920" y="593445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69" name="Shape 167"/>
          <p:cNvSpPr/>
          <p:nvPr/>
        </p:nvSpPr>
        <p:spPr>
          <a:xfrm>
            <a:off x="5836920" y="5934456"/>
            <a:ext cx="979424" cy="530352"/>
          </a:xfrm>
          <a:prstGeom prst="rect">
            <a:avLst/>
          </a:prstGeom>
          <a:solidFill>
            <a:srgbClr val="E65100"/>
          </a:solidFill>
          <a:ln w="12700">
            <a:solidFill>
              <a:srgbClr val="E65100"/>
            </a:solidFill>
            <a:prstDash val="solid"/>
          </a:ln>
        </p:spPr>
      </p:sp>
      <p:sp>
        <p:nvSpPr>
          <p:cNvPr id="170" name="Text 168"/>
          <p:cNvSpPr/>
          <p:nvPr/>
        </p:nvSpPr>
        <p:spPr>
          <a:xfrm>
            <a:off x="5836920" y="593445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71" name="Shape 169"/>
          <p:cNvSpPr/>
          <p:nvPr/>
        </p:nvSpPr>
        <p:spPr>
          <a:xfrm>
            <a:off x="6852920" y="5934456"/>
            <a:ext cx="979424" cy="530352"/>
          </a:xfrm>
          <a:prstGeom prst="rect">
            <a:avLst/>
          </a:prstGeom>
          <a:solidFill>
            <a:srgbClr val="B71C1C"/>
          </a:solidFill>
          <a:ln w="12700">
            <a:solidFill>
              <a:srgbClr val="B71C1C"/>
            </a:solidFill>
            <a:prstDash val="solid"/>
          </a:ln>
        </p:spPr>
      </p:sp>
      <p:sp>
        <p:nvSpPr>
          <p:cNvPr id="172" name="Text 170"/>
          <p:cNvSpPr/>
          <p:nvPr/>
        </p:nvSpPr>
        <p:spPr>
          <a:xfrm>
            <a:off x="6852920" y="593445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73" name="Shape 171"/>
          <p:cNvSpPr/>
          <p:nvPr/>
        </p:nvSpPr>
        <p:spPr>
          <a:xfrm>
            <a:off x="7868920" y="5934456"/>
            <a:ext cx="979424" cy="530352"/>
          </a:xfrm>
          <a:prstGeom prst="rect">
            <a:avLst/>
          </a:prstGeom>
          <a:solidFill>
            <a:srgbClr val="4E342E"/>
          </a:solidFill>
          <a:ln w="12700">
            <a:solidFill>
              <a:srgbClr val="4E342E"/>
            </a:solidFill>
            <a:prstDash val="solid"/>
          </a:ln>
        </p:spPr>
      </p:sp>
      <p:sp>
        <p:nvSpPr>
          <p:cNvPr id="174" name="Text 172"/>
          <p:cNvSpPr/>
          <p:nvPr/>
        </p:nvSpPr>
        <p:spPr>
          <a:xfrm>
            <a:off x="7868920" y="593445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75" name="Shape 173"/>
          <p:cNvSpPr/>
          <p:nvPr/>
        </p:nvSpPr>
        <p:spPr>
          <a:xfrm>
            <a:off x="8884920" y="5934456"/>
            <a:ext cx="979424" cy="530352"/>
          </a:xfrm>
          <a:prstGeom prst="rect">
            <a:avLst/>
          </a:prstGeom>
          <a:solidFill>
            <a:srgbClr val="311B92"/>
          </a:solidFill>
          <a:ln w="12700">
            <a:solidFill>
              <a:srgbClr val="311B92"/>
            </a:solidFill>
            <a:prstDash val="solid"/>
          </a:ln>
        </p:spPr>
      </p:sp>
      <p:sp>
        <p:nvSpPr>
          <p:cNvPr id="176" name="Text 174"/>
          <p:cNvSpPr/>
          <p:nvPr/>
        </p:nvSpPr>
        <p:spPr>
          <a:xfrm>
            <a:off x="8884920" y="593445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77" name="Shape 175"/>
          <p:cNvSpPr/>
          <p:nvPr/>
        </p:nvSpPr>
        <p:spPr>
          <a:xfrm>
            <a:off x="9900920" y="5934456"/>
            <a:ext cx="979424" cy="530352"/>
          </a:xfrm>
          <a:prstGeom prst="rect">
            <a:avLst/>
          </a:prstGeom>
          <a:solidFill>
            <a:srgbClr val="00695C"/>
          </a:solidFill>
          <a:ln w="12700">
            <a:solidFill>
              <a:srgbClr val="00695C"/>
            </a:solidFill>
            <a:prstDash val="solid"/>
          </a:ln>
        </p:spPr>
      </p:sp>
      <p:sp>
        <p:nvSpPr>
          <p:cNvPr id="178" name="Text 176"/>
          <p:cNvSpPr/>
          <p:nvPr/>
        </p:nvSpPr>
        <p:spPr>
          <a:xfrm>
            <a:off x="9900920" y="593445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
        <p:nvSpPr>
          <p:cNvPr id="179" name="Shape 177"/>
          <p:cNvSpPr/>
          <p:nvPr/>
        </p:nvSpPr>
        <p:spPr>
          <a:xfrm>
            <a:off x="10916920" y="5934456"/>
            <a:ext cx="979424" cy="530352"/>
          </a:xfrm>
          <a:prstGeom prst="rect">
            <a:avLst/>
          </a:prstGeom>
          <a:solidFill>
            <a:srgbClr val="424242"/>
          </a:solidFill>
          <a:ln w="12700">
            <a:solidFill>
              <a:srgbClr val="424242"/>
            </a:solidFill>
            <a:prstDash val="solid"/>
          </a:ln>
        </p:spPr>
      </p:sp>
      <p:sp>
        <p:nvSpPr>
          <p:cNvPr id="180" name="Text 178"/>
          <p:cNvSpPr/>
          <p:nvPr/>
        </p:nvSpPr>
        <p:spPr>
          <a:xfrm>
            <a:off x="10916920" y="5934456"/>
            <a:ext cx="979424" cy="53035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t>
            </a:r>
            <a:endParaRPr lang="en-US" sz="1000"/>
          </a:p>
        </p:txBody>
      </p:sp>
    </p:spTree>
    <p:extLst>
      <p:ext uri="{BB962C8B-B14F-4D97-AF65-F5344CB8AC3E}">
        <p14:creationId xmlns:p14="http://schemas.microsoft.com/office/powerpoint/2010/main" val="3633449079"/>
      </p:ext>
    </p:extLst>
  </p:cSld>
  <p:clrMapOvr>
    <a:masterClrMapping/>
  </p:clrMapOvr>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_win32_DN_V2" id="{35DA499A-085A-4E3E-92EC-48B4922E938B}" vid="{14DDC8D4-282F-4E4E-AFE2-B9DA7AC991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6869B1-BDCE-49F8-A5AF-3EA6FB3BB224}">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8AB7D1-0FFB-46E5-B5E0-44DC74B128BD}">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FDD6D019-CFF4-4D8F-9084-1FF56D30795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16</Slides>
  <Notes>14</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Bevel</vt:lpstr>
      <vt:lpstr>AMAZON 150 MW Utility – Scale Solar Farm </vt:lpstr>
      <vt:lpstr>  </vt:lpstr>
      <vt:lpstr>Schedule &amp; Milestone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Stakeholder Map </vt:lpstr>
      <vt:lpstr>Stakeholder List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2026-01-21T06:28:38Z</dcterms:created>
  <dcterms:modified xsi:type="dcterms:W3CDTF">2026-09-18T19:22:50Z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